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x="18288000" cy="10287000"/>
  <p:notesSz cx="6858000" cy="9144000"/>
  <p:embeddedFontLst>
    <p:embeddedFont>
      <p:font typeface="Muli" charset="1" panose="00000500000000000000"/>
      <p:regular r:id="rId22"/>
    </p:embeddedFont>
    <p:embeddedFont>
      <p:font typeface="Muli Bold" charset="1" panose="00000800000000000000"/>
      <p:regular r:id="rId23"/>
    </p:embeddedFont>
    <p:embeddedFont>
      <p:font typeface="Arimo" charset="1" panose="020B0604020202020204"/>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12.png" Type="http://schemas.openxmlformats.org/officeDocument/2006/relationships/image"/><Relationship Id="rId5" Target="../media/image13.svg" Type="http://schemas.openxmlformats.org/officeDocument/2006/relationships/image"/><Relationship Id="rId6" Target="../media/image9.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media/image15.svg" Type="http://schemas.openxmlformats.org/officeDocument/2006/relationships/image"/><Relationship Id="rId4" Target="../media/image16.jpeg" Type="http://schemas.openxmlformats.org/officeDocument/2006/relationships/image"/><Relationship Id="rId5" Target="../media/image9.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media/image15.svg" Type="http://schemas.openxmlformats.org/officeDocument/2006/relationships/image"/><Relationship Id="rId4" Target="../media/image16.jpeg" Type="http://schemas.openxmlformats.org/officeDocument/2006/relationships/image"/><Relationship Id="rId5" Target="../media/image9.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21.png" Type="http://schemas.openxmlformats.org/officeDocument/2006/relationships/image"/><Relationship Id="rId7" Target="../media/image22.svg" Type="http://schemas.openxmlformats.org/officeDocument/2006/relationships/image"/><Relationship Id="rId8" Target="../media/image9.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png" Type="http://schemas.openxmlformats.org/officeDocument/2006/relationships/image"/><Relationship Id="rId3" Target="../media/image24.svg" Type="http://schemas.openxmlformats.org/officeDocument/2006/relationships/image"/><Relationship Id="rId4" Target="../media/image25.png" Type="http://schemas.openxmlformats.org/officeDocument/2006/relationships/image"/><Relationship Id="rId5" Target="../media/image26.svg" Type="http://schemas.openxmlformats.org/officeDocument/2006/relationships/image"/><Relationship Id="rId6" Target="../media/image27.png" Type="http://schemas.openxmlformats.org/officeDocument/2006/relationships/image"/><Relationship Id="rId7" Target="../media/image28.svg" Type="http://schemas.openxmlformats.org/officeDocument/2006/relationships/image"/><Relationship Id="rId8" Target="../media/image9.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media/image15.svg" Type="http://schemas.openxmlformats.org/officeDocument/2006/relationships/image"/><Relationship Id="rId4" Target="../media/image25.png" Type="http://schemas.openxmlformats.org/officeDocument/2006/relationships/image"/><Relationship Id="rId5" Target="../media/image26.svg" Type="http://schemas.openxmlformats.org/officeDocument/2006/relationships/image"/><Relationship Id="rId6" Target="../media/image9.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media/image15.svg" Type="http://schemas.openxmlformats.org/officeDocument/2006/relationships/image"/><Relationship Id="rId4" Target="../media/image21.png" Type="http://schemas.openxmlformats.org/officeDocument/2006/relationships/image"/><Relationship Id="rId5" Target="../media/image22.svg" Type="http://schemas.openxmlformats.org/officeDocument/2006/relationships/image"/><Relationship Id="rId6" Target="../media/image9.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media/image15.svg" Type="http://schemas.openxmlformats.org/officeDocument/2006/relationships/image"/><Relationship Id="rId4" Target="../media/image21.png" Type="http://schemas.openxmlformats.org/officeDocument/2006/relationships/image"/><Relationship Id="rId5" Target="../media/image22.svg" Type="http://schemas.openxmlformats.org/officeDocument/2006/relationships/image"/><Relationship Id="rId6" Target="../media/image9.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media/image15.svg" Type="http://schemas.openxmlformats.org/officeDocument/2006/relationships/image"/><Relationship Id="rId4" Target="../media/image23.png" Type="http://schemas.openxmlformats.org/officeDocument/2006/relationships/image"/><Relationship Id="rId5" Target="../media/image24.svg" Type="http://schemas.openxmlformats.org/officeDocument/2006/relationships/image"/><Relationship Id="rId6" Target="../media/image9.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media/image15.svg" Type="http://schemas.openxmlformats.org/officeDocument/2006/relationships/image"/><Relationship Id="rId4" Target="../media/image23.png" Type="http://schemas.openxmlformats.org/officeDocument/2006/relationships/image"/><Relationship Id="rId5" Target="../media/image24.svg" Type="http://schemas.openxmlformats.org/officeDocument/2006/relationships/image"/><Relationship Id="rId6" Target="../media/image9.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2" Target="../media/image10.png" Type="http://schemas.openxmlformats.org/officeDocument/2006/relationships/image"/><Relationship Id="rId3" Target="../media/image11.svg" Type="http://schemas.openxmlformats.org/officeDocument/2006/relationships/image"/><Relationship Id="rId4" Target="../media/image29.png" Type="http://schemas.openxmlformats.org/officeDocument/2006/relationships/image"/><Relationship Id="rId5" Target="../media/image30.svg" Type="http://schemas.openxmlformats.org/officeDocument/2006/relationships/image"/><Relationship Id="rId6" Target="../media/image31.png" Type="http://schemas.openxmlformats.org/officeDocument/2006/relationships/image"/><Relationship Id="rId7" Target="../media/image32.svg" Type="http://schemas.openxmlformats.org/officeDocument/2006/relationships/image"/><Relationship Id="rId8" Target="../media/image33.png" Type="http://schemas.openxmlformats.org/officeDocument/2006/relationships/image"/><Relationship Id="rId9" Target="../media/image34.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BADBF3"/>
        </a:solidFill>
      </p:bgPr>
    </p:bg>
    <p:spTree>
      <p:nvGrpSpPr>
        <p:cNvPr id="1" name=""/>
        <p:cNvGrpSpPr/>
        <p:nvPr/>
      </p:nvGrpSpPr>
      <p:grpSpPr>
        <a:xfrm>
          <a:off x="0" y="0"/>
          <a:ext cx="0" cy="0"/>
          <a:chOff x="0" y="0"/>
          <a:chExt cx="0" cy="0"/>
        </a:xfrm>
      </p:grpSpPr>
      <p:sp>
        <p:nvSpPr>
          <p:cNvPr name="Freeform 2" id="2"/>
          <p:cNvSpPr/>
          <p:nvPr/>
        </p:nvSpPr>
        <p:spPr>
          <a:xfrm flipH="false" flipV="false" rot="0">
            <a:off x="3097736" y="6232322"/>
            <a:ext cx="3232876" cy="4223472"/>
          </a:xfrm>
          <a:custGeom>
            <a:avLst/>
            <a:gdLst/>
            <a:ahLst/>
            <a:cxnLst/>
            <a:rect r="r" b="b" t="t" l="l"/>
            <a:pathLst>
              <a:path h="4223472" w="3232876">
                <a:moveTo>
                  <a:pt x="0" y="0"/>
                </a:moveTo>
                <a:lnTo>
                  <a:pt x="3232876" y="0"/>
                </a:lnTo>
                <a:lnTo>
                  <a:pt x="3232876" y="4223472"/>
                </a:lnTo>
                <a:lnTo>
                  <a:pt x="0" y="422347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348993" y="6232322"/>
            <a:ext cx="3401815" cy="4223472"/>
          </a:xfrm>
          <a:custGeom>
            <a:avLst/>
            <a:gdLst/>
            <a:ahLst/>
            <a:cxnLst/>
            <a:rect r="r" b="b" t="t" l="l"/>
            <a:pathLst>
              <a:path h="4223472" w="3401815">
                <a:moveTo>
                  <a:pt x="0" y="0"/>
                </a:moveTo>
                <a:lnTo>
                  <a:pt x="3401815" y="0"/>
                </a:lnTo>
                <a:lnTo>
                  <a:pt x="3401815" y="4223472"/>
                </a:lnTo>
                <a:lnTo>
                  <a:pt x="0" y="422347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8125023" y="6232322"/>
            <a:ext cx="3271271" cy="4223472"/>
          </a:xfrm>
          <a:custGeom>
            <a:avLst/>
            <a:gdLst/>
            <a:ahLst/>
            <a:cxnLst/>
            <a:rect r="r" b="b" t="t" l="l"/>
            <a:pathLst>
              <a:path h="4223472" w="3271271">
                <a:moveTo>
                  <a:pt x="0" y="0"/>
                </a:moveTo>
                <a:lnTo>
                  <a:pt x="3271272" y="0"/>
                </a:lnTo>
                <a:lnTo>
                  <a:pt x="3271272" y="4223472"/>
                </a:lnTo>
                <a:lnTo>
                  <a:pt x="0" y="422347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590101" y="6232322"/>
            <a:ext cx="3079295" cy="4223472"/>
          </a:xfrm>
          <a:custGeom>
            <a:avLst/>
            <a:gdLst/>
            <a:ahLst/>
            <a:cxnLst/>
            <a:rect r="r" b="b" t="t" l="l"/>
            <a:pathLst>
              <a:path h="4223472" w="3079295">
                <a:moveTo>
                  <a:pt x="0" y="0"/>
                </a:moveTo>
                <a:lnTo>
                  <a:pt x="3079296" y="0"/>
                </a:lnTo>
                <a:lnTo>
                  <a:pt x="3079296" y="4223472"/>
                </a:lnTo>
                <a:lnTo>
                  <a:pt x="0" y="422347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15618059" y="475596"/>
            <a:ext cx="1995824" cy="1995824"/>
          </a:xfrm>
          <a:custGeom>
            <a:avLst/>
            <a:gdLst/>
            <a:ahLst/>
            <a:cxnLst/>
            <a:rect r="r" b="b" t="t" l="l"/>
            <a:pathLst>
              <a:path h="1995824" w="1995824">
                <a:moveTo>
                  <a:pt x="0" y="0"/>
                </a:moveTo>
                <a:lnTo>
                  <a:pt x="1995824" y="0"/>
                </a:lnTo>
                <a:lnTo>
                  <a:pt x="1995824" y="1995824"/>
                </a:lnTo>
                <a:lnTo>
                  <a:pt x="0" y="1995824"/>
                </a:lnTo>
                <a:lnTo>
                  <a:pt x="0" y="0"/>
                </a:lnTo>
                <a:close/>
              </a:path>
            </a:pathLst>
          </a:custGeom>
          <a:blipFill>
            <a:blip r:embed="rId10"/>
            <a:stretch>
              <a:fillRect l="0" t="0" r="0" b="0"/>
            </a:stretch>
          </a:blipFill>
        </p:spPr>
      </p:sp>
      <p:sp>
        <p:nvSpPr>
          <p:cNvPr name="TextBox 7" id="7"/>
          <p:cNvSpPr txBox="true"/>
          <p:nvPr/>
        </p:nvSpPr>
        <p:spPr>
          <a:xfrm rot="0">
            <a:off x="1028700" y="1095375"/>
            <a:ext cx="13476556" cy="2818765"/>
          </a:xfrm>
          <a:prstGeom prst="rect">
            <a:avLst/>
          </a:prstGeom>
        </p:spPr>
        <p:txBody>
          <a:bodyPr anchor="t" rtlCol="false" tIns="0" lIns="0" bIns="0" rIns="0">
            <a:spAutoFit/>
          </a:bodyPr>
          <a:lstStyle/>
          <a:p>
            <a:pPr algn="l">
              <a:lnSpc>
                <a:spcPts val="7369"/>
              </a:lnSpc>
            </a:pPr>
            <a:r>
              <a:rPr lang="en-US" sz="6699">
                <a:solidFill>
                  <a:srgbClr val="000000"/>
                </a:solidFill>
                <a:latin typeface="Muli"/>
                <a:ea typeface="Muli"/>
                <a:cs typeface="Muli"/>
                <a:sym typeface="Muli"/>
              </a:rPr>
              <a:t>TRỢ LÍ Y TẾ ẢO &amp; CHATBOT TRONG LĨNH VỰC Y HỌC VIỆT NAM</a:t>
            </a:r>
          </a:p>
        </p:txBody>
      </p:sp>
      <p:sp>
        <p:nvSpPr>
          <p:cNvPr name="TextBox 8" id="8"/>
          <p:cNvSpPr txBox="true"/>
          <p:nvPr/>
        </p:nvSpPr>
        <p:spPr>
          <a:xfrm rot="0">
            <a:off x="12234717" y="6565265"/>
            <a:ext cx="4116176" cy="2693035"/>
          </a:xfrm>
          <a:prstGeom prst="rect">
            <a:avLst/>
          </a:prstGeom>
        </p:spPr>
        <p:txBody>
          <a:bodyPr anchor="t" rtlCol="false" tIns="0" lIns="0" bIns="0" rIns="0">
            <a:spAutoFit/>
          </a:bodyPr>
          <a:lstStyle/>
          <a:p>
            <a:pPr algn="l">
              <a:lnSpc>
                <a:spcPts val="4339"/>
              </a:lnSpc>
            </a:pPr>
            <a:r>
              <a:rPr lang="en-US" sz="3099">
                <a:solidFill>
                  <a:srgbClr val="000000"/>
                </a:solidFill>
                <a:latin typeface="Muli"/>
                <a:ea typeface="Muli"/>
                <a:cs typeface="Muli"/>
                <a:sym typeface="Muli"/>
              </a:rPr>
              <a:t>Các thành viên :</a:t>
            </a:r>
          </a:p>
          <a:p>
            <a:pPr algn="l">
              <a:lnSpc>
                <a:spcPts val="4339"/>
              </a:lnSpc>
            </a:pPr>
            <a:r>
              <a:rPr lang="en-US" sz="3099">
                <a:solidFill>
                  <a:srgbClr val="000000"/>
                </a:solidFill>
                <a:latin typeface="Muli"/>
                <a:ea typeface="Muli"/>
                <a:cs typeface="Muli"/>
                <a:sym typeface="Muli"/>
              </a:rPr>
              <a:t>Đỗ Văn Thành</a:t>
            </a:r>
          </a:p>
          <a:p>
            <a:pPr algn="l">
              <a:lnSpc>
                <a:spcPts val="4339"/>
              </a:lnSpc>
            </a:pPr>
            <a:r>
              <a:rPr lang="en-US" sz="3099">
                <a:solidFill>
                  <a:srgbClr val="000000"/>
                </a:solidFill>
                <a:latin typeface="Muli"/>
                <a:ea typeface="Muli"/>
                <a:cs typeface="Muli"/>
                <a:sym typeface="Muli"/>
              </a:rPr>
              <a:t>Nguyễn Thị Anh Thơ</a:t>
            </a:r>
          </a:p>
          <a:p>
            <a:pPr algn="l">
              <a:lnSpc>
                <a:spcPts val="4339"/>
              </a:lnSpc>
            </a:pPr>
            <a:r>
              <a:rPr lang="en-US" sz="3099">
                <a:solidFill>
                  <a:srgbClr val="000000"/>
                </a:solidFill>
                <a:latin typeface="Muli"/>
                <a:ea typeface="Muli"/>
                <a:cs typeface="Muli"/>
                <a:sym typeface="Muli"/>
              </a:rPr>
              <a:t>Võ Lê Bảo Thy</a:t>
            </a:r>
          </a:p>
          <a:p>
            <a:pPr algn="l">
              <a:lnSpc>
                <a:spcPts val="4339"/>
              </a:lnSpc>
            </a:pPr>
            <a:r>
              <a:rPr lang="en-US" sz="3099">
                <a:solidFill>
                  <a:srgbClr val="000000"/>
                </a:solidFill>
                <a:latin typeface="Muli"/>
                <a:ea typeface="Muli"/>
                <a:cs typeface="Muli"/>
                <a:sym typeface="Muli"/>
              </a:rPr>
              <a:t>Nguyễn Tân Tiến </a:t>
            </a:r>
          </a:p>
        </p:txBody>
      </p:sp>
      <p:sp>
        <p:nvSpPr>
          <p:cNvPr name="TextBox 9" id="9"/>
          <p:cNvSpPr txBox="true"/>
          <p:nvPr/>
        </p:nvSpPr>
        <p:spPr>
          <a:xfrm rot="0">
            <a:off x="12234717" y="5168062"/>
            <a:ext cx="5379166" cy="1064260"/>
          </a:xfrm>
          <a:prstGeom prst="rect">
            <a:avLst/>
          </a:prstGeom>
        </p:spPr>
        <p:txBody>
          <a:bodyPr anchor="t" rtlCol="false" tIns="0" lIns="0" bIns="0" rIns="0">
            <a:spAutoFit/>
          </a:bodyPr>
          <a:lstStyle/>
          <a:p>
            <a:pPr algn="l">
              <a:lnSpc>
                <a:spcPts val="4339"/>
              </a:lnSpc>
            </a:pPr>
            <a:r>
              <a:rPr lang="en-US" sz="3099">
                <a:solidFill>
                  <a:srgbClr val="000000"/>
                </a:solidFill>
                <a:latin typeface="Muli"/>
                <a:ea typeface="Muli"/>
                <a:cs typeface="Muli"/>
                <a:sym typeface="Muli"/>
              </a:rPr>
              <a:t>Giáo viên hướng dẫn :</a:t>
            </a:r>
          </a:p>
          <a:p>
            <a:pPr algn="l">
              <a:lnSpc>
                <a:spcPts val="4339"/>
              </a:lnSpc>
            </a:pPr>
            <a:r>
              <a:rPr lang="en-US" sz="3099">
                <a:solidFill>
                  <a:srgbClr val="000000"/>
                </a:solidFill>
                <a:latin typeface="Muli"/>
                <a:ea typeface="Muli"/>
                <a:cs typeface="Muli"/>
                <a:sym typeface="Muli"/>
              </a:rPr>
              <a:t>Ths.GVC Nguyễn Minh Trung </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D1F189"/>
        </a:solidFill>
      </p:bgPr>
    </p:bg>
    <p:spTree>
      <p:nvGrpSpPr>
        <p:cNvPr id="1" name=""/>
        <p:cNvGrpSpPr/>
        <p:nvPr/>
      </p:nvGrpSpPr>
      <p:grpSpPr>
        <a:xfrm>
          <a:off x="0" y="0"/>
          <a:ext cx="0" cy="0"/>
          <a:chOff x="0" y="0"/>
          <a:chExt cx="0" cy="0"/>
        </a:xfrm>
      </p:grpSpPr>
      <p:sp>
        <p:nvSpPr>
          <p:cNvPr name="Freeform 2" id="2"/>
          <p:cNvSpPr/>
          <p:nvPr/>
        </p:nvSpPr>
        <p:spPr>
          <a:xfrm flipH="false" flipV="false" rot="0">
            <a:off x="2704098" y="-2335231"/>
            <a:ext cx="15380780" cy="18592152"/>
          </a:xfrm>
          <a:custGeom>
            <a:avLst/>
            <a:gdLst/>
            <a:ahLst/>
            <a:cxnLst/>
            <a:rect r="r" b="b" t="t" l="l"/>
            <a:pathLst>
              <a:path h="18592152" w="15380780">
                <a:moveTo>
                  <a:pt x="0" y="0"/>
                </a:moveTo>
                <a:lnTo>
                  <a:pt x="15380780" y="0"/>
                </a:lnTo>
                <a:lnTo>
                  <a:pt x="15380780" y="18592152"/>
                </a:lnTo>
                <a:lnTo>
                  <a:pt x="0" y="1859215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4034410" y="4568141"/>
            <a:ext cx="4356731" cy="5718859"/>
          </a:xfrm>
          <a:custGeom>
            <a:avLst/>
            <a:gdLst/>
            <a:ahLst/>
            <a:cxnLst/>
            <a:rect r="r" b="b" t="t" l="l"/>
            <a:pathLst>
              <a:path h="5718859" w="4356731">
                <a:moveTo>
                  <a:pt x="4356731" y="0"/>
                </a:moveTo>
                <a:lnTo>
                  <a:pt x="0" y="0"/>
                </a:lnTo>
                <a:lnTo>
                  <a:pt x="0" y="5718859"/>
                </a:lnTo>
                <a:lnTo>
                  <a:pt x="4356731" y="5718859"/>
                </a:lnTo>
                <a:lnTo>
                  <a:pt x="4356731"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9293138" y="2850989"/>
            <a:ext cx="341787" cy="341787"/>
            <a:chOff x="0" y="0"/>
            <a:chExt cx="6350000" cy="6350000"/>
          </a:xfrm>
        </p:grpSpPr>
        <p:sp>
          <p:nvSpPr>
            <p:cNvPr name="Freeform 5" id="5"/>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000000"/>
            </a:solidFill>
          </p:spPr>
        </p:sp>
      </p:grpSp>
      <p:grpSp>
        <p:nvGrpSpPr>
          <p:cNvPr name="Group 6" id="6"/>
          <p:cNvGrpSpPr/>
          <p:nvPr/>
        </p:nvGrpSpPr>
        <p:grpSpPr>
          <a:xfrm rot="0">
            <a:off x="9293138" y="3908225"/>
            <a:ext cx="341787" cy="341787"/>
            <a:chOff x="0" y="0"/>
            <a:chExt cx="6350000" cy="6350000"/>
          </a:xfrm>
        </p:grpSpPr>
        <p:sp>
          <p:nvSpPr>
            <p:cNvPr name="Freeform 7" id="7"/>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000000"/>
            </a:solidFill>
          </p:spPr>
        </p:sp>
      </p:grpSp>
      <p:grpSp>
        <p:nvGrpSpPr>
          <p:cNvPr name="Group 8" id="8"/>
          <p:cNvGrpSpPr/>
          <p:nvPr/>
        </p:nvGrpSpPr>
        <p:grpSpPr>
          <a:xfrm rot="0">
            <a:off x="9293138" y="4972606"/>
            <a:ext cx="341787" cy="341787"/>
            <a:chOff x="0" y="0"/>
            <a:chExt cx="6350000" cy="6350000"/>
          </a:xfrm>
        </p:grpSpPr>
        <p:sp>
          <p:nvSpPr>
            <p:cNvPr name="Freeform 9" id="9"/>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000000"/>
            </a:solidFill>
          </p:spPr>
        </p:sp>
      </p:grpSp>
      <p:grpSp>
        <p:nvGrpSpPr>
          <p:cNvPr name="Group 10" id="10"/>
          <p:cNvGrpSpPr/>
          <p:nvPr/>
        </p:nvGrpSpPr>
        <p:grpSpPr>
          <a:xfrm rot="0">
            <a:off x="9293138" y="5665780"/>
            <a:ext cx="341787" cy="341787"/>
            <a:chOff x="0" y="0"/>
            <a:chExt cx="6350000" cy="6350000"/>
          </a:xfrm>
        </p:grpSpPr>
        <p:sp>
          <p:nvSpPr>
            <p:cNvPr name="Freeform 11" id="11"/>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000000"/>
            </a:solidFill>
          </p:spPr>
        </p:sp>
      </p:grpSp>
      <p:grpSp>
        <p:nvGrpSpPr>
          <p:cNvPr name="Group 12" id="12"/>
          <p:cNvGrpSpPr/>
          <p:nvPr/>
        </p:nvGrpSpPr>
        <p:grpSpPr>
          <a:xfrm rot="0">
            <a:off x="9293138" y="6534973"/>
            <a:ext cx="341787" cy="341787"/>
            <a:chOff x="0" y="0"/>
            <a:chExt cx="6350000" cy="6350000"/>
          </a:xfrm>
        </p:grpSpPr>
        <p:sp>
          <p:nvSpPr>
            <p:cNvPr name="Freeform 13" id="13"/>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000000"/>
            </a:solidFill>
          </p:spPr>
        </p:sp>
      </p:grpSp>
      <p:sp>
        <p:nvSpPr>
          <p:cNvPr name="TextBox 14" id="14"/>
          <p:cNvSpPr txBox="true"/>
          <p:nvPr/>
        </p:nvSpPr>
        <p:spPr>
          <a:xfrm rot="0">
            <a:off x="1028700" y="1028700"/>
            <a:ext cx="6011420" cy="1333500"/>
          </a:xfrm>
          <a:prstGeom prst="rect">
            <a:avLst/>
          </a:prstGeom>
        </p:spPr>
        <p:txBody>
          <a:bodyPr anchor="t" rtlCol="false" tIns="0" lIns="0" bIns="0" rIns="0">
            <a:spAutoFit/>
          </a:bodyPr>
          <a:lstStyle/>
          <a:p>
            <a:pPr algn="l">
              <a:lnSpc>
                <a:spcPts val="10559"/>
              </a:lnSpc>
            </a:pPr>
            <a:r>
              <a:rPr lang="en-US" sz="8799">
                <a:solidFill>
                  <a:srgbClr val="000000"/>
                </a:solidFill>
                <a:latin typeface="Muli"/>
                <a:ea typeface="Muli"/>
                <a:cs typeface="Muli"/>
                <a:sym typeface="Muli"/>
              </a:rPr>
              <a:t>Nội dung </a:t>
            </a:r>
          </a:p>
        </p:txBody>
      </p:sp>
      <p:sp>
        <p:nvSpPr>
          <p:cNvPr name="TextBox 15" id="15"/>
          <p:cNvSpPr txBox="true"/>
          <p:nvPr/>
        </p:nvSpPr>
        <p:spPr>
          <a:xfrm rot="0">
            <a:off x="8324625" y="756920"/>
            <a:ext cx="8934675" cy="1612900"/>
          </a:xfrm>
          <a:prstGeom prst="rect">
            <a:avLst/>
          </a:prstGeom>
        </p:spPr>
        <p:txBody>
          <a:bodyPr anchor="t" rtlCol="false" tIns="0" lIns="0" bIns="0" rIns="0">
            <a:spAutoFit/>
          </a:bodyPr>
          <a:lstStyle/>
          <a:p>
            <a:pPr algn="l">
              <a:lnSpc>
                <a:spcPts val="6499"/>
              </a:lnSpc>
            </a:pPr>
            <a:r>
              <a:rPr lang="en-US" sz="4999">
                <a:solidFill>
                  <a:srgbClr val="000000"/>
                </a:solidFill>
                <a:latin typeface="Muli"/>
                <a:ea typeface="Muli"/>
                <a:cs typeface="Muli"/>
                <a:sym typeface="Muli"/>
              </a:rPr>
              <a:t>Những điều chúng ta</a:t>
            </a:r>
          </a:p>
          <a:p>
            <a:pPr algn="l">
              <a:lnSpc>
                <a:spcPts val="6499"/>
              </a:lnSpc>
            </a:pPr>
            <a:r>
              <a:rPr lang="en-US" sz="4999">
                <a:solidFill>
                  <a:srgbClr val="000000"/>
                </a:solidFill>
                <a:latin typeface="Muli"/>
                <a:ea typeface="Muli"/>
                <a:cs typeface="Muli"/>
                <a:sym typeface="Muli"/>
              </a:rPr>
              <a:t>sẽ tìm hiểu</a:t>
            </a:r>
          </a:p>
        </p:txBody>
      </p:sp>
      <p:sp>
        <p:nvSpPr>
          <p:cNvPr name="TextBox 16" id="16"/>
          <p:cNvSpPr txBox="true"/>
          <p:nvPr/>
        </p:nvSpPr>
        <p:spPr>
          <a:xfrm rot="0">
            <a:off x="10075185" y="2707001"/>
            <a:ext cx="6693080" cy="952500"/>
          </a:xfrm>
          <a:prstGeom prst="rect">
            <a:avLst/>
          </a:prstGeom>
        </p:spPr>
        <p:txBody>
          <a:bodyPr anchor="t" rtlCol="false" tIns="0" lIns="0" bIns="0" rIns="0">
            <a:spAutoFit/>
          </a:bodyPr>
          <a:lstStyle/>
          <a:p>
            <a:pPr algn="l">
              <a:lnSpc>
                <a:spcPts val="3899"/>
              </a:lnSpc>
            </a:pPr>
            <a:r>
              <a:rPr lang="en-US" sz="2999">
                <a:solidFill>
                  <a:srgbClr val="000000"/>
                </a:solidFill>
                <a:latin typeface="Muli"/>
                <a:ea typeface="Muli"/>
                <a:cs typeface="Muli"/>
                <a:sym typeface="Muli"/>
              </a:rPr>
              <a:t>1.	Cơ sở lí luận về trợ lí y tế ảo &amp; chatbot</a:t>
            </a:r>
          </a:p>
        </p:txBody>
      </p:sp>
      <p:sp>
        <p:nvSpPr>
          <p:cNvPr name="TextBox 17" id="17"/>
          <p:cNvSpPr txBox="true"/>
          <p:nvPr/>
        </p:nvSpPr>
        <p:spPr>
          <a:xfrm rot="0">
            <a:off x="10075185" y="4829048"/>
            <a:ext cx="6693080" cy="466725"/>
          </a:xfrm>
          <a:prstGeom prst="rect">
            <a:avLst/>
          </a:prstGeom>
        </p:spPr>
        <p:txBody>
          <a:bodyPr anchor="t" rtlCol="false" tIns="0" lIns="0" bIns="0" rIns="0">
            <a:spAutoFit/>
          </a:bodyPr>
          <a:lstStyle/>
          <a:p>
            <a:pPr algn="l">
              <a:lnSpc>
                <a:spcPts val="3899"/>
              </a:lnSpc>
            </a:pPr>
            <a:r>
              <a:rPr lang="en-US" sz="2999">
                <a:solidFill>
                  <a:srgbClr val="000000"/>
                </a:solidFill>
                <a:latin typeface="Muli"/>
                <a:ea typeface="Muli"/>
                <a:cs typeface="Muli"/>
                <a:sym typeface="Muli"/>
              </a:rPr>
              <a:t>3.	Lợi ích và hạn chế của trợ lí y tế ảo</a:t>
            </a:r>
          </a:p>
        </p:txBody>
      </p:sp>
      <p:sp>
        <p:nvSpPr>
          <p:cNvPr name="TextBox 18" id="18"/>
          <p:cNvSpPr txBox="true"/>
          <p:nvPr/>
        </p:nvSpPr>
        <p:spPr>
          <a:xfrm rot="0">
            <a:off x="10075185" y="3764237"/>
            <a:ext cx="6693080" cy="952500"/>
          </a:xfrm>
          <a:prstGeom prst="rect">
            <a:avLst/>
          </a:prstGeom>
        </p:spPr>
        <p:txBody>
          <a:bodyPr anchor="t" rtlCol="false" tIns="0" lIns="0" bIns="0" rIns="0">
            <a:spAutoFit/>
          </a:bodyPr>
          <a:lstStyle/>
          <a:p>
            <a:pPr algn="l">
              <a:lnSpc>
                <a:spcPts val="3899"/>
              </a:lnSpc>
            </a:pPr>
            <a:r>
              <a:rPr lang="en-US" sz="2999">
                <a:solidFill>
                  <a:srgbClr val="000000"/>
                </a:solidFill>
                <a:latin typeface="Muli"/>
                <a:ea typeface="Muli"/>
                <a:cs typeface="Muli"/>
                <a:sym typeface="Muli"/>
              </a:rPr>
              <a:t>2.	Ứng dụng chatbot trong tư vấn &amp; chăm sóc sức khỏe</a:t>
            </a:r>
          </a:p>
        </p:txBody>
      </p:sp>
      <p:sp>
        <p:nvSpPr>
          <p:cNvPr name="TextBox 19" id="19"/>
          <p:cNvSpPr txBox="true"/>
          <p:nvPr/>
        </p:nvSpPr>
        <p:spPr>
          <a:xfrm rot="0">
            <a:off x="10075185" y="5593786"/>
            <a:ext cx="6693080" cy="466725"/>
          </a:xfrm>
          <a:prstGeom prst="rect">
            <a:avLst/>
          </a:prstGeom>
        </p:spPr>
        <p:txBody>
          <a:bodyPr anchor="t" rtlCol="false" tIns="0" lIns="0" bIns="0" rIns="0">
            <a:spAutoFit/>
          </a:bodyPr>
          <a:lstStyle/>
          <a:p>
            <a:pPr algn="l">
              <a:lnSpc>
                <a:spcPts val="3899"/>
              </a:lnSpc>
            </a:pPr>
            <a:r>
              <a:rPr lang="en-US" sz="2999">
                <a:solidFill>
                  <a:srgbClr val="000000"/>
                </a:solidFill>
                <a:latin typeface="Muli"/>
                <a:ea typeface="Muli"/>
                <a:cs typeface="Muli"/>
                <a:sym typeface="Muli"/>
              </a:rPr>
              <a:t>4.	Thách thức và rủi ro khi triển khai</a:t>
            </a:r>
          </a:p>
        </p:txBody>
      </p:sp>
      <p:sp>
        <p:nvSpPr>
          <p:cNvPr name="TextBox 20" id="20"/>
          <p:cNvSpPr txBox="true"/>
          <p:nvPr/>
        </p:nvSpPr>
        <p:spPr>
          <a:xfrm rot="0">
            <a:off x="10075185" y="6475070"/>
            <a:ext cx="6693080" cy="952500"/>
          </a:xfrm>
          <a:prstGeom prst="rect">
            <a:avLst/>
          </a:prstGeom>
        </p:spPr>
        <p:txBody>
          <a:bodyPr anchor="t" rtlCol="false" tIns="0" lIns="0" bIns="0" rIns="0">
            <a:spAutoFit/>
          </a:bodyPr>
          <a:lstStyle/>
          <a:p>
            <a:pPr algn="l">
              <a:lnSpc>
                <a:spcPts val="3899"/>
              </a:lnSpc>
            </a:pPr>
            <a:r>
              <a:rPr lang="en-US" sz="2999">
                <a:solidFill>
                  <a:srgbClr val="000000"/>
                </a:solidFill>
                <a:latin typeface="Muli"/>
                <a:ea typeface="Muli"/>
                <a:cs typeface="Muli"/>
                <a:sym typeface="Muli"/>
              </a:rPr>
              <a:t>5.	Thực trạng và tiểm năng ứng dụng tới Việt Nam</a:t>
            </a:r>
          </a:p>
        </p:txBody>
      </p:sp>
      <p:grpSp>
        <p:nvGrpSpPr>
          <p:cNvPr name="Group 21" id="21"/>
          <p:cNvGrpSpPr/>
          <p:nvPr/>
        </p:nvGrpSpPr>
        <p:grpSpPr>
          <a:xfrm rot="0">
            <a:off x="9293138" y="7591136"/>
            <a:ext cx="323294" cy="323294"/>
            <a:chOff x="0" y="0"/>
            <a:chExt cx="6350000" cy="6350000"/>
          </a:xfrm>
        </p:grpSpPr>
        <p:sp>
          <p:nvSpPr>
            <p:cNvPr name="Freeform 22" id="22"/>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000000"/>
            </a:solidFill>
          </p:spPr>
        </p:sp>
      </p:grpSp>
      <p:sp>
        <p:nvSpPr>
          <p:cNvPr name="TextBox 23" id="23"/>
          <p:cNvSpPr txBox="true"/>
          <p:nvPr/>
        </p:nvSpPr>
        <p:spPr>
          <a:xfrm rot="0">
            <a:off x="10075185" y="7532345"/>
            <a:ext cx="6693080" cy="952500"/>
          </a:xfrm>
          <a:prstGeom prst="rect">
            <a:avLst/>
          </a:prstGeom>
        </p:spPr>
        <p:txBody>
          <a:bodyPr anchor="t" rtlCol="false" tIns="0" lIns="0" bIns="0" rIns="0">
            <a:spAutoFit/>
          </a:bodyPr>
          <a:lstStyle/>
          <a:p>
            <a:pPr algn="l">
              <a:lnSpc>
                <a:spcPts val="3899"/>
              </a:lnSpc>
            </a:pPr>
            <a:r>
              <a:rPr lang="en-US" sz="2999">
                <a:solidFill>
                  <a:srgbClr val="000000"/>
                </a:solidFill>
                <a:latin typeface="Muli"/>
                <a:ea typeface="Muli"/>
                <a:cs typeface="Muli"/>
                <a:sym typeface="Muli"/>
              </a:rPr>
              <a:t>6.	Giải pháp và định hướng phát triển trong tương lai</a:t>
            </a:r>
          </a:p>
        </p:txBody>
      </p:sp>
      <p:sp>
        <p:nvSpPr>
          <p:cNvPr name="TextBox 24" id="24"/>
          <p:cNvSpPr txBox="true"/>
          <p:nvPr/>
        </p:nvSpPr>
        <p:spPr>
          <a:xfrm rot="0">
            <a:off x="10075185" y="8832508"/>
            <a:ext cx="6693080" cy="466725"/>
          </a:xfrm>
          <a:prstGeom prst="rect">
            <a:avLst/>
          </a:prstGeom>
        </p:spPr>
        <p:txBody>
          <a:bodyPr anchor="t" rtlCol="false" tIns="0" lIns="0" bIns="0" rIns="0">
            <a:spAutoFit/>
          </a:bodyPr>
          <a:lstStyle/>
          <a:p>
            <a:pPr algn="l">
              <a:lnSpc>
                <a:spcPts val="3899"/>
              </a:lnSpc>
            </a:pPr>
            <a:r>
              <a:rPr lang="en-US" sz="2999">
                <a:solidFill>
                  <a:srgbClr val="000000"/>
                </a:solidFill>
                <a:latin typeface="Muli"/>
                <a:ea typeface="Muli"/>
                <a:cs typeface="Muli"/>
                <a:sym typeface="Muli"/>
              </a:rPr>
              <a:t>7. Kết luận</a:t>
            </a:r>
          </a:p>
        </p:txBody>
      </p:sp>
      <p:grpSp>
        <p:nvGrpSpPr>
          <p:cNvPr name="Group 25" id="25"/>
          <p:cNvGrpSpPr/>
          <p:nvPr/>
        </p:nvGrpSpPr>
        <p:grpSpPr>
          <a:xfrm rot="0">
            <a:off x="9293138" y="8752102"/>
            <a:ext cx="323294" cy="323294"/>
            <a:chOff x="0" y="0"/>
            <a:chExt cx="6350000" cy="6350000"/>
          </a:xfrm>
        </p:grpSpPr>
        <p:sp>
          <p:nvSpPr>
            <p:cNvPr name="Freeform 26" id="26"/>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000000"/>
            </a:solidFill>
          </p:spPr>
        </p:sp>
      </p:grpSp>
      <p:sp>
        <p:nvSpPr>
          <p:cNvPr name="Freeform 27" id="27"/>
          <p:cNvSpPr/>
          <p:nvPr/>
        </p:nvSpPr>
        <p:spPr>
          <a:xfrm flipH="false" flipV="false" rot="0">
            <a:off x="15856505" y="340557"/>
            <a:ext cx="1947344" cy="1947344"/>
          </a:xfrm>
          <a:custGeom>
            <a:avLst/>
            <a:gdLst/>
            <a:ahLst/>
            <a:cxnLst/>
            <a:rect r="r" b="b" t="t" l="l"/>
            <a:pathLst>
              <a:path h="1947344" w="1947344">
                <a:moveTo>
                  <a:pt x="0" y="0"/>
                </a:moveTo>
                <a:lnTo>
                  <a:pt x="1947344" y="0"/>
                </a:lnTo>
                <a:lnTo>
                  <a:pt x="1947344" y="1947344"/>
                </a:lnTo>
                <a:lnTo>
                  <a:pt x="0" y="1947344"/>
                </a:lnTo>
                <a:lnTo>
                  <a:pt x="0" y="0"/>
                </a:lnTo>
                <a:close/>
              </a:path>
            </a:pathLst>
          </a:custGeom>
          <a:blipFill>
            <a:blip r:embed="rId6"/>
            <a:stretch>
              <a:fillRect l="0" t="0" r="0" b="0"/>
            </a:stretch>
          </a:blipFill>
        </p:spPr>
      </p:sp>
    </p:spTree>
  </p:cSld>
  <p:clrMapOvr>
    <a:masterClrMapping/>
  </p:clrMapOvr>
  <p:transition spd="fast">
    <p:fade/>
  </p:transition>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FFDF7"/>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8879336" y="820322"/>
            <a:ext cx="15128191" cy="11965024"/>
          </a:xfrm>
          <a:custGeom>
            <a:avLst/>
            <a:gdLst/>
            <a:ahLst/>
            <a:cxnLst/>
            <a:rect r="r" b="b" t="t" l="l"/>
            <a:pathLst>
              <a:path h="11965024" w="15128191">
                <a:moveTo>
                  <a:pt x="0" y="0"/>
                </a:moveTo>
                <a:lnTo>
                  <a:pt x="15128191" y="0"/>
                </a:lnTo>
                <a:lnTo>
                  <a:pt x="15128191" y="11965024"/>
                </a:lnTo>
                <a:lnTo>
                  <a:pt x="0" y="1196502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0079232" y="977746"/>
            <a:ext cx="7490165" cy="8331508"/>
            <a:chOff x="687070" y="247650"/>
            <a:chExt cx="11148060" cy="12400280"/>
          </a:xfrm>
        </p:grpSpPr>
        <p:sp>
          <p:nvSpPr>
            <p:cNvPr name="Freeform 4" id="4"/>
            <p:cNvSpPr/>
            <p:nvPr/>
          </p:nvSpPr>
          <p:spPr>
            <a:xfrm flipH="false" flipV="false" rot="0">
              <a:off x="366333" y="5962"/>
              <a:ext cx="10331959" cy="12110687"/>
            </a:xfrm>
            <a:custGeom>
              <a:avLst/>
              <a:gdLst/>
              <a:ahLst/>
              <a:cxnLst/>
              <a:rect r="r" b="b" t="t" l="l"/>
              <a:pathLst>
                <a:path h="12110687" w="10331959">
                  <a:moveTo>
                    <a:pt x="8848787" y="1491368"/>
                  </a:moveTo>
                  <a:cubicBezTo>
                    <a:pt x="8406827" y="966858"/>
                    <a:pt x="7868347" y="502038"/>
                    <a:pt x="7224457" y="246768"/>
                  </a:cubicBezTo>
                  <a:cubicBezTo>
                    <a:pt x="6765987" y="65158"/>
                    <a:pt x="6266877" y="-5962"/>
                    <a:pt x="5772847" y="388"/>
                  </a:cubicBezTo>
                  <a:cubicBezTo>
                    <a:pt x="3687507" y="30868"/>
                    <a:pt x="1791397" y="1485018"/>
                    <a:pt x="922717" y="3340488"/>
                  </a:cubicBezTo>
                  <a:cubicBezTo>
                    <a:pt x="160717" y="4971168"/>
                    <a:pt x="-366333" y="7786758"/>
                    <a:pt x="314387" y="9451728"/>
                  </a:cubicBezTo>
                  <a:cubicBezTo>
                    <a:pt x="993837" y="11116698"/>
                    <a:pt x="2133027" y="11999348"/>
                    <a:pt x="3881817" y="12075548"/>
                  </a:cubicBezTo>
                  <a:cubicBezTo>
                    <a:pt x="6635177" y="12394318"/>
                    <a:pt x="8721787" y="10496938"/>
                    <a:pt x="9751757" y="8303648"/>
                  </a:cubicBezTo>
                  <a:cubicBezTo>
                    <a:pt x="10781728" y="6110358"/>
                    <a:pt x="10415967" y="3355728"/>
                    <a:pt x="8848787" y="1491368"/>
                  </a:cubicBezTo>
                  <a:close/>
                </a:path>
              </a:pathLst>
            </a:custGeom>
            <a:blipFill>
              <a:blip r:embed="rId4"/>
              <a:stretch>
                <a:fillRect l="-37911" t="0" r="-37911" b="0"/>
              </a:stretch>
            </a:blipFill>
          </p:spPr>
        </p:sp>
      </p:grpSp>
      <p:sp>
        <p:nvSpPr>
          <p:cNvPr name="TextBox 5" id="5"/>
          <p:cNvSpPr txBox="true"/>
          <p:nvPr/>
        </p:nvSpPr>
        <p:spPr>
          <a:xfrm rot="0">
            <a:off x="1028700" y="939646"/>
            <a:ext cx="8626246" cy="1356360"/>
          </a:xfrm>
          <a:prstGeom prst="rect">
            <a:avLst/>
          </a:prstGeom>
        </p:spPr>
        <p:txBody>
          <a:bodyPr anchor="t" rtlCol="false" tIns="0" lIns="0" bIns="0" rIns="0">
            <a:spAutoFit/>
          </a:bodyPr>
          <a:lstStyle/>
          <a:p>
            <a:pPr algn="l">
              <a:lnSpc>
                <a:spcPts val="5460"/>
              </a:lnSpc>
            </a:pPr>
            <a:r>
              <a:rPr lang="en-US" b="true" sz="4200">
                <a:solidFill>
                  <a:srgbClr val="009490"/>
                </a:solidFill>
                <a:latin typeface="Muli Bold"/>
                <a:ea typeface="Muli Bold"/>
                <a:cs typeface="Muli Bold"/>
                <a:sym typeface="Muli Bold"/>
              </a:rPr>
              <a:t>1.	Cơ sở lí luận về trợ lí y tế ảo &amp; chatbot</a:t>
            </a:r>
          </a:p>
        </p:txBody>
      </p:sp>
      <p:sp>
        <p:nvSpPr>
          <p:cNvPr name="TextBox 6" id="6"/>
          <p:cNvSpPr txBox="true"/>
          <p:nvPr/>
        </p:nvSpPr>
        <p:spPr>
          <a:xfrm rot="0">
            <a:off x="1028700" y="2403538"/>
            <a:ext cx="8290612" cy="457200"/>
          </a:xfrm>
          <a:prstGeom prst="rect">
            <a:avLst/>
          </a:prstGeom>
        </p:spPr>
        <p:txBody>
          <a:bodyPr anchor="t" rtlCol="false" tIns="0" lIns="0" bIns="0" rIns="0">
            <a:spAutoFit/>
          </a:bodyPr>
          <a:lstStyle/>
          <a:p>
            <a:pPr algn="l">
              <a:lnSpc>
                <a:spcPts val="3600"/>
              </a:lnSpc>
            </a:pPr>
            <a:r>
              <a:rPr lang="en-US" sz="3000">
                <a:solidFill>
                  <a:srgbClr val="000000"/>
                </a:solidFill>
                <a:latin typeface="Muli"/>
                <a:ea typeface="Muli"/>
                <a:cs typeface="Muli"/>
                <a:sym typeface="Muli"/>
              </a:rPr>
              <a:t>1.1. Khái niệm </a:t>
            </a:r>
          </a:p>
        </p:txBody>
      </p:sp>
      <p:sp>
        <p:nvSpPr>
          <p:cNvPr name="TextBox 7" id="7"/>
          <p:cNvSpPr txBox="true"/>
          <p:nvPr/>
        </p:nvSpPr>
        <p:spPr>
          <a:xfrm rot="0">
            <a:off x="1364333" y="2968270"/>
            <a:ext cx="8290612" cy="2286000"/>
          </a:xfrm>
          <a:prstGeom prst="rect">
            <a:avLst/>
          </a:prstGeom>
        </p:spPr>
        <p:txBody>
          <a:bodyPr anchor="t" rtlCol="false" tIns="0" lIns="0" bIns="0" rIns="0">
            <a:spAutoFit/>
          </a:bodyPr>
          <a:lstStyle/>
          <a:p>
            <a:pPr algn="l">
              <a:lnSpc>
                <a:spcPts val="3600"/>
              </a:lnSpc>
            </a:pPr>
            <a:r>
              <a:rPr lang="en-US" sz="3000">
                <a:solidFill>
                  <a:srgbClr val="000000"/>
                </a:solidFill>
                <a:latin typeface="Muli"/>
                <a:ea typeface="Muli"/>
                <a:cs typeface="Muli"/>
                <a:sym typeface="Muli"/>
              </a:rPr>
              <a:t>1.1.1. Trợ lí y tế ảo </a:t>
            </a:r>
          </a:p>
          <a:p>
            <a:pPr algn="l">
              <a:lnSpc>
                <a:spcPts val="3600"/>
              </a:lnSpc>
            </a:pPr>
            <a:r>
              <a:rPr lang="en-US" sz="3000">
                <a:solidFill>
                  <a:srgbClr val="000000"/>
                </a:solidFill>
                <a:latin typeface="Muli"/>
                <a:ea typeface="Muli"/>
                <a:cs typeface="Muli"/>
                <a:sym typeface="Muli"/>
              </a:rPr>
              <a:t> Trợ lý y tế ảo là AI sử dụng các thuật toán và phần mềm phức tạp để ước tính nhận thức của con người trong việc phân tích dữ liệu y tế phức tạp. </a:t>
            </a:r>
          </a:p>
        </p:txBody>
      </p:sp>
      <p:sp>
        <p:nvSpPr>
          <p:cNvPr name="TextBox 8" id="8"/>
          <p:cNvSpPr txBox="true"/>
          <p:nvPr/>
        </p:nvSpPr>
        <p:spPr>
          <a:xfrm rot="0">
            <a:off x="1364333" y="5359045"/>
            <a:ext cx="8290612" cy="1828800"/>
          </a:xfrm>
          <a:prstGeom prst="rect">
            <a:avLst/>
          </a:prstGeom>
        </p:spPr>
        <p:txBody>
          <a:bodyPr anchor="t" rtlCol="false" tIns="0" lIns="0" bIns="0" rIns="0">
            <a:spAutoFit/>
          </a:bodyPr>
          <a:lstStyle/>
          <a:p>
            <a:pPr algn="l">
              <a:lnSpc>
                <a:spcPts val="3600"/>
              </a:lnSpc>
            </a:pPr>
            <a:r>
              <a:rPr lang="en-US" sz="3000">
                <a:solidFill>
                  <a:srgbClr val="000000"/>
                </a:solidFill>
                <a:latin typeface="Muli"/>
                <a:ea typeface="Muli"/>
                <a:cs typeface="Muli"/>
                <a:sym typeface="Muli"/>
              </a:rPr>
              <a:t>1.1.2. Chatbot y tế </a:t>
            </a:r>
          </a:p>
          <a:p>
            <a:pPr algn="l">
              <a:lnSpc>
                <a:spcPts val="3600"/>
              </a:lnSpc>
            </a:pPr>
            <a:r>
              <a:rPr lang="en-US" sz="3000">
                <a:solidFill>
                  <a:srgbClr val="000000"/>
                </a:solidFill>
                <a:latin typeface="Muli"/>
                <a:ea typeface="Muli"/>
                <a:cs typeface="Muli"/>
                <a:sym typeface="Muli"/>
              </a:rPr>
              <a:t> Chatbot y tế là dạng đơn giản hơn của trợ lí y tế ảo cho phép chỉ tập trung vào một hay một số tác vụ cụ thể</a:t>
            </a:r>
          </a:p>
        </p:txBody>
      </p:sp>
      <p:sp>
        <p:nvSpPr>
          <p:cNvPr name="TextBox 9" id="9"/>
          <p:cNvSpPr txBox="true"/>
          <p:nvPr/>
        </p:nvSpPr>
        <p:spPr>
          <a:xfrm rot="0">
            <a:off x="1364333" y="7292620"/>
            <a:ext cx="8290612" cy="2743200"/>
          </a:xfrm>
          <a:prstGeom prst="rect">
            <a:avLst/>
          </a:prstGeom>
        </p:spPr>
        <p:txBody>
          <a:bodyPr anchor="t" rtlCol="false" tIns="0" lIns="0" bIns="0" rIns="0">
            <a:spAutoFit/>
          </a:bodyPr>
          <a:lstStyle/>
          <a:p>
            <a:pPr algn="l">
              <a:lnSpc>
                <a:spcPts val="3600"/>
              </a:lnSpc>
            </a:pPr>
            <a:r>
              <a:rPr lang="en-US" sz="3000">
                <a:solidFill>
                  <a:srgbClr val="000000"/>
                </a:solidFill>
                <a:latin typeface="Muli"/>
                <a:ea typeface="Muli"/>
                <a:cs typeface="Muli"/>
                <a:sym typeface="Muli"/>
              </a:rPr>
              <a:t>1.1.3. Mục tiêu chính</a:t>
            </a:r>
          </a:p>
          <a:p>
            <a:pPr algn="l" marL="647700" indent="-323850" lvl="1">
              <a:lnSpc>
                <a:spcPts val="3600"/>
              </a:lnSpc>
              <a:buFont typeface="Arial"/>
              <a:buChar char="•"/>
            </a:pPr>
            <a:r>
              <a:rPr lang="en-US" sz="3000">
                <a:solidFill>
                  <a:srgbClr val="000000"/>
                </a:solidFill>
                <a:latin typeface="Muli"/>
                <a:ea typeface="Muli"/>
                <a:cs typeface="Muli"/>
                <a:sym typeface="Muli"/>
              </a:rPr>
              <a:t> Phân tích mối quan hệ giữa các kỹ thuật phòng ngừa hoặc điều trị và kết quả của bệnh nhân.</a:t>
            </a:r>
          </a:p>
          <a:p>
            <a:pPr algn="l" marL="647700" indent="-323850" lvl="1">
              <a:lnSpc>
                <a:spcPts val="3600"/>
              </a:lnSpc>
              <a:buFont typeface="Arial"/>
              <a:buChar char="•"/>
            </a:pPr>
            <a:r>
              <a:rPr lang="en-US" sz="3000">
                <a:solidFill>
                  <a:srgbClr val="000000"/>
                </a:solidFill>
                <a:latin typeface="Muli"/>
                <a:ea typeface="Muli"/>
                <a:cs typeface="Muli"/>
                <a:sym typeface="Muli"/>
              </a:rPr>
              <a:t> Tăng cường khả năng tiếp cận dịch vụ y tế.</a:t>
            </a:r>
          </a:p>
          <a:p>
            <a:pPr algn="l" marL="647700" indent="-323850" lvl="1">
              <a:lnSpc>
                <a:spcPts val="3600"/>
              </a:lnSpc>
              <a:buFont typeface="Arial"/>
              <a:buChar char="•"/>
            </a:pPr>
            <a:r>
              <a:rPr lang="en-US" sz="3000">
                <a:solidFill>
                  <a:srgbClr val="000000"/>
                </a:solidFill>
                <a:latin typeface="Muli"/>
                <a:ea typeface="Muli"/>
                <a:cs typeface="Muli"/>
                <a:sym typeface="Muli"/>
              </a:rPr>
              <a:t>..........</a:t>
            </a:r>
          </a:p>
        </p:txBody>
      </p:sp>
      <p:sp>
        <p:nvSpPr>
          <p:cNvPr name="Freeform 10" id="10"/>
          <p:cNvSpPr/>
          <p:nvPr/>
        </p:nvSpPr>
        <p:spPr>
          <a:xfrm flipH="false" flipV="false" rot="0">
            <a:off x="16072021" y="179713"/>
            <a:ext cx="1967478" cy="1967478"/>
          </a:xfrm>
          <a:custGeom>
            <a:avLst/>
            <a:gdLst/>
            <a:ahLst/>
            <a:cxnLst/>
            <a:rect r="r" b="b" t="t" l="l"/>
            <a:pathLst>
              <a:path h="1967478" w="1967478">
                <a:moveTo>
                  <a:pt x="0" y="0"/>
                </a:moveTo>
                <a:lnTo>
                  <a:pt x="1967478" y="0"/>
                </a:lnTo>
                <a:lnTo>
                  <a:pt x="1967478" y="1967477"/>
                </a:lnTo>
                <a:lnTo>
                  <a:pt x="0" y="1967477"/>
                </a:lnTo>
                <a:lnTo>
                  <a:pt x="0" y="0"/>
                </a:lnTo>
                <a:close/>
              </a:path>
            </a:pathLst>
          </a:custGeom>
          <a:blipFill>
            <a:blip r:embed="rId5"/>
            <a:stretch>
              <a:fillRect l="0" t="0" r="0" b="0"/>
            </a:stretch>
          </a:blipFill>
        </p:spPr>
      </p:sp>
    </p:spTree>
  </p:cSld>
  <p:clrMapOvr>
    <a:masterClrMapping/>
  </p:clrMapOvr>
  <p:transition spd="fast">
    <p:push dir="l"/>
  </p:transition>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FFDF7"/>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8879336" y="820322"/>
            <a:ext cx="15128191" cy="11965024"/>
          </a:xfrm>
          <a:custGeom>
            <a:avLst/>
            <a:gdLst/>
            <a:ahLst/>
            <a:cxnLst/>
            <a:rect r="r" b="b" t="t" l="l"/>
            <a:pathLst>
              <a:path h="11965024" w="15128191">
                <a:moveTo>
                  <a:pt x="0" y="0"/>
                </a:moveTo>
                <a:lnTo>
                  <a:pt x="15128191" y="0"/>
                </a:lnTo>
                <a:lnTo>
                  <a:pt x="15128191" y="11965024"/>
                </a:lnTo>
                <a:lnTo>
                  <a:pt x="0" y="1196502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0079232" y="977746"/>
            <a:ext cx="7490165" cy="8331508"/>
            <a:chOff x="687070" y="247650"/>
            <a:chExt cx="11148060" cy="12400280"/>
          </a:xfrm>
        </p:grpSpPr>
        <p:sp>
          <p:nvSpPr>
            <p:cNvPr name="Freeform 4" id="4"/>
            <p:cNvSpPr/>
            <p:nvPr/>
          </p:nvSpPr>
          <p:spPr>
            <a:xfrm flipH="false" flipV="false" rot="0">
              <a:off x="366333" y="5962"/>
              <a:ext cx="10331959" cy="12110687"/>
            </a:xfrm>
            <a:custGeom>
              <a:avLst/>
              <a:gdLst/>
              <a:ahLst/>
              <a:cxnLst/>
              <a:rect r="r" b="b" t="t" l="l"/>
              <a:pathLst>
                <a:path h="12110687" w="10331959">
                  <a:moveTo>
                    <a:pt x="8848787" y="1491368"/>
                  </a:moveTo>
                  <a:cubicBezTo>
                    <a:pt x="8406827" y="966858"/>
                    <a:pt x="7868347" y="502038"/>
                    <a:pt x="7224457" y="246768"/>
                  </a:cubicBezTo>
                  <a:cubicBezTo>
                    <a:pt x="6765987" y="65158"/>
                    <a:pt x="6266877" y="-5962"/>
                    <a:pt x="5772847" y="388"/>
                  </a:cubicBezTo>
                  <a:cubicBezTo>
                    <a:pt x="3687507" y="30868"/>
                    <a:pt x="1791397" y="1485018"/>
                    <a:pt x="922717" y="3340488"/>
                  </a:cubicBezTo>
                  <a:cubicBezTo>
                    <a:pt x="160717" y="4971168"/>
                    <a:pt x="-366333" y="7786758"/>
                    <a:pt x="314387" y="9451728"/>
                  </a:cubicBezTo>
                  <a:cubicBezTo>
                    <a:pt x="993837" y="11116698"/>
                    <a:pt x="2133027" y="11999348"/>
                    <a:pt x="3881817" y="12075548"/>
                  </a:cubicBezTo>
                  <a:cubicBezTo>
                    <a:pt x="6635177" y="12394318"/>
                    <a:pt x="8721787" y="10496938"/>
                    <a:pt x="9751757" y="8303648"/>
                  </a:cubicBezTo>
                  <a:cubicBezTo>
                    <a:pt x="10781728" y="6110358"/>
                    <a:pt x="10415967" y="3355728"/>
                    <a:pt x="8848787" y="1491368"/>
                  </a:cubicBezTo>
                  <a:close/>
                </a:path>
              </a:pathLst>
            </a:custGeom>
            <a:blipFill>
              <a:blip r:embed="rId4"/>
              <a:stretch>
                <a:fillRect l="-37911" t="0" r="-37911" b="0"/>
              </a:stretch>
            </a:blipFill>
          </p:spPr>
        </p:sp>
      </p:grpSp>
      <p:sp>
        <p:nvSpPr>
          <p:cNvPr name="TextBox 5" id="5"/>
          <p:cNvSpPr txBox="true"/>
          <p:nvPr/>
        </p:nvSpPr>
        <p:spPr>
          <a:xfrm rot="0">
            <a:off x="1028700" y="939646"/>
            <a:ext cx="8626246" cy="1356360"/>
          </a:xfrm>
          <a:prstGeom prst="rect">
            <a:avLst/>
          </a:prstGeom>
        </p:spPr>
        <p:txBody>
          <a:bodyPr anchor="t" rtlCol="false" tIns="0" lIns="0" bIns="0" rIns="0">
            <a:spAutoFit/>
          </a:bodyPr>
          <a:lstStyle/>
          <a:p>
            <a:pPr algn="l">
              <a:lnSpc>
                <a:spcPts val="5460"/>
              </a:lnSpc>
            </a:pPr>
            <a:r>
              <a:rPr lang="en-US" b="true" sz="4200">
                <a:solidFill>
                  <a:srgbClr val="009490"/>
                </a:solidFill>
                <a:latin typeface="Muli Bold"/>
                <a:ea typeface="Muli Bold"/>
                <a:cs typeface="Muli Bold"/>
                <a:sym typeface="Muli Bold"/>
              </a:rPr>
              <a:t>1.	Cơ sở lí luận về trợ lí y tế ảo &amp; chatbot</a:t>
            </a:r>
          </a:p>
        </p:txBody>
      </p:sp>
      <p:sp>
        <p:nvSpPr>
          <p:cNvPr name="TextBox 6" id="6"/>
          <p:cNvSpPr txBox="true"/>
          <p:nvPr/>
        </p:nvSpPr>
        <p:spPr>
          <a:xfrm rot="0">
            <a:off x="1196517" y="2905402"/>
            <a:ext cx="8290612" cy="1828800"/>
          </a:xfrm>
          <a:prstGeom prst="rect">
            <a:avLst/>
          </a:prstGeom>
        </p:spPr>
        <p:txBody>
          <a:bodyPr anchor="t" rtlCol="false" tIns="0" lIns="0" bIns="0" rIns="0">
            <a:spAutoFit/>
          </a:bodyPr>
          <a:lstStyle/>
          <a:p>
            <a:pPr algn="l">
              <a:lnSpc>
                <a:spcPts val="3600"/>
              </a:lnSpc>
            </a:pPr>
            <a:r>
              <a:rPr lang="en-US" sz="3000">
                <a:solidFill>
                  <a:srgbClr val="000000"/>
                </a:solidFill>
                <a:latin typeface="Muli"/>
                <a:ea typeface="Muli"/>
                <a:cs typeface="Muli"/>
                <a:sym typeface="Muli"/>
              </a:rPr>
              <a:t>1.2. Nguyên lý hoạt động </a:t>
            </a:r>
          </a:p>
          <a:p>
            <a:pPr algn="l">
              <a:lnSpc>
                <a:spcPts val="3600"/>
              </a:lnSpc>
            </a:pPr>
            <a:r>
              <a:rPr lang="en-US" sz="3000">
                <a:solidFill>
                  <a:srgbClr val="000000"/>
                </a:solidFill>
                <a:latin typeface="Muli"/>
                <a:ea typeface="Muli"/>
                <a:cs typeface="Muli"/>
                <a:sym typeface="Muli"/>
              </a:rPr>
              <a:t> Trợ lý y tế ảo và chatbot hoạt động dựa trên công nghệ xử lý ngôn ngữ tự nhiên (NLP), trí tuệ nhân tạo (AI) và cơ sở tri thức y khoa</a:t>
            </a:r>
          </a:p>
        </p:txBody>
      </p:sp>
      <p:sp>
        <p:nvSpPr>
          <p:cNvPr name="TextBox 7" id="7"/>
          <p:cNvSpPr txBox="true"/>
          <p:nvPr/>
        </p:nvSpPr>
        <p:spPr>
          <a:xfrm rot="0">
            <a:off x="1196517" y="5343802"/>
            <a:ext cx="8290612" cy="2286000"/>
          </a:xfrm>
          <a:prstGeom prst="rect">
            <a:avLst/>
          </a:prstGeom>
        </p:spPr>
        <p:txBody>
          <a:bodyPr anchor="t" rtlCol="false" tIns="0" lIns="0" bIns="0" rIns="0">
            <a:spAutoFit/>
          </a:bodyPr>
          <a:lstStyle/>
          <a:p>
            <a:pPr algn="l">
              <a:lnSpc>
                <a:spcPts val="3600"/>
              </a:lnSpc>
            </a:pPr>
            <a:r>
              <a:rPr lang="en-US" sz="3000">
                <a:solidFill>
                  <a:srgbClr val="000000"/>
                </a:solidFill>
                <a:latin typeface="Muli"/>
                <a:ea typeface="Muli"/>
                <a:cs typeface="Muli"/>
                <a:sym typeface="Muli"/>
              </a:rPr>
              <a:t>1.3. Phân loại </a:t>
            </a:r>
          </a:p>
          <a:p>
            <a:pPr algn="l" marL="647700" indent="-323850" lvl="1">
              <a:lnSpc>
                <a:spcPts val="3600"/>
              </a:lnSpc>
              <a:buFont typeface="Arial"/>
              <a:buChar char="•"/>
            </a:pPr>
            <a:r>
              <a:rPr lang="en-US" sz="3000">
                <a:solidFill>
                  <a:srgbClr val="000000"/>
                </a:solidFill>
                <a:latin typeface="Muli"/>
                <a:ea typeface="Muli"/>
                <a:cs typeface="Muli"/>
                <a:sym typeface="Muli"/>
              </a:rPr>
              <a:t>Chatbot tư vấn triệu chứng </a:t>
            </a:r>
          </a:p>
          <a:p>
            <a:pPr algn="l" marL="647700" indent="-323850" lvl="1">
              <a:lnSpc>
                <a:spcPts val="3600"/>
              </a:lnSpc>
              <a:buFont typeface="Arial"/>
              <a:buChar char="•"/>
            </a:pPr>
            <a:r>
              <a:rPr lang="en-US" sz="3000">
                <a:solidFill>
                  <a:srgbClr val="000000"/>
                </a:solidFill>
                <a:latin typeface="Muli"/>
                <a:ea typeface="Muli"/>
                <a:cs typeface="Muli"/>
                <a:sym typeface="Muli"/>
              </a:rPr>
              <a:t>Chatbot quản lý bệnh nhân </a:t>
            </a:r>
          </a:p>
          <a:p>
            <a:pPr algn="l" marL="647700" indent="-323850" lvl="1">
              <a:lnSpc>
                <a:spcPts val="3600"/>
              </a:lnSpc>
              <a:buFont typeface="Arial"/>
              <a:buChar char="•"/>
            </a:pPr>
            <a:r>
              <a:rPr lang="en-US" sz="3000">
                <a:solidFill>
                  <a:srgbClr val="000000"/>
                </a:solidFill>
                <a:latin typeface="Muli"/>
                <a:ea typeface="Muli"/>
                <a:cs typeface="Muli"/>
                <a:sym typeface="Muli"/>
              </a:rPr>
              <a:t>Chatbot chăm sóc sau điều trị</a:t>
            </a:r>
          </a:p>
          <a:p>
            <a:pPr algn="l" marL="647700" indent="-323850" lvl="1">
              <a:lnSpc>
                <a:spcPts val="3600"/>
              </a:lnSpc>
              <a:buFont typeface="Arial"/>
              <a:buChar char="•"/>
            </a:pPr>
            <a:r>
              <a:rPr lang="en-US" sz="3000">
                <a:solidFill>
                  <a:srgbClr val="000000"/>
                </a:solidFill>
                <a:latin typeface="Muli"/>
                <a:ea typeface="Muli"/>
                <a:cs typeface="Muli"/>
                <a:sym typeface="Muli"/>
              </a:rPr>
              <a:t>Trợ lí ảo tổng hợp </a:t>
            </a:r>
          </a:p>
        </p:txBody>
      </p:sp>
      <p:sp>
        <p:nvSpPr>
          <p:cNvPr name="Freeform 8" id="8"/>
          <p:cNvSpPr/>
          <p:nvPr/>
        </p:nvSpPr>
        <p:spPr>
          <a:xfrm flipH="false" flipV="false" rot="0">
            <a:off x="16268357" y="314120"/>
            <a:ext cx="1981887" cy="1981887"/>
          </a:xfrm>
          <a:custGeom>
            <a:avLst/>
            <a:gdLst/>
            <a:ahLst/>
            <a:cxnLst/>
            <a:rect r="r" b="b" t="t" l="l"/>
            <a:pathLst>
              <a:path h="1981887" w="1981887">
                <a:moveTo>
                  <a:pt x="0" y="0"/>
                </a:moveTo>
                <a:lnTo>
                  <a:pt x="1981886" y="0"/>
                </a:lnTo>
                <a:lnTo>
                  <a:pt x="1981886" y="1981886"/>
                </a:lnTo>
                <a:lnTo>
                  <a:pt x="0" y="1981886"/>
                </a:lnTo>
                <a:lnTo>
                  <a:pt x="0" y="0"/>
                </a:lnTo>
                <a:close/>
              </a:path>
            </a:pathLst>
          </a:custGeom>
          <a:blipFill>
            <a:blip r:embed="rId5"/>
            <a:stretch>
              <a:fillRect l="0" t="0" r="0" b="0"/>
            </a:stretch>
          </a:blipFill>
        </p:spPr>
      </p:sp>
    </p:spTree>
  </p:cSld>
  <p:clrMapOvr>
    <a:masterClrMapping/>
  </p:clrMapOvr>
  <p:transition spd="fast">
    <p:cover dir="rd"/>
  </p:transition>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BADBF3"/>
        </a:solidFill>
      </p:bgPr>
    </p:bg>
    <p:spTree>
      <p:nvGrpSpPr>
        <p:cNvPr id="1" name=""/>
        <p:cNvGrpSpPr/>
        <p:nvPr/>
      </p:nvGrpSpPr>
      <p:grpSpPr>
        <a:xfrm>
          <a:off x="0" y="0"/>
          <a:ext cx="0" cy="0"/>
          <a:chOff x="0" y="0"/>
          <a:chExt cx="0" cy="0"/>
        </a:xfrm>
      </p:grpSpPr>
      <p:sp>
        <p:nvSpPr>
          <p:cNvPr name="Freeform 2" id="2"/>
          <p:cNvSpPr/>
          <p:nvPr/>
        </p:nvSpPr>
        <p:spPr>
          <a:xfrm flipH="false" flipV="false" rot="0">
            <a:off x="3444570" y="4431898"/>
            <a:ext cx="3484273" cy="4551900"/>
          </a:xfrm>
          <a:custGeom>
            <a:avLst/>
            <a:gdLst/>
            <a:ahLst/>
            <a:cxnLst/>
            <a:rect r="r" b="b" t="t" l="l"/>
            <a:pathLst>
              <a:path h="4551900" w="3484273">
                <a:moveTo>
                  <a:pt x="0" y="0"/>
                </a:moveTo>
                <a:lnTo>
                  <a:pt x="3484272" y="0"/>
                </a:lnTo>
                <a:lnTo>
                  <a:pt x="3484272" y="4551900"/>
                </a:lnTo>
                <a:lnTo>
                  <a:pt x="0" y="45519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4411673" y="6530573"/>
            <a:ext cx="4097491" cy="4561984"/>
          </a:xfrm>
          <a:custGeom>
            <a:avLst/>
            <a:gdLst/>
            <a:ahLst/>
            <a:cxnLst/>
            <a:rect r="r" b="b" t="t" l="l"/>
            <a:pathLst>
              <a:path h="4561984" w="4097491">
                <a:moveTo>
                  <a:pt x="0" y="0"/>
                </a:moveTo>
                <a:lnTo>
                  <a:pt x="4097491" y="0"/>
                </a:lnTo>
                <a:lnTo>
                  <a:pt x="4097491" y="4561984"/>
                </a:lnTo>
                <a:lnTo>
                  <a:pt x="0" y="456198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211140" y="5711657"/>
            <a:ext cx="3863814" cy="4722440"/>
          </a:xfrm>
          <a:custGeom>
            <a:avLst/>
            <a:gdLst/>
            <a:ahLst/>
            <a:cxnLst/>
            <a:rect r="r" b="b" t="t" l="l"/>
            <a:pathLst>
              <a:path h="4722440" w="3863814">
                <a:moveTo>
                  <a:pt x="0" y="0"/>
                </a:moveTo>
                <a:lnTo>
                  <a:pt x="3863814" y="0"/>
                </a:lnTo>
                <a:lnTo>
                  <a:pt x="3863814" y="4722440"/>
                </a:lnTo>
                <a:lnTo>
                  <a:pt x="0" y="472244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5" id="5"/>
          <p:cNvSpPr txBox="true"/>
          <p:nvPr/>
        </p:nvSpPr>
        <p:spPr>
          <a:xfrm rot="0">
            <a:off x="-32758" y="670491"/>
            <a:ext cx="11570883" cy="1524000"/>
          </a:xfrm>
          <a:prstGeom prst="rect">
            <a:avLst/>
          </a:prstGeom>
        </p:spPr>
        <p:txBody>
          <a:bodyPr anchor="t" rtlCol="false" tIns="0" lIns="0" bIns="0" rIns="0">
            <a:spAutoFit/>
          </a:bodyPr>
          <a:lstStyle/>
          <a:p>
            <a:pPr algn="ctr">
              <a:lnSpc>
                <a:spcPts val="6000"/>
              </a:lnSpc>
            </a:pPr>
            <a:r>
              <a:rPr lang="en-US" b="true" sz="5000">
                <a:solidFill>
                  <a:srgbClr val="000000"/>
                </a:solidFill>
                <a:latin typeface="Muli Bold"/>
                <a:ea typeface="Muli Bold"/>
                <a:cs typeface="Muli Bold"/>
                <a:sym typeface="Muli Bold"/>
              </a:rPr>
              <a:t>2.	Ứng dụng chatbot trong tư vấn &amp; chăm sóc sức khỏe</a:t>
            </a:r>
          </a:p>
        </p:txBody>
      </p:sp>
      <p:sp>
        <p:nvSpPr>
          <p:cNvPr name="TextBox 6" id="6"/>
          <p:cNvSpPr txBox="true"/>
          <p:nvPr/>
        </p:nvSpPr>
        <p:spPr>
          <a:xfrm rot="0">
            <a:off x="10252836" y="1889656"/>
            <a:ext cx="7006464" cy="1476375"/>
          </a:xfrm>
          <a:prstGeom prst="rect">
            <a:avLst/>
          </a:prstGeom>
        </p:spPr>
        <p:txBody>
          <a:bodyPr anchor="t" rtlCol="false" tIns="0" lIns="0" bIns="0" rIns="0">
            <a:spAutoFit/>
          </a:bodyPr>
          <a:lstStyle/>
          <a:p>
            <a:pPr algn="l">
              <a:lnSpc>
                <a:spcPts val="3900"/>
              </a:lnSpc>
            </a:pPr>
            <a:r>
              <a:rPr lang="en-US" sz="3000">
                <a:solidFill>
                  <a:srgbClr val="000000"/>
                </a:solidFill>
                <a:latin typeface="Muli"/>
                <a:ea typeface="Muli"/>
                <a:cs typeface="Muli"/>
                <a:sym typeface="Muli"/>
              </a:rPr>
              <a:t>2.1. Đặt lịch hẹn khám chữa bệnh từ xa</a:t>
            </a:r>
          </a:p>
          <a:p>
            <a:pPr algn="l">
              <a:lnSpc>
                <a:spcPts val="3900"/>
              </a:lnSpc>
            </a:pPr>
            <a:r>
              <a:rPr lang="en-US" sz="3000">
                <a:solidFill>
                  <a:srgbClr val="000000"/>
                </a:solidFill>
                <a:latin typeface="Muli"/>
                <a:ea typeface="Muli"/>
                <a:cs typeface="Muli"/>
                <a:sym typeface="Muli"/>
              </a:rPr>
              <a:t>       2.1.1. Tính năng nổi bật </a:t>
            </a:r>
          </a:p>
          <a:p>
            <a:pPr algn="l">
              <a:lnSpc>
                <a:spcPts val="3900"/>
              </a:lnSpc>
            </a:pPr>
            <a:r>
              <a:rPr lang="en-US" sz="3000">
                <a:solidFill>
                  <a:srgbClr val="000000"/>
                </a:solidFill>
                <a:latin typeface="Muli"/>
                <a:ea typeface="Muli"/>
                <a:cs typeface="Muli"/>
                <a:sym typeface="Muli"/>
              </a:rPr>
              <a:t>       2.1.2. Lợi ích mang lại </a:t>
            </a:r>
          </a:p>
        </p:txBody>
      </p:sp>
      <p:sp>
        <p:nvSpPr>
          <p:cNvPr name="TextBox 7" id="7"/>
          <p:cNvSpPr txBox="true"/>
          <p:nvPr/>
        </p:nvSpPr>
        <p:spPr>
          <a:xfrm rot="0">
            <a:off x="10252836" y="3366031"/>
            <a:ext cx="7006464" cy="1371600"/>
          </a:xfrm>
          <a:prstGeom prst="rect">
            <a:avLst/>
          </a:prstGeom>
        </p:spPr>
        <p:txBody>
          <a:bodyPr anchor="t" rtlCol="false" tIns="0" lIns="0" bIns="0" rIns="0">
            <a:spAutoFit/>
          </a:bodyPr>
          <a:lstStyle/>
          <a:p>
            <a:pPr algn="l">
              <a:lnSpc>
                <a:spcPts val="3600"/>
              </a:lnSpc>
            </a:pPr>
            <a:r>
              <a:rPr lang="en-US" sz="3000">
                <a:solidFill>
                  <a:srgbClr val="000000"/>
                </a:solidFill>
                <a:latin typeface="Muli"/>
                <a:ea typeface="Muli"/>
                <a:cs typeface="Muli"/>
                <a:sym typeface="Muli"/>
              </a:rPr>
              <a:t>2.2. Tư vấn sức khỏe ban đầu</a:t>
            </a:r>
          </a:p>
          <a:p>
            <a:pPr algn="l">
              <a:lnSpc>
                <a:spcPts val="3600"/>
              </a:lnSpc>
            </a:pPr>
            <a:r>
              <a:rPr lang="en-US" sz="3000">
                <a:solidFill>
                  <a:srgbClr val="000000"/>
                </a:solidFill>
                <a:latin typeface="Muli"/>
                <a:ea typeface="Muli"/>
                <a:cs typeface="Muli"/>
                <a:sym typeface="Muli"/>
              </a:rPr>
              <a:t>       2.2.1. Tính năng nổi bật </a:t>
            </a:r>
          </a:p>
          <a:p>
            <a:pPr algn="l">
              <a:lnSpc>
                <a:spcPts val="3600"/>
              </a:lnSpc>
            </a:pPr>
            <a:r>
              <a:rPr lang="en-US" sz="3000">
                <a:solidFill>
                  <a:srgbClr val="000000"/>
                </a:solidFill>
                <a:latin typeface="Muli"/>
                <a:ea typeface="Muli"/>
                <a:cs typeface="Muli"/>
                <a:sym typeface="Muli"/>
              </a:rPr>
              <a:t>       2.2.2. Lợi ích mang lại</a:t>
            </a:r>
          </a:p>
        </p:txBody>
      </p:sp>
      <p:sp>
        <p:nvSpPr>
          <p:cNvPr name="TextBox 8" id="8"/>
          <p:cNvSpPr txBox="true"/>
          <p:nvPr/>
        </p:nvSpPr>
        <p:spPr>
          <a:xfrm rot="0">
            <a:off x="10252836" y="4840423"/>
            <a:ext cx="7006464" cy="1476375"/>
          </a:xfrm>
          <a:prstGeom prst="rect">
            <a:avLst/>
          </a:prstGeom>
        </p:spPr>
        <p:txBody>
          <a:bodyPr anchor="t" rtlCol="false" tIns="0" lIns="0" bIns="0" rIns="0">
            <a:spAutoFit/>
          </a:bodyPr>
          <a:lstStyle/>
          <a:p>
            <a:pPr algn="l">
              <a:lnSpc>
                <a:spcPts val="3900"/>
              </a:lnSpc>
            </a:pPr>
            <a:r>
              <a:rPr lang="en-US" sz="3000">
                <a:solidFill>
                  <a:srgbClr val="000000"/>
                </a:solidFill>
                <a:latin typeface="Muli"/>
                <a:ea typeface="Muli"/>
                <a:cs typeface="Muli"/>
                <a:sym typeface="Muli"/>
              </a:rPr>
              <a:t>2.3. Hỗ trợ khám chữa bệnh từ xa</a:t>
            </a:r>
          </a:p>
          <a:p>
            <a:pPr algn="l">
              <a:lnSpc>
                <a:spcPts val="3900"/>
              </a:lnSpc>
            </a:pPr>
            <a:r>
              <a:rPr lang="en-US" sz="3000">
                <a:solidFill>
                  <a:srgbClr val="000000"/>
                </a:solidFill>
                <a:latin typeface="Muli"/>
                <a:ea typeface="Muli"/>
                <a:cs typeface="Muli"/>
                <a:sym typeface="Muli"/>
              </a:rPr>
              <a:t>       2.3.1. Tính năng nổi bật </a:t>
            </a:r>
          </a:p>
          <a:p>
            <a:pPr algn="l">
              <a:lnSpc>
                <a:spcPts val="3900"/>
              </a:lnSpc>
            </a:pPr>
            <a:r>
              <a:rPr lang="en-US" sz="3000">
                <a:solidFill>
                  <a:srgbClr val="000000"/>
                </a:solidFill>
                <a:latin typeface="Muli"/>
                <a:ea typeface="Muli"/>
                <a:cs typeface="Muli"/>
                <a:sym typeface="Muli"/>
              </a:rPr>
              <a:t>       2.3.2. Lợi ích mang lại</a:t>
            </a:r>
          </a:p>
        </p:txBody>
      </p:sp>
      <p:sp>
        <p:nvSpPr>
          <p:cNvPr name="TextBox 9" id="9"/>
          <p:cNvSpPr txBox="true"/>
          <p:nvPr/>
        </p:nvSpPr>
        <p:spPr>
          <a:xfrm rot="0">
            <a:off x="10252836" y="6288223"/>
            <a:ext cx="7006464" cy="1971675"/>
          </a:xfrm>
          <a:prstGeom prst="rect">
            <a:avLst/>
          </a:prstGeom>
        </p:spPr>
        <p:txBody>
          <a:bodyPr anchor="t" rtlCol="false" tIns="0" lIns="0" bIns="0" rIns="0">
            <a:spAutoFit/>
          </a:bodyPr>
          <a:lstStyle/>
          <a:p>
            <a:pPr algn="l">
              <a:lnSpc>
                <a:spcPts val="3900"/>
              </a:lnSpc>
            </a:pPr>
            <a:r>
              <a:rPr lang="en-US" sz="3000">
                <a:solidFill>
                  <a:srgbClr val="000000"/>
                </a:solidFill>
                <a:latin typeface="Muli"/>
                <a:ea typeface="Muli"/>
                <a:cs typeface="Muli"/>
                <a:sym typeface="Muli"/>
              </a:rPr>
              <a:t>2.4. Quản lý bệnh nhân và nhắc lịch điều trị</a:t>
            </a:r>
          </a:p>
          <a:p>
            <a:pPr algn="l">
              <a:lnSpc>
                <a:spcPts val="3900"/>
              </a:lnSpc>
            </a:pPr>
            <a:r>
              <a:rPr lang="en-US" sz="3000">
                <a:solidFill>
                  <a:srgbClr val="000000"/>
                </a:solidFill>
                <a:latin typeface="Muli"/>
                <a:ea typeface="Muli"/>
                <a:cs typeface="Muli"/>
                <a:sym typeface="Muli"/>
              </a:rPr>
              <a:t>       2.4.1. Tính năng nổi bật </a:t>
            </a:r>
          </a:p>
          <a:p>
            <a:pPr algn="l">
              <a:lnSpc>
                <a:spcPts val="3900"/>
              </a:lnSpc>
            </a:pPr>
            <a:r>
              <a:rPr lang="en-US" sz="3000">
                <a:solidFill>
                  <a:srgbClr val="000000"/>
                </a:solidFill>
                <a:latin typeface="Muli"/>
                <a:ea typeface="Muli"/>
                <a:cs typeface="Muli"/>
                <a:sym typeface="Muli"/>
              </a:rPr>
              <a:t>       2.4.2. Lợi ích mang lại</a:t>
            </a:r>
          </a:p>
        </p:txBody>
      </p:sp>
      <p:sp>
        <p:nvSpPr>
          <p:cNvPr name="TextBox 10" id="10"/>
          <p:cNvSpPr txBox="true"/>
          <p:nvPr/>
        </p:nvSpPr>
        <p:spPr>
          <a:xfrm rot="0">
            <a:off x="10252836" y="8231323"/>
            <a:ext cx="7006464" cy="1476375"/>
          </a:xfrm>
          <a:prstGeom prst="rect">
            <a:avLst/>
          </a:prstGeom>
        </p:spPr>
        <p:txBody>
          <a:bodyPr anchor="t" rtlCol="false" tIns="0" lIns="0" bIns="0" rIns="0">
            <a:spAutoFit/>
          </a:bodyPr>
          <a:lstStyle/>
          <a:p>
            <a:pPr algn="l">
              <a:lnSpc>
                <a:spcPts val="3900"/>
              </a:lnSpc>
            </a:pPr>
            <a:r>
              <a:rPr lang="en-US" sz="3000">
                <a:solidFill>
                  <a:srgbClr val="000000"/>
                </a:solidFill>
                <a:latin typeface="Muli"/>
                <a:ea typeface="Muli"/>
                <a:cs typeface="Muli"/>
                <a:sym typeface="Muli"/>
              </a:rPr>
              <a:t>2.5. Quản lý đơn thuốc trực tuyến </a:t>
            </a:r>
          </a:p>
          <a:p>
            <a:pPr algn="l">
              <a:lnSpc>
                <a:spcPts val="3900"/>
              </a:lnSpc>
            </a:pPr>
            <a:r>
              <a:rPr lang="en-US" sz="3000">
                <a:solidFill>
                  <a:srgbClr val="000000"/>
                </a:solidFill>
                <a:latin typeface="Muli"/>
                <a:ea typeface="Muli"/>
                <a:cs typeface="Muli"/>
                <a:sym typeface="Muli"/>
              </a:rPr>
              <a:t>       2.5.1. Tính năng nổi bật </a:t>
            </a:r>
          </a:p>
          <a:p>
            <a:pPr algn="l">
              <a:lnSpc>
                <a:spcPts val="3900"/>
              </a:lnSpc>
            </a:pPr>
            <a:r>
              <a:rPr lang="en-US" sz="3000">
                <a:solidFill>
                  <a:srgbClr val="000000"/>
                </a:solidFill>
                <a:latin typeface="Muli"/>
                <a:ea typeface="Muli"/>
                <a:cs typeface="Muli"/>
                <a:sym typeface="Muli"/>
              </a:rPr>
              <a:t>       2.5.2. Lợi ích mang lại</a:t>
            </a:r>
          </a:p>
        </p:txBody>
      </p:sp>
      <p:sp>
        <p:nvSpPr>
          <p:cNvPr name="Freeform 11" id="11"/>
          <p:cNvSpPr/>
          <p:nvPr/>
        </p:nvSpPr>
        <p:spPr>
          <a:xfrm flipH="false" flipV="false" rot="0">
            <a:off x="16123748" y="192612"/>
            <a:ext cx="2001879" cy="2001879"/>
          </a:xfrm>
          <a:custGeom>
            <a:avLst/>
            <a:gdLst/>
            <a:ahLst/>
            <a:cxnLst/>
            <a:rect r="r" b="b" t="t" l="l"/>
            <a:pathLst>
              <a:path h="2001879" w="2001879">
                <a:moveTo>
                  <a:pt x="0" y="0"/>
                </a:moveTo>
                <a:lnTo>
                  <a:pt x="2001879" y="0"/>
                </a:lnTo>
                <a:lnTo>
                  <a:pt x="2001879" y="2001879"/>
                </a:lnTo>
                <a:lnTo>
                  <a:pt x="0" y="2001879"/>
                </a:lnTo>
                <a:lnTo>
                  <a:pt x="0" y="0"/>
                </a:lnTo>
                <a:close/>
              </a:path>
            </a:pathLst>
          </a:custGeom>
          <a:blipFill>
            <a:blip r:embed="rId8"/>
            <a:stretch>
              <a:fillRect l="0" t="0" r="0" b="0"/>
            </a:stretch>
          </a:blipFill>
        </p:spPr>
      </p:sp>
    </p:spTree>
  </p:cSld>
  <p:clrMapOvr>
    <a:masterClrMapping/>
  </p:clrMapOvr>
  <p:transition spd="fast">
    <p:wipe dir="l"/>
  </p:transition>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FFDF7"/>
        </a:solidFill>
      </p:bgPr>
    </p:bg>
    <p:spTree>
      <p:nvGrpSpPr>
        <p:cNvPr id="1" name=""/>
        <p:cNvGrpSpPr/>
        <p:nvPr/>
      </p:nvGrpSpPr>
      <p:grpSpPr>
        <a:xfrm>
          <a:off x="0" y="0"/>
          <a:ext cx="0" cy="0"/>
          <a:chOff x="0" y="0"/>
          <a:chExt cx="0" cy="0"/>
        </a:xfrm>
      </p:grpSpPr>
      <p:grpSp>
        <p:nvGrpSpPr>
          <p:cNvPr name="Group 2" id="2"/>
          <p:cNvGrpSpPr/>
          <p:nvPr/>
        </p:nvGrpSpPr>
        <p:grpSpPr>
          <a:xfrm rot="-10800000">
            <a:off x="4176033" y="4976243"/>
            <a:ext cx="3837807" cy="3297219"/>
            <a:chOff x="0" y="0"/>
            <a:chExt cx="2354580" cy="2022917"/>
          </a:xfrm>
        </p:grpSpPr>
        <p:sp>
          <p:nvSpPr>
            <p:cNvPr name="Freeform 3" id="3"/>
            <p:cNvSpPr/>
            <p:nvPr/>
          </p:nvSpPr>
          <p:spPr>
            <a:xfrm flipH="false" flipV="false" rot="0">
              <a:off x="0" y="0"/>
              <a:ext cx="2353310" cy="2022917"/>
            </a:xfrm>
            <a:custGeom>
              <a:avLst/>
              <a:gdLst/>
              <a:ahLst/>
              <a:cxnLst/>
              <a:rect r="r" b="b" t="t" l="l"/>
              <a:pathLst>
                <a:path h="2022917" w="2353310">
                  <a:moveTo>
                    <a:pt x="784860" y="1955607"/>
                  </a:moveTo>
                  <a:cubicBezTo>
                    <a:pt x="905510" y="1996247"/>
                    <a:pt x="1042670" y="2022917"/>
                    <a:pt x="1177290" y="2022917"/>
                  </a:cubicBezTo>
                  <a:cubicBezTo>
                    <a:pt x="1311910" y="2022917"/>
                    <a:pt x="1441450" y="2000057"/>
                    <a:pt x="1560830" y="1959417"/>
                  </a:cubicBezTo>
                  <a:cubicBezTo>
                    <a:pt x="1563370" y="1958147"/>
                    <a:pt x="1565910" y="1958147"/>
                    <a:pt x="1568450" y="1956877"/>
                  </a:cubicBezTo>
                  <a:cubicBezTo>
                    <a:pt x="2016760" y="1794317"/>
                    <a:pt x="2346960" y="1365057"/>
                    <a:pt x="2353310" y="866010"/>
                  </a:cubicBezTo>
                  <a:lnTo>
                    <a:pt x="2353310" y="0"/>
                  </a:lnTo>
                  <a:lnTo>
                    <a:pt x="0" y="0"/>
                  </a:lnTo>
                  <a:lnTo>
                    <a:pt x="0" y="865391"/>
                  </a:lnTo>
                  <a:cubicBezTo>
                    <a:pt x="6350" y="1367597"/>
                    <a:pt x="331470" y="1796857"/>
                    <a:pt x="784860" y="1955607"/>
                  </a:cubicBezTo>
                  <a:close/>
                </a:path>
              </a:pathLst>
            </a:custGeom>
            <a:solidFill>
              <a:srgbClr val="BADBF3"/>
            </a:solidFill>
          </p:spPr>
        </p:sp>
      </p:grpSp>
      <p:grpSp>
        <p:nvGrpSpPr>
          <p:cNvPr name="Group 4" id="4"/>
          <p:cNvGrpSpPr/>
          <p:nvPr/>
        </p:nvGrpSpPr>
        <p:grpSpPr>
          <a:xfrm rot="-10800000">
            <a:off x="1028700" y="1666811"/>
            <a:ext cx="3837807" cy="3297219"/>
            <a:chOff x="0" y="0"/>
            <a:chExt cx="2354580" cy="2022917"/>
          </a:xfrm>
        </p:grpSpPr>
        <p:sp>
          <p:nvSpPr>
            <p:cNvPr name="Freeform 5" id="5"/>
            <p:cNvSpPr/>
            <p:nvPr/>
          </p:nvSpPr>
          <p:spPr>
            <a:xfrm flipH="false" flipV="false" rot="0">
              <a:off x="0" y="0"/>
              <a:ext cx="2353310" cy="2022917"/>
            </a:xfrm>
            <a:custGeom>
              <a:avLst/>
              <a:gdLst/>
              <a:ahLst/>
              <a:cxnLst/>
              <a:rect r="r" b="b" t="t" l="l"/>
              <a:pathLst>
                <a:path h="2022917" w="2353310">
                  <a:moveTo>
                    <a:pt x="784860" y="1955607"/>
                  </a:moveTo>
                  <a:cubicBezTo>
                    <a:pt x="905510" y="1996247"/>
                    <a:pt x="1042670" y="2022917"/>
                    <a:pt x="1177290" y="2022917"/>
                  </a:cubicBezTo>
                  <a:cubicBezTo>
                    <a:pt x="1311910" y="2022917"/>
                    <a:pt x="1441450" y="2000057"/>
                    <a:pt x="1560830" y="1959417"/>
                  </a:cubicBezTo>
                  <a:cubicBezTo>
                    <a:pt x="1563370" y="1958147"/>
                    <a:pt x="1565910" y="1958147"/>
                    <a:pt x="1568450" y="1956877"/>
                  </a:cubicBezTo>
                  <a:cubicBezTo>
                    <a:pt x="2016760" y="1794317"/>
                    <a:pt x="2346960" y="1365057"/>
                    <a:pt x="2353310" y="866010"/>
                  </a:cubicBezTo>
                  <a:lnTo>
                    <a:pt x="2353310" y="0"/>
                  </a:lnTo>
                  <a:lnTo>
                    <a:pt x="0" y="0"/>
                  </a:lnTo>
                  <a:lnTo>
                    <a:pt x="0" y="865391"/>
                  </a:lnTo>
                  <a:cubicBezTo>
                    <a:pt x="6350" y="1367597"/>
                    <a:pt x="331470" y="1796857"/>
                    <a:pt x="784860" y="1955607"/>
                  </a:cubicBezTo>
                  <a:close/>
                </a:path>
              </a:pathLst>
            </a:custGeom>
            <a:solidFill>
              <a:srgbClr val="BADBF3"/>
            </a:solidFill>
          </p:spPr>
        </p:sp>
      </p:grpSp>
      <p:grpSp>
        <p:nvGrpSpPr>
          <p:cNvPr name="Group 6" id="6"/>
          <p:cNvGrpSpPr/>
          <p:nvPr/>
        </p:nvGrpSpPr>
        <p:grpSpPr>
          <a:xfrm rot="-10800000">
            <a:off x="-486895" y="5961081"/>
            <a:ext cx="3837807" cy="3297219"/>
            <a:chOff x="0" y="0"/>
            <a:chExt cx="2354580" cy="2022917"/>
          </a:xfrm>
        </p:grpSpPr>
        <p:sp>
          <p:nvSpPr>
            <p:cNvPr name="Freeform 7" id="7"/>
            <p:cNvSpPr/>
            <p:nvPr/>
          </p:nvSpPr>
          <p:spPr>
            <a:xfrm flipH="false" flipV="false" rot="0">
              <a:off x="0" y="0"/>
              <a:ext cx="2353310" cy="2022917"/>
            </a:xfrm>
            <a:custGeom>
              <a:avLst/>
              <a:gdLst/>
              <a:ahLst/>
              <a:cxnLst/>
              <a:rect r="r" b="b" t="t" l="l"/>
              <a:pathLst>
                <a:path h="2022917" w="2353310">
                  <a:moveTo>
                    <a:pt x="784860" y="1955607"/>
                  </a:moveTo>
                  <a:cubicBezTo>
                    <a:pt x="905510" y="1996247"/>
                    <a:pt x="1042670" y="2022917"/>
                    <a:pt x="1177290" y="2022917"/>
                  </a:cubicBezTo>
                  <a:cubicBezTo>
                    <a:pt x="1311910" y="2022917"/>
                    <a:pt x="1441450" y="2000057"/>
                    <a:pt x="1560830" y="1959417"/>
                  </a:cubicBezTo>
                  <a:cubicBezTo>
                    <a:pt x="1563370" y="1958147"/>
                    <a:pt x="1565910" y="1958147"/>
                    <a:pt x="1568450" y="1956877"/>
                  </a:cubicBezTo>
                  <a:cubicBezTo>
                    <a:pt x="2016760" y="1794317"/>
                    <a:pt x="2346960" y="1365057"/>
                    <a:pt x="2353310" y="866010"/>
                  </a:cubicBezTo>
                  <a:lnTo>
                    <a:pt x="2353310" y="0"/>
                  </a:lnTo>
                  <a:lnTo>
                    <a:pt x="0" y="0"/>
                  </a:lnTo>
                  <a:lnTo>
                    <a:pt x="0" y="865391"/>
                  </a:lnTo>
                  <a:cubicBezTo>
                    <a:pt x="6350" y="1367597"/>
                    <a:pt x="331470" y="1796857"/>
                    <a:pt x="784860" y="1955607"/>
                  </a:cubicBezTo>
                  <a:close/>
                </a:path>
              </a:pathLst>
            </a:custGeom>
            <a:solidFill>
              <a:srgbClr val="BADBF3"/>
            </a:solidFill>
          </p:spPr>
        </p:sp>
      </p:grpSp>
      <p:sp>
        <p:nvSpPr>
          <p:cNvPr name="Freeform 8" id="8"/>
          <p:cNvSpPr/>
          <p:nvPr/>
        </p:nvSpPr>
        <p:spPr>
          <a:xfrm flipH="false" flipV="false" rot="0">
            <a:off x="1432008" y="740558"/>
            <a:ext cx="3079295" cy="4223472"/>
          </a:xfrm>
          <a:custGeom>
            <a:avLst/>
            <a:gdLst/>
            <a:ahLst/>
            <a:cxnLst/>
            <a:rect r="r" b="b" t="t" l="l"/>
            <a:pathLst>
              <a:path h="4223472" w="3079295">
                <a:moveTo>
                  <a:pt x="0" y="0"/>
                </a:moveTo>
                <a:lnTo>
                  <a:pt x="3079296" y="0"/>
                </a:lnTo>
                <a:lnTo>
                  <a:pt x="3079296" y="4223472"/>
                </a:lnTo>
                <a:lnTo>
                  <a:pt x="0" y="422347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4505191" y="4158662"/>
            <a:ext cx="3127248" cy="4114800"/>
          </a:xfrm>
          <a:custGeom>
            <a:avLst/>
            <a:gdLst/>
            <a:ahLst/>
            <a:cxnLst/>
            <a:rect r="r" b="b" t="t" l="l"/>
            <a:pathLst>
              <a:path h="4114800" w="3127248">
                <a:moveTo>
                  <a:pt x="0" y="0"/>
                </a:moveTo>
                <a:lnTo>
                  <a:pt x="3127248" y="0"/>
                </a:lnTo>
                <a:lnTo>
                  <a:pt x="3127248"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164681" y="5143500"/>
            <a:ext cx="3112285" cy="4114800"/>
          </a:xfrm>
          <a:custGeom>
            <a:avLst/>
            <a:gdLst/>
            <a:ahLst/>
            <a:cxnLst/>
            <a:rect r="r" b="b" t="t" l="l"/>
            <a:pathLst>
              <a:path h="4114800" w="3112285">
                <a:moveTo>
                  <a:pt x="0" y="0"/>
                </a:moveTo>
                <a:lnTo>
                  <a:pt x="3112285" y="0"/>
                </a:lnTo>
                <a:lnTo>
                  <a:pt x="3112285"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1" id="11"/>
          <p:cNvSpPr txBox="true"/>
          <p:nvPr/>
        </p:nvSpPr>
        <p:spPr>
          <a:xfrm rot="0">
            <a:off x="8850400" y="3171825"/>
            <a:ext cx="8408900" cy="1971675"/>
          </a:xfrm>
          <a:prstGeom prst="rect">
            <a:avLst/>
          </a:prstGeom>
        </p:spPr>
        <p:txBody>
          <a:bodyPr anchor="t" rtlCol="false" tIns="0" lIns="0" bIns="0" rIns="0">
            <a:spAutoFit/>
          </a:bodyPr>
          <a:lstStyle/>
          <a:p>
            <a:pPr algn="l">
              <a:lnSpc>
                <a:spcPts val="3900"/>
              </a:lnSpc>
            </a:pPr>
            <a:r>
              <a:rPr lang="en-US" sz="3000">
                <a:solidFill>
                  <a:srgbClr val="000000"/>
                </a:solidFill>
                <a:latin typeface="Muli"/>
                <a:ea typeface="Muli"/>
                <a:cs typeface="Muli"/>
                <a:sym typeface="Muli"/>
              </a:rPr>
              <a:t>3.1. Lợi ích</a:t>
            </a:r>
          </a:p>
          <a:p>
            <a:pPr algn="l">
              <a:lnSpc>
                <a:spcPts val="3900"/>
              </a:lnSpc>
            </a:pPr>
            <a:r>
              <a:rPr lang="en-US" sz="3000">
                <a:solidFill>
                  <a:srgbClr val="000000"/>
                </a:solidFill>
                <a:latin typeface="Muli"/>
                <a:ea typeface="Muli"/>
                <a:cs typeface="Muli"/>
                <a:sym typeface="Muli"/>
              </a:rPr>
              <a:t>        3.1.1. Đối với người dùng </a:t>
            </a:r>
          </a:p>
          <a:p>
            <a:pPr algn="l">
              <a:lnSpc>
                <a:spcPts val="3900"/>
              </a:lnSpc>
            </a:pPr>
            <a:r>
              <a:rPr lang="en-US" sz="3000">
                <a:solidFill>
                  <a:srgbClr val="000000"/>
                </a:solidFill>
                <a:latin typeface="Muli"/>
                <a:ea typeface="Muli"/>
                <a:cs typeface="Muli"/>
                <a:sym typeface="Muli"/>
              </a:rPr>
              <a:t>        3.1.2. Đối với doanh nghiệp </a:t>
            </a:r>
          </a:p>
          <a:p>
            <a:pPr algn="l">
              <a:lnSpc>
                <a:spcPts val="3900"/>
              </a:lnSpc>
            </a:pPr>
            <a:r>
              <a:rPr lang="en-US" sz="3000">
                <a:solidFill>
                  <a:srgbClr val="000000"/>
                </a:solidFill>
                <a:latin typeface="Muli"/>
                <a:ea typeface="Muli"/>
                <a:cs typeface="Muli"/>
                <a:sym typeface="Muli"/>
              </a:rPr>
              <a:t>        3.1.3. Đối với các nhân viên y tế </a:t>
            </a:r>
          </a:p>
        </p:txBody>
      </p:sp>
      <p:sp>
        <p:nvSpPr>
          <p:cNvPr name="TextBox 12" id="12"/>
          <p:cNvSpPr txBox="true"/>
          <p:nvPr/>
        </p:nvSpPr>
        <p:spPr>
          <a:xfrm rot="0">
            <a:off x="6742814" y="1418933"/>
            <a:ext cx="8408900" cy="1406525"/>
          </a:xfrm>
          <a:prstGeom prst="rect">
            <a:avLst/>
          </a:prstGeom>
        </p:spPr>
        <p:txBody>
          <a:bodyPr anchor="t" rtlCol="false" tIns="0" lIns="0" bIns="0" rIns="0">
            <a:spAutoFit/>
          </a:bodyPr>
          <a:lstStyle/>
          <a:p>
            <a:pPr algn="l">
              <a:lnSpc>
                <a:spcPts val="5500"/>
              </a:lnSpc>
            </a:pPr>
            <a:r>
              <a:rPr lang="en-US" sz="5000" b="true">
                <a:solidFill>
                  <a:srgbClr val="6D5342"/>
                </a:solidFill>
                <a:latin typeface="Muli Bold"/>
                <a:ea typeface="Muli Bold"/>
                <a:cs typeface="Muli Bold"/>
                <a:sym typeface="Muli Bold"/>
              </a:rPr>
              <a:t>3.	Lợi ích và hạn chế của trợ lí y tế ảo</a:t>
            </a:r>
          </a:p>
        </p:txBody>
      </p:sp>
      <p:sp>
        <p:nvSpPr>
          <p:cNvPr name="TextBox 13" id="13"/>
          <p:cNvSpPr txBox="true"/>
          <p:nvPr/>
        </p:nvSpPr>
        <p:spPr>
          <a:xfrm rot="0">
            <a:off x="8850400" y="5467350"/>
            <a:ext cx="8408900" cy="2466975"/>
          </a:xfrm>
          <a:prstGeom prst="rect">
            <a:avLst/>
          </a:prstGeom>
        </p:spPr>
        <p:txBody>
          <a:bodyPr anchor="t" rtlCol="false" tIns="0" lIns="0" bIns="0" rIns="0">
            <a:spAutoFit/>
          </a:bodyPr>
          <a:lstStyle/>
          <a:p>
            <a:pPr algn="l">
              <a:lnSpc>
                <a:spcPts val="3900"/>
              </a:lnSpc>
            </a:pPr>
            <a:r>
              <a:rPr lang="en-US" sz="3000">
                <a:solidFill>
                  <a:srgbClr val="000000"/>
                </a:solidFill>
                <a:latin typeface="Muli"/>
                <a:ea typeface="Muli"/>
                <a:cs typeface="Muli"/>
                <a:sym typeface="Muli"/>
              </a:rPr>
              <a:t>3.2. Hạn chế</a:t>
            </a:r>
          </a:p>
          <a:p>
            <a:pPr algn="l">
              <a:lnSpc>
                <a:spcPts val="3900"/>
              </a:lnSpc>
            </a:pPr>
            <a:r>
              <a:rPr lang="en-US" sz="3000">
                <a:solidFill>
                  <a:srgbClr val="000000"/>
                </a:solidFill>
                <a:latin typeface="Muli"/>
                <a:ea typeface="Muli"/>
                <a:cs typeface="Muli"/>
                <a:sym typeface="Muli"/>
              </a:rPr>
              <a:t>       3.2.1. Hạn chế về chuyên môn và độ chính xác </a:t>
            </a:r>
          </a:p>
          <a:p>
            <a:pPr algn="l">
              <a:lnSpc>
                <a:spcPts val="3900"/>
              </a:lnSpc>
            </a:pPr>
            <a:r>
              <a:rPr lang="en-US" sz="3000">
                <a:solidFill>
                  <a:srgbClr val="000000"/>
                </a:solidFill>
                <a:latin typeface="Muli"/>
                <a:ea typeface="Muli"/>
                <a:cs typeface="Muli"/>
                <a:sym typeface="Muli"/>
              </a:rPr>
              <a:t>       3.2.2. Hạn chế về công nghệ và ngữ cảnh </a:t>
            </a:r>
          </a:p>
          <a:p>
            <a:pPr algn="l">
              <a:lnSpc>
                <a:spcPts val="3900"/>
              </a:lnSpc>
            </a:pPr>
            <a:r>
              <a:rPr lang="en-US" sz="3000">
                <a:solidFill>
                  <a:srgbClr val="000000"/>
                </a:solidFill>
                <a:latin typeface="Muli"/>
                <a:ea typeface="Muli"/>
                <a:cs typeface="Muli"/>
                <a:sym typeface="Muli"/>
              </a:rPr>
              <a:t>       3.2.3. Rủi ro về bảo mật và quyền riêng tư </a:t>
            </a:r>
          </a:p>
        </p:txBody>
      </p:sp>
      <p:sp>
        <p:nvSpPr>
          <p:cNvPr name="Freeform 14" id="14"/>
          <p:cNvSpPr/>
          <p:nvPr/>
        </p:nvSpPr>
        <p:spPr>
          <a:xfrm flipH="false" flipV="false" rot="0">
            <a:off x="16204873" y="197516"/>
            <a:ext cx="1900867" cy="1900867"/>
          </a:xfrm>
          <a:custGeom>
            <a:avLst/>
            <a:gdLst/>
            <a:ahLst/>
            <a:cxnLst/>
            <a:rect r="r" b="b" t="t" l="l"/>
            <a:pathLst>
              <a:path h="1900867" w="1900867">
                <a:moveTo>
                  <a:pt x="0" y="0"/>
                </a:moveTo>
                <a:lnTo>
                  <a:pt x="1900867" y="0"/>
                </a:lnTo>
                <a:lnTo>
                  <a:pt x="1900867" y="1900867"/>
                </a:lnTo>
                <a:lnTo>
                  <a:pt x="0" y="1900867"/>
                </a:lnTo>
                <a:lnTo>
                  <a:pt x="0" y="0"/>
                </a:lnTo>
                <a:close/>
              </a:path>
            </a:pathLst>
          </a:custGeom>
          <a:blipFill>
            <a:blip r:embed="rId8"/>
            <a:stretch>
              <a:fillRect l="0" t="0" r="0" b="0"/>
            </a:stretch>
          </a:blipFill>
        </p:spPr>
      </p:sp>
    </p:spTree>
  </p:cSld>
  <p:clrMapOvr>
    <a:masterClrMapping/>
  </p:clrMapOvr>
  <p:transition spd="fast">
    <p:fade/>
  </p:transition>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FFDF7"/>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8879336" y="820322"/>
            <a:ext cx="15128191" cy="11965024"/>
          </a:xfrm>
          <a:custGeom>
            <a:avLst/>
            <a:gdLst/>
            <a:ahLst/>
            <a:cxnLst/>
            <a:rect r="r" b="b" t="t" l="l"/>
            <a:pathLst>
              <a:path h="11965024" w="15128191">
                <a:moveTo>
                  <a:pt x="0" y="0"/>
                </a:moveTo>
                <a:lnTo>
                  <a:pt x="15128191" y="0"/>
                </a:lnTo>
                <a:lnTo>
                  <a:pt x="15128191" y="11965024"/>
                </a:lnTo>
                <a:lnTo>
                  <a:pt x="0" y="1196502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0079232" y="977746"/>
            <a:ext cx="7490165" cy="8331508"/>
            <a:chOff x="687070" y="247650"/>
            <a:chExt cx="11148060" cy="12400280"/>
          </a:xfrm>
        </p:grpSpPr>
        <p:sp>
          <p:nvSpPr>
            <p:cNvPr name="Freeform 4" id="4"/>
            <p:cNvSpPr/>
            <p:nvPr/>
          </p:nvSpPr>
          <p:spPr>
            <a:xfrm flipH="false" flipV="false" rot="0">
              <a:off x="366333" y="5962"/>
              <a:ext cx="10331959" cy="12110687"/>
            </a:xfrm>
            <a:custGeom>
              <a:avLst/>
              <a:gdLst/>
              <a:ahLst/>
              <a:cxnLst/>
              <a:rect r="r" b="b" t="t" l="l"/>
              <a:pathLst>
                <a:path h="12110687" w="10331959">
                  <a:moveTo>
                    <a:pt x="8848787" y="1491368"/>
                  </a:moveTo>
                  <a:cubicBezTo>
                    <a:pt x="8406827" y="966858"/>
                    <a:pt x="7868347" y="502038"/>
                    <a:pt x="7224457" y="246768"/>
                  </a:cubicBezTo>
                  <a:cubicBezTo>
                    <a:pt x="6765987" y="65158"/>
                    <a:pt x="6266877" y="-5962"/>
                    <a:pt x="5772847" y="388"/>
                  </a:cubicBezTo>
                  <a:cubicBezTo>
                    <a:pt x="3687507" y="30868"/>
                    <a:pt x="1791397" y="1485018"/>
                    <a:pt x="922717" y="3340488"/>
                  </a:cubicBezTo>
                  <a:cubicBezTo>
                    <a:pt x="160717" y="4971168"/>
                    <a:pt x="-366333" y="7786758"/>
                    <a:pt x="314387" y="9451728"/>
                  </a:cubicBezTo>
                  <a:cubicBezTo>
                    <a:pt x="993837" y="11116698"/>
                    <a:pt x="2133027" y="11999348"/>
                    <a:pt x="3881817" y="12075548"/>
                  </a:cubicBezTo>
                  <a:cubicBezTo>
                    <a:pt x="6635177" y="12394318"/>
                    <a:pt x="8721787" y="10496938"/>
                    <a:pt x="9751757" y="8303648"/>
                  </a:cubicBezTo>
                  <a:cubicBezTo>
                    <a:pt x="10781728" y="6110358"/>
                    <a:pt x="10415967" y="3355728"/>
                    <a:pt x="8848787" y="1491368"/>
                  </a:cubicBezTo>
                  <a:close/>
                </a:path>
              </a:pathLst>
            </a:custGeom>
            <a:solidFill>
              <a:srgbClr val="000000">
                <a:alpha val="0"/>
              </a:srgbClr>
            </a:solidFill>
            <a:ln w="12700">
              <a:solidFill>
                <a:srgbClr val="000000"/>
              </a:solidFill>
            </a:ln>
          </p:spPr>
        </p:sp>
      </p:grpSp>
      <p:sp>
        <p:nvSpPr>
          <p:cNvPr name="TextBox 5" id="5"/>
          <p:cNvSpPr txBox="true"/>
          <p:nvPr/>
        </p:nvSpPr>
        <p:spPr>
          <a:xfrm rot="0">
            <a:off x="1028700" y="939646"/>
            <a:ext cx="8626246" cy="1356360"/>
          </a:xfrm>
          <a:prstGeom prst="rect">
            <a:avLst/>
          </a:prstGeom>
        </p:spPr>
        <p:txBody>
          <a:bodyPr anchor="t" rtlCol="false" tIns="0" lIns="0" bIns="0" rIns="0">
            <a:spAutoFit/>
          </a:bodyPr>
          <a:lstStyle/>
          <a:p>
            <a:pPr algn="l">
              <a:lnSpc>
                <a:spcPts val="5460"/>
              </a:lnSpc>
            </a:pPr>
            <a:r>
              <a:rPr lang="en-US" sz="4200" b="true">
                <a:solidFill>
                  <a:srgbClr val="D1F189"/>
                </a:solidFill>
                <a:latin typeface="Muli Bold"/>
                <a:ea typeface="Muli Bold"/>
                <a:cs typeface="Muli Bold"/>
                <a:sym typeface="Muli Bold"/>
              </a:rPr>
              <a:t>4.	Thách thức và rủi ro khi triển khai</a:t>
            </a:r>
          </a:p>
        </p:txBody>
      </p:sp>
      <p:sp>
        <p:nvSpPr>
          <p:cNvPr name="TextBox 6" id="6"/>
          <p:cNvSpPr txBox="true"/>
          <p:nvPr/>
        </p:nvSpPr>
        <p:spPr>
          <a:xfrm rot="0">
            <a:off x="1028700" y="2400300"/>
            <a:ext cx="8290612" cy="2286000"/>
          </a:xfrm>
          <a:prstGeom prst="rect">
            <a:avLst/>
          </a:prstGeom>
        </p:spPr>
        <p:txBody>
          <a:bodyPr anchor="t" rtlCol="false" tIns="0" lIns="0" bIns="0" rIns="0">
            <a:spAutoFit/>
          </a:bodyPr>
          <a:lstStyle/>
          <a:p>
            <a:pPr algn="l">
              <a:lnSpc>
                <a:spcPts val="3600"/>
              </a:lnSpc>
            </a:pPr>
            <a:r>
              <a:rPr lang="en-US" sz="3000">
                <a:solidFill>
                  <a:srgbClr val="000000"/>
                </a:solidFill>
                <a:latin typeface="Muli"/>
                <a:ea typeface="Muli"/>
                <a:cs typeface="Muli"/>
                <a:sym typeface="Muli"/>
              </a:rPr>
              <a:t>4.1. Rào cản công nghệ </a:t>
            </a:r>
          </a:p>
          <a:p>
            <a:pPr algn="l" marL="647700" indent="-323850" lvl="1">
              <a:lnSpc>
                <a:spcPts val="3600"/>
              </a:lnSpc>
              <a:buFont typeface="Arial"/>
              <a:buChar char="•"/>
            </a:pPr>
            <a:r>
              <a:rPr lang="en-US" sz="3000">
                <a:solidFill>
                  <a:srgbClr val="000000"/>
                </a:solidFill>
                <a:latin typeface="Muli"/>
                <a:ea typeface="Muli"/>
                <a:cs typeface="Muli"/>
                <a:sym typeface="Muli"/>
              </a:rPr>
              <a:t>Dữ liệu không chuẩn hóa</a:t>
            </a:r>
          </a:p>
          <a:p>
            <a:pPr algn="l" marL="647700" indent="-323850" lvl="1">
              <a:lnSpc>
                <a:spcPts val="3600"/>
              </a:lnSpc>
              <a:buFont typeface="Arial"/>
              <a:buChar char="•"/>
            </a:pPr>
            <a:r>
              <a:rPr lang="en-US" sz="3000">
                <a:solidFill>
                  <a:srgbClr val="000000"/>
                </a:solidFill>
                <a:latin typeface="Muli"/>
                <a:ea typeface="Muli"/>
                <a:cs typeface="Muli"/>
                <a:sym typeface="Muli"/>
              </a:rPr>
              <a:t>Khó khăn trong tích hợp hệ thống </a:t>
            </a:r>
          </a:p>
          <a:p>
            <a:pPr algn="l" marL="647700" indent="-323850" lvl="1">
              <a:lnSpc>
                <a:spcPts val="3600"/>
              </a:lnSpc>
              <a:buFont typeface="Arial"/>
              <a:buChar char="•"/>
            </a:pPr>
            <a:r>
              <a:rPr lang="en-US" sz="3000">
                <a:solidFill>
                  <a:srgbClr val="000000"/>
                </a:solidFill>
                <a:latin typeface="Muli"/>
                <a:ea typeface="Muli"/>
                <a:cs typeface="Muli"/>
                <a:sym typeface="Muli"/>
              </a:rPr>
              <a:t>Thiếu bảo mật và dễ bị tấn công </a:t>
            </a:r>
          </a:p>
          <a:p>
            <a:pPr algn="l" marL="647700" indent="-323850" lvl="1">
              <a:lnSpc>
                <a:spcPts val="3600"/>
              </a:lnSpc>
              <a:buFont typeface="Arial"/>
              <a:buChar char="•"/>
            </a:pPr>
            <a:r>
              <a:rPr lang="en-US" sz="3000">
                <a:solidFill>
                  <a:srgbClr val="000000"/>
                </a:solidFill>
                <a:latin typeface="Muli"/>
                <a:ea typeface="Muli"/>
                <a:cs typeface="Muli"/>
                <a:sym typeface="Muli"/>
              </a:rPr>
              <a:t>Thiên vị thuật toán </a:t>
            </a:r>
          </a:p>
        </p:txBody>
      </p:sp>
      <p:sp>
        <p:nvSpPr>
          <p:cNvPr name="Freeform 7" id="7"/>
          <p:cNvSpPr/>
          <p:nvPr/>
        </p:nvSpPr>
        <p:spPr>
          <a:xfrm flipH="false" flipV="false" rot="0">
            <a:off x="11986738" y="3333510"/>
            <a:ext cx="3127248" cy="4114800"/>
          </a:xfrm>
          <a:custGeom>
            <a:avLst/>
            <a:gdLst/>
            <a:ahLst/>
            <a:cxnLst/>
            <a:rect r="r" b="b" t="t" l="l"/>
            <a:pathLst>
              <a:path h="4114800" w="3127248">
                <a:moveTo>
                  <a:pt x="0" y="0"/>
                </a:moveTo>
                <a:lnTo>
                  <a:pt x="3127248" y="0"/>
                </a:lnTo>
                <a:lnTo>
                  <a:pt x="3127248"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8" id="8"/>
          <p:cNvSpPr txBox="true"/>
          <p:nvPr/>
        </p:nvSpPr>
        <p:spPr>
          <a:xfrm rot="0">
            <a:off x="1028700" y="4686300"/>
            <a:ext cx="8290612" cy="2286000"/>
          </a:xfrm>
          <a:prstGeom prst="rect">
            <a:avLst/>
          </a:prstGeom>
        </p:spPr>
        <p:txBody>
          <a:bodyPr anchor="t" rtlCol="false" tIns="0" lIns="0" bIns="0" rIns="0">
            <a:spAutoFit/>
          </a:bodyPr>
          <a:lstStyle/>
          <a:p>
            <a:pPr algn="l">
              <a:lnSpc>
                <a:spcPts val="3600"/>
              </a:lnSpc>
            </a:pPr>
            <a:r>
              <a:rPr lang="en-US" sz="3000">
                <a:solidFill>
                  <a:srgbClr val="000000"/>
                </a:solidFill>
                <a:latin typeface="Muli"/>
                <a:ea typeface="Muli"/>
                <a:cs typeface="Muli"/>
                <a:sym typeface="Muli"/>
              </a:rPr>
              <a:t>4.2. Vấn đề pháp lý và bảo mật </a:t>
            </a:r>
          </a:p>
          <a:p>
            <a:pPr algn="l" marL="647700" indent="-323850" lvl="1">
              <a:lnSpc>
                <a:spcPts val="3600"/>
              </a:lnSpc>
              <a:buFont typeface="Arial"/>
              <a:buChar char="•"/>
            </a:pPr>
            <a:r>
              <a:rPr lang="en-US" sz="3000">
                <a:solidFill>
                  <a:srgbClr val="000000"/>
                </a:solidFill>
                <a:latin typeface="Muli"/>
                <a:ea typeface="Muli"/>
                <a:cs typeface="Muli"/>
                <a:sym typeface="Muli"/>
              </a:rPr>
              <a:t>Trách nhiệm pháp lý chưa rõ ràng </a:t>
            </a:r>
          </a:p>
          <a:p>
            <a:pPr algn="l" marL="647700" indent="-323850" lvl="1">
              <a:lnSpc>
                <a:spcPts val="3600"/>
              </a:lnSpc>
              <a:buFont typeface="Arial"/>
              <a:buChar char="•"/>
            </a:pPr>
            <a:r>
              <a:rPr lang="en-US" sz="3000">
                <a:solidFill>
                  <a:srgbClr val="000000"/>
                </a:solidFill>
                <a:latin typeface="Muli"/>
                <a:ea typeface="Muli"/>
                <a:cs typeface="Muli"/>
                <a:sym typeface="Muli"/>
              </a:rPr>
              <a:t>Thiếu khung pháp lý chuyên biệt </a:t>
            </a:r>
          </a:p>
          <a:p>
            <a:pPr algn="l" marL="647700" indent="-323850" lvl="1">
              <a:lnSpc>
                <a:spcPts val="3600"/>
              </a:lnSpc>
              <a:buFont typeface="Arial"/>
              <a:buChar char="•"/>
            </a:pPr>
            <a:r>
              <a:rPr lang="en-US" sz="3000">
                <a:solidFill>
                  <a:srgbClr val="000000"/>
                </a:solidFill>
                <a:latin typeface="Muli"/>
                <a:ea typeface="Muli"/>
                <a:cs typeface="Muli"/>
                <a:sym typeface="Muli"/>
              </a:rPr>
              <a:t>Nguy cơ rò rỉ dữ liệu </a:t>
            </a:r>
          </a:p>
          <a:p>
            <a:pPr algn="l" marL="647700" indent="-323850" lvl="1">
              <a:lnSpc>
                <a:spcPts val="3600"/>
              </a:lnSpc>
              <a:buFont typeface="Arial"/>
              <a:buChar char="•"/>
            </a:pPr>
            <a:r>
              <a:rPr lang="en-US" sz="3000">
                <a:solidFill>
                  <a:srgbClr val="000000"/>
                </a:solidFill>
                <a:latin typeface="Muli"/>
                <a:ea typeface="Muli"/>
                <a:cs typeface="Muli"/>
                <a:sym typeface="Muli"/>
              </a:rPr>
              <a:t>Tuân thủ tiêu chuẩn quốc tế </a:t>
            </a:r>
          </a:p>
        </p:txBody>
      </p:sp>
      <p:sp>
        <p:nvSpPr>
          <p:cNvPr name="TextBox 9" id="9"/>
          <p:cNvSpPr txBox="true"/>
          <p:nvPr/>
        </p:nvSpPr>
        <p:spPr>
          <a:xfrm rot="0">
            <a:off x="1028700" y="7077075"/>
            <a:ext cx="8290612" cy="2743200"/>
          </a:xfrm>
          <a:prstGeom prst="rect">
            <a:avLst/>
          </a:prstGeom>
        </p:spPr>
        <p:txBody>
          <a:bodyPr anchor="t" rtlCol="false" tIns="0" lIns="0" bIns="0" rIns="0">
            <a:spAutoFit/>
          </a:bodyPr>
          <a:lstStyle/>
          <a:p>
            <a:pPr algn="l">
              <a:lnSpc>
                <a:spcPts val="3600"/>
              </a:lnSpc>
            </a:pPr>
            <a:r>
              <a:rPr lang="en-US" sz="3000">
                <a:solidFill>
                  <a:srgbClr val="000000"/>
                </a:solidFill>
                <a:latin typeface="Muli"/>
                <a:ea typeface="Muli"/>
                <a:cs typeface="Muli"/>
                <a:sym typeface="Muli"/>
              </a:rPr>
              <a:t>4.3. Yếu tố con người </a:t>
            </a:r>
          </a:p>
          <a:p>
            <a:pPr algn="l" marL="647700" indent="-323850" lvl="1">
              <a:lnSpc>
                <a:spcPts val="3600"/>
              </a:lnSpc>
              <a:buFont typeface="Arial"/>
              <a:buChar char="•"/>
            </a:pPr>
            <a:r>
              <a:rPr lang="en-US" sz="3000">
                <a:solidFill>
                  <a:srgbClr val="000000"/>
                </a:solidFill>
                <a:latin typeface="Muli"/>
                <a:ea typeface="Muli"/>
                <a:cs typeface="Muli"/>
                <a:sym typeface="Muli"/>
              </a:rPr>
              <a:t>Sự kháng cự từ nhân viên y tế </a:t>
            </a:r>
          </a:p>
          <a:p>
            <a:pPr algn="l" marL="647700" indent="-323850" lvl="1">
              <a:lnSpc>
                <a:spcPts val="3600"/>
              </a:lnSpc>
              <a:buFont typeface="Arial"/>
              <a:buChar char="•"/>
            </a:pPr>
            <a:r>
              <a:rPr lang="en-US" sz="3000">
                <a:solidFill>
                  <a:srgbClr val="000000"/>
                </a:solidFill>
                <a:latin typeface="Muli"/>
                <a:ea typeface="Muli"/>
                <a:cs typeface="Muli"/>
                <a:sym typeface="Muli"/>
              </a:rPr>
              <a:t>Thiếu chuyên gia AI y tế </a:t>
            </a:r>
          </a:p>
          <a:p>
            <a:pPr algn="l" marL="647700" indent="-323850" lvl="1">
              <a:lnSpc>
                <a:spcPts val="3600"/>
              </a:lnSpc>
              <a:buFont typeface="Arial"/>
              <a:buChar char="•"/>
            </a:pPr>
            <a:r>
              <a:rPr lang="en-US" sz="3000">
                <a:solidFill>
                  <a:srgbClr val="000000"/>
                </a:solidFill>
                <a:latin typeface="Muli"/>
                <a:ea typeface="Muli"/>
                <a:cs typeface="Muli"/>
                <a:sym typeface="Muli"/>
              </a:rPr>
              <a:t>Người dùng có thể bị phụ thuộc quá mức </a:t>
            </a:r>
          </a:p>
          <a:p>
            <a:pPr algn="l" marL="647700" indent="-323850" lvl="1">
              <a:lnSpc>
                <a:spcPts val="3600"/>
              </a:lnSpc>
              <a:buFont typeface="Arial"/>
              <a:buChar char="•"/>
            </a:pPr>
            <a:r>
              <a:rPr lang="en-US" sz="3000">
                <a:solidFill>
                  <a:srgbClr val="000000"/>
                </a:solidFill>
                <a:latin typeface="Muli"/>
                <a:ea typeface="Muli"/>
                <a:cs typeface="Muli"/>
                <a:sym typeface="Muli"/>
              </a:rPr>
              <a:t>Khoảng cách số</a:t>
            </a:r>
          </a:p>
          <a:p>
            <a:pPr algn="l" marL="647700" indent="-323850" lvl="1">
              <a:lnSpc>
                <a:spcPts val="3600"/>
              </a:lnSpc>
              <a:buFont typeface="Arial"/>
              <a:buChar char="•"/>
            </a:pPr>
            <a:r>
              <a:rPr lang="en-US" sz="3000">
                <a:solidFill>
                  <a:srgbClr val="000000"/>
                </a:solidFill>
                <a:latin typeface="Muli"/>
                <a:ea typeface="Muli"/>
                <a:cs typeface="Muli"/>
                <a:sym typeface="Muli"/>
              </a:rPr>
              <a:t>Thiếu sự đồng cảm </a:t>
            </a:r>
          </a:p>
        </p:txBody>
      </p:sp>
      <p:sp>
        <p:nvSpPr>
          <p:cNvPr name="Freeform 10" id="10"/>
          <p:cNvSpPr/>
          <p:nvPr/>
        </p:nvSpPr>
        <p:spPr>
          <a:xfrm flipH="false" flipV="false" rot="0">
            <a:off x="16042307" y="420874"/>
            <a:ext cx="1979426" cy="1979426"/>
          </a:xfrm>
          <a:custGeom>
            <a:avLst/>
            <a:gdLst/>
            <a:ahLst/>
            <a:cxnLst/>
            <a:rect r="r" b="b" t="t" l="l"/>
            <a:pathLst>
              <a:path h="1979426" w="1979426">
                <a:moveTo>
                  <a:pt x="0" y="0"/>
                </a:moveTo>
                <a:lnTo>
                  <a:pt x="1979426" y="0"/>
                </a:lnTo>
                <a:lnTo>
                  <a:pt x="1979426" y="1979426"/>
                </a:lnTo>
                <a:lnTo>
                  <a:pt x="0" y="1979426"/>
                </a:lnTo>
                <a:lnTo>
                  <a:pt x="0" y="0"/>
                </a:lnTo>
                <a:close/>
              </a:path>
            </a:pathLst>
          </a:custGeom>
          <a:blipFill>
            <a:blip r:embed="rId6"/>
            <a:stretch>
              <a:fillRect l="0" t="0" r="0" b="0"/>
            </a:stretch>
          </a:blipFill>
        </p:spPr>
      </p:sp>
    </p:spTree>
  </p:cSld>
  <p:clrMapOvr>
    <a:masterClrMapping/>
  </p:clrMapOvr>
  <p:transition spd="slow">
    <p:push dir="l"/>
  </p:transition>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FFDF7"/>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8879336" y="820322"/>
            <a:ext cx="15128191" cy="11965024"/>
          </a:xfrm>
          <a:custGeom>
            <a:avLst/>
            <a:gdLst/>
            <a:ahLst/>
            <a:cxnLst/>
            <a:rect r="r" b="b" t="t" l="l"/>
            <a:pathLst>
              <a:path h="11965024" w="15128191">
                <a:moveTo>
                  <a:pt x="0" y="0"/>
                </a:moveTo>
                <a:lnTo>
                  <a:pt x="15128191" y="0"/>
                </a:lnTo>
                <a:lnTo>
                  <a:pt x="15128191" y="11965024"/>
                </a:lnTo>
                <a:lnTo>
                  <a:pt x="0" y="1196502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0079232" y="977746"/>
            <a:ext cx="7490165" cy="8331508"/>
            <a:chOff x="687070" y="247650"/>
            <a:chExt cx="11148060" cy="12400280"/>
          </a:xfrm>
        </p:grpSpPr>
        <p:sp>
          <p:nvSpPr>
            <p:cNvPr name="Freeform 4" id="4"/>
            <p:cNvSpPr/>
            <p:nvPr/>
          </p:nvSpPr>
          <p:spPr>
            <a:xfrm flipH="false" flipV="false" rot="0">
              <a:off x="366333" y="5962"/>
              <a:ext cx="10331959" cy="12110687"/>
            </a:xfrm>
            <a:custGeom>
              <a:avLst/>
              <a:gdLst/>
              <a:ahLst/>
              <a:cxnLst/>
              <a:rect r="r" b="b" t="t" l="l"/>
              <a:pathLst>
                <a:path h="12110687" w="10331959">
                  <a:moveTo>
                    <a:pt x="8848787" y="1491368"/>
                  </a:moveTo>
                  <a:cubicBezTo>
                    <a:pt x="8406827" y="966858"/>
                    <a:pt x="7868347" y="502038"/>
                    <a:pt x="7224457" y="246768"/>
                  </a:cubicBezTo>
                  <a:cubicBezTo>
                    <a:pt x="6765987" y="65158"/>
                    <a:pt x="6266877" y="-5962"/>
                    <a:pt x="5772847" y="388"/>
                  </a:cubicBezTo>
                  <a:cubicBezTo>
                    <a:pt x="3687507" y="30868"/>
                    <a:pt x="1791397" y="1485018"/>
                    <a:pt x="922717" y="3340488"/>
                  </a:cubicBezTo>
                  <a:cubicBezTo>
                    <a:pt x="160717" y="4971168"/>
                    <a:pt x="-366333" y="7786758"/>
                    <a:pt x="314387" y="9451728"/>
                  </a:cubicBezTo>
                  <a:cubicBezTo>
                    <a:pt x="993837" y="11116698"/>
                    <a:pt x="2133027" y="11999348"/>
                    <a:pt x="3881817" y="12075548"/>
                  </a:cubicBezTo>
                  <a:cubicBezTo>
                    <a:pt x="6635177" y="12394318"/>
                    <a:pt x="8721787" y="10496938"/>
                    <a:pt x="9751757" y="8303648"/>
                  </a:cubicBezTo>
                  <a:cubicBezTo>
                    <a:pt x="10781728" y="6110358"/>
                    <a:pt x="10415967" y="3355728"/>
                    <a:pt x="8848787" y="1491368"/>
                  </a:cubicBezTo>
                  <a:close/>
                </a:path>
              </a:pathLst>
            </a:custGeom>
            <a:solidFill>
              <a:srgbClr val="000000">
                <a:alpha val="0"/>
              </a:srgbClr>
            </a:solidFill>
            <a:ln w="12700">
              <a:solidFill>
                <a:srgbClr val="000000"/>
              </a:solidFill>
            </a:ln>
          </p:spPr>
        </p:sp>
      </p:grpSp>
      <p:sp>
        <p:nvSpPr>
          <p:cNvPr name="TextBox 5" id="5"/>
          <p:cNvSpPr txBox="true"/>
          <p:nvPr/>
        </p:nvSpPr>
        <p:spPr>
          <a:xfrm rot="0">
            <a:off x="1028700" y="939646"/>
            <a:ext cx="8626246" cy="1356360"/>
          </a:xfrm>
          <a:prstGeom prst="rect">
            <a:avLst/>
          </a:prstGeom>
        </p:spPr>
        <p:txBody>
          <a:bodyPr anchor="t" rtlCol="false" tIns="0" lIns="0" bIns="0" rIns="0">
            <a:spAutoFit/>
          </a:bodyPr>
          <a:lstStyle/>
          <a:p>
            <a:pPr algn="l">
              <a:lnSpc>
                <a:spcPts val="5460"/>
              </a:lnSpc>
            </a:pPr>
            <a:r>
              <a:rPr lang="en-US" sz="4200" b="true">
                <a:solidFill>
                  <a:srgbClr val="004AAD"/>
                </a:solidFill>
                <a:latin typeface="Muli Bold"/>
                <a:ea typeface="Muli Bold"/>
                <a:cs typeface="Muli Bold"/>
                <a:sym typeface="Muli Bold"/>
              </a:rPr>
              <a:t>5.	Thực trạng và tiểm năng ứng dụng tới Việt Nam</a:t>
            </a:r>
          </a:p>
        </p:txBody>
      </p:sp>
      <p:sp>
        <p:nvSpPr>
          <p:cNvPr name="TextBox 6" id="6"/>
          <p:cNvSpPr txBox="true"/>
          <p:nvPr/>
        </p:nvSpPr>
        <p:spPr>
          <a:xfrm rot="0">
            <a:off x="1028700" y="2551460"/>
            <a:ext cx="8290612" cy="1828800"/>
          </a:xfrm>
          <a:prstGeom prst="rect">
            <a:avLst/>
          </a:prstGeom>
        </p:spPr>
        <p:txBody>
          <a:bodyPr anchor="t" rtlCol="false" tIns="0" lIns="0" bIns="0" rIns="0">
            <a:spAutoFit/>
          </a:bodyPr>
          <a:lstStyle/>
          <a:p>
            <a:pPr algn="l">
              <a:lnSpc>
                <a:spcPts val="3600"/>
              </a:lnSpc>
            </a:pPr>
            <a:r>
              <a:rPr lang="en-US" sz="3000">
                <a:solidFill>
                  <a:srgbClr val="000000"/>
                </a:solidFill>
                <a:latin typeface="Muli"/>
                <a:ea typeface="Muli"/>
                <a:cs typeface="Muli"/>
                <a:sym typeface="Muli"/>
              </a:rPr>
              <a:t>Tiềm năng của trợ lý y tế ảo trong lĩnh vực chăm sóc sức khỏe trở nên rõ ràng khi xem xét những con số và xu hướng đang diễn ra trong ngành.</a:t>
            </a:r>
          </a:p>
        </p:txBody>
      </p:sp>
      <p:sp>
        <p:nvSpPr>
          <p:cNvPr name="TextBox 7" id="7"/>
          <p:cNvSpPr txBox="true"/>
          <p:nvPr/>
        </p:nvSpPr>
        <p:spPr>
          <a:xfrm rot="0">
            <a:off x="1028700" y="4637435"/>
            <a:ext cx="8290612" cy="3657600"/>
          </a:xfrm>
          <a:prstGeom prst="rect">
            <a:avLst/>
          </a:prstGeom>
        </p:spPr>
        <p:txBody>
          <a:bodyPr anchor="t" rtlCol="false" tIns="0" lIns="0" bIns="0" rIns="0">
            <a:spAutoFit/>
          </a:bodyPr>
          <a:lstStyle/>
          <a:p>
            <a:pPr algn="l">
              <a:lnSpc>
                <a:spcPts val="3600"/>
              </a:lnSpc>
            </a:pPr>
            <a:r>
              <a:rPr lang="en-US" sz="3000">
                <a:solidFill>
                  <a:srgbClr val="000000"/>
                </a:solidFill>
                <a:latin typeface="Muli"/>
                <a:ea typeface="Muli"/>
                <a:cs typeface="Muli"/>
                <a:sym typeface="Muli"/>
              </a:rPr>
              <a:t>5.1. Chính sách và định hướng chuyển đổi số</a:t>
            </a:r>
          </a:p>
          <a:p>
            <a:pPr algn="l" marL="647700" indent="-323850" lvl="1">
              <a:lnSpc>
                <a:spcPts val="3600"/>
              </a:lnSpc>
              <a:buFont typeface="Arial"/>
              <a:buChar char="•"/>
            </a:pPr>
            <a:r>
              <a:rPr lang="en-US" sz="3000">
                <a:solidFill>
                  <a:srgbClr val="000000"/>
                </a:solidFill>
                <a:latin typeface="Muli"/>
                <a:ea typeface="Muli"/>
                <a:cs typeface="Muli"/>
                <a:sym typeface="Muli"/>
              </a:rPr>
              <a:t>Đề án Chuyển đổi số quốc gia đến 2025, định hướng 2030, nhấn mạnh phát triển chính phủ số và y tế thông minh.</a:t>
            </a:r>
          </a:p>
          <a:p>
            <a:pPr algn="l" marL="647700" indent="-323850" lvl="1">
              <a:lnSpc>
                <a:spcPts val="3600"/>
              </a:lnSpc>
              <a:buFont typeface="Arial"/>
              <a:buChar char="•"/>
            </a:pPr>
            <a:r>
              <a:rPr lang="en-US" sz="3000">
                <a:solidFill>
                  <a:srgbClr val="000000"/>
                </a:solidFill>
                <a:latin typeface="Muli"/>
                <a:ea typeface="Muli"/>
                <a:cs typeface="Muli"/>
                <a:sym typeface="Muli"/>
              </a:rPr>
              <a:t> Bộ Y tế thúc đẩy Telehealth, mở rộng khám chữa bệnh từ xa, nơi chatbot đóng vai trò hỗ trợ sàng lọc và hướng dẫn bệnh nhân.</a:t>
            </a:r>
          </a:p>
          <a:p>
            <a:pPr algn="l" marL="647700" indent="-323850" lvl="1">
              <a:lnSpc>
                <a:spcPts val="3600"/>
              </a:lnSpc>
              <a:buFont typeface="Arial"/>
              <a:buChar char="•"/>
            </a:pPr>
            <a:r>
              <a:rPr lang="en-US" sz="3000">
                <a:solidFill>
                  <a:srgbClr val="000000"/>
                </a:solidFill>
                <a:latin typeface="Muli"/>
                <a:ea typeface="Muli"/>
                <a:cs typeface="Muli"/>
                <a:sym typeface="Muli"/>
              </a:rPr>
              <a:t>........</a:t>
            </a:r>
          </a:p>
        </p:txBody>
      </p:sp>
      <p:sp>
        <p:nvSpPr>
          <p:cNvPr name="Freeform 8" id="8"/>
          <p:cNvSpPr/>
          <p:nvPr/>
        </p:nvSpPr>
        <p:spPr>
          <a:xfrm flipH="false" flipV="false" rot="0">
            <a:off x="11849833" y="3315421"/>
            <a:ext cx="3863814" cy="4722440"/>
          </a:xfrm>
          <a:custGeom>
            <a:avLst/>
            <a:gdLst/>
            <a:ahLst/>
            <a:cxnLst/>
            <a:rect r="r" b="b" t="t" l="l"/>
            <a:pathLst>
              <a:path h="4722440" w="3863814">
                <a:moveTo>
                  <a:pt x="0" y="0"/>
                </a:moveTo>
                <a:lnTo>
                  <a:pt x="3863815" y="0"/>
                </a:lnTo>
                <a:lnTo>
                  <a:pt x="3863815" y="4722439"/>
                </a:lnTo>
                <a:lnTo>
                  <a:pt x="0" y="472243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0">
            <a:off x="16365564" y="67482"/>
            <a:ext cx="1922436" cy="1922436"/>
          </a:xfrm>
          <a:custGeom>
            <a:avLst/>
            <a:gdLst/>
            <a:ahLst/>
            <a:cxnLst/>
            <a:rect r="r" b="b" t="t" l="l"/>
            <a:pathLst>
              <a:path h="1922436" w="1922436">
                <a:moveTo>
                  <a:pt x="0" y="0"/>
                </a:moveTo>
                <a:lnTo>
                  <a:pt x="1922436" y="0"/>
                </a:lnTo>
                <a:lnTo>
                  <a:pt x="1922436" y="1922436"/>
                </a:lnTo>
                <a:lnTo>
                  <a:pt x="0" y="1922436"/>
                </a:lnTo>
                <a:lnTo>
                  <a:pt x="0" y="0"/>
                </a:lnTo>
                <a:close/>
              </a:path>
            </a:pathLst>
          </a:custGeom>
          <a:blipFill>
            <a:blip r:embed="rId6"/>
            <a:stretch>
              <a:fillRect l="0" t="0" r="0" b="0"/>
            </a:stretch>
          </a:blipFill>
        </p:spPr>
      </p:sp>
    </p:spTree>
  </p:cSld>
  <p:clrMapOvr>
    <a:masterClrMapping/>
  </p:clrMapOvr>
  <p:transition spd="fast">
    <p:cover dir="d"/>
  </p:transition>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FFDF7"/>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8879336" y="820322"/>
            <a:ext cx="15128191" cy="11965024"/>
          </a:xfrm>
          <a:custGeom>
            <a:avLst/>
            <a:gdLst/>
            <a:ahLst/>
            <a:cxnLst/>
            <a:rect r="r" b="b" t="t" l="l"/>
            <a:pathLst>
              <a:path h="11965024" w="15128191">
                <a:moveTo>
                  <a:pt x="0" y="0"/>
                </a:moveTo>
                <a:lnTo>
                  <a:pt x="15128191" y="0"/>
                </a:lnTo>
                <a:lnTo>
                  <a:pt x="15128191" y="11965024"/>
                </a:lnTo>
                <a:lnTo>
                  <a:pt x="0" y="1196502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0079232" y="977746"/>
            <a:ext cx="7490165" cy="8331508"/>
            <a:chOff x="687070" y="247650"/>
            <a:chExt cx="11148060" cy="12400280"/>
          </a:xfrm>
        </p:grpSpPr>
        <p:sp>
          <p:nvSpPr>
            <p:cNvPr name="Freeform 4" id="4"/>
            <p:cNvSpPr/>
            <p:nvPr/>
          </p:nvSpPr>
          <p:spPr>
            <a:xfrm flipH="false" flipV="false" rot="0">
              <a:off x="366333" y="5962"/>
              <a:ext cx="10331959" cy="12110687"/>
            </a:xfrm>
            <a:custGeom>
              <a:avLst/>
              <a:gdLst/>
              <a:ahLst/>
              <a:cxnLst/>
              <a:rect r="r" b="b" t="t" l="l"/>
              <a:pathLst>
                <a:path h="12110687" w="10331959">
                  <a:moveTo>
                    <a:pt x="8848787" y="1491368"/>
                  </a:moveTo>
                  <a:cubicBezTo>
                    <a:pt x="8406827" y="966858"/>
                    <a:pt x="7868347" y="502038"/>
                    <a:pt x="7224457" y="246768"/>
                  </a:cubicBezTo>
                  <a:cubicBezTo>
                    <a:pt x="6765987" y="65158"/>
                    <a:pt x="6266877" y="-5962"/>
                    <a:pt x="5772847" y="388"/>
                  </a:cubicBezTo>
                  <a:cubicBezTo>
                    <a:pt x="3687507" y="30868"/>
                    <a:pt x="1791397" y="1485018"/>
                    <a:pt x="922717" y="3340488"/>
                  </a:cubicBezTo>
                  <a:cubicBezTo>
                    <a:pt x="160717" y="4971168"/>
                    <a:pt x="-366333" y="7786758"/>
                    <a:pt x="314387" y="9451728"/>
                  </a:cubicBezTo>
                  <a:cubicBezTo>
                    <a:pt x="993837" y="11116698"/>
                    <a:pt x="2133027" y="11999348"/>
                    <a:pt x="3881817" y="12075548"/>
                  </a:cubicBezTo>
                  <a:cubicBezTo>
                    <a:pt x="6635177" y="12394318"/>
                    <a:pt x="8721787" y="10496938"/>
                    <a:pt x="9751757" y="8303648"/>
                  </a:cubicBezTo>
                  <a:cubicBezTo>
                    <a:pt x="10781728" y="6110358"/>
                    <a:pt x="10415967" y="3355728"/>
                    <a:pt x="8848787" y="1491368"/>
                  </a:cubicBezTo>
                  <a:close/>
                </a:path>
              </a:pathLst>
            </a:custGeom>
            <a:solidFill>
              <a:srgbClr val="000000">
                <a:alpha val="0"/>
              </a:srgbClr>
            </a:solidFill>
            <a:ln w="12700">
              <a:solidFill>
                <a:srgbClr val="000000"/>
              </a:solidFill>
            </a:ln>
          </p:spPr>
        </p:sp>
      </p:grpSp>
      <p:sp>
        <p:nvSpPr>
          <p:cNvPr name="TextBox 5" id="5"/>
          <p:cNvSpPr txBox="true"/>
          <p:nvPr/>
        </p:nvSpPr>
        <p:spPr>
          <a:xfrm rot="0">
            <a:off x="1028700" y="939646"/>
            <a:ext cx="8626246" cy="1356360"/>
          </a:xfrm>
          <a:prstGeom prst="rect">
            <a:avLst/>
          </a:prstGeom>
        </p:spPr>
        <p:txBody>
          <a:bodyPr anchor="t" rtlCol="false" tIns="0" lIns="0" bIns="0" rIns="0">
            <a:spAutoFit/>
          </a:bodyPr>
          <a:lstStyle/>
          <a:p>
            <a:pPr algn="l">
              <a:lnSpc>
                <a:spcPts val="5460"/>
              </a:lnSpc>
            </a:pPr>
            <a:r>
              <a:rPr lang="en-US" sz="4200" b="true">
                <a:solidFill>
                  <a:srgbClr val="004AAD"/>
                </a:solidFill>
                <a:latin typeface="Muli Bold"/>
                <a:ea typeface="Muli Bold"/>
                <a:cs typeface="Muli Bold"/>
                <a:sym typeface="Muli Bold"/>
              </a:rPr>
              <a:t>5.	Thực trạng và tiểm năng ứng dụng tới Việt Nam</a:t>
            </a:r>
          </a:p>
        </p:txBody>
      </p:sp>
      <p:sp>
        <p:nvSpPr>
          <p:cNvPr name="TextBox 6" id="6"/>
          <p:cNvSpPr txBox="true"/>
          <p:nvPr/>
        </p:nvSpPr>
        <p:spPr>
          <a:xfrm rot="0">
            <a:off x="1028700" y="2500423"/>
            <a:ext cx="8290612" cy="2743200"/>
          </a:xfrm>
          <a:prstGeom prst="rect">
            <a:avLst/>
          </a:prstGeom>
        </p:spPr>
        <p:txBody>
          <a:bodyPr anchor="t" rtlCol="false" tIns="0" lIns="0" bIns="0" rIns="0">
            <a:spAutoFit/>
          </a:bodyPr>
          <a:lstStyle/>
          <a:p>
            <a:pPr algn="l">
              <a:lnSpc>
                <a:spcPts val="3600"/>
              </a:lnSpc>
            </a:pPr>
            <a:r>
              <a:rPr lang="en-US" sz="3000">
                <a:solidFill>
                  <a:srgbClr val="000000"/>
                </a:solidFill>
                <a:latin typeface="Muli"/>
                <a:ea typeface="Muli"/>
                <a:cs typeface="Muli"/>
                <a:sym typeface="Muli"/>
              </a:rPr>
              <a:t>5.2. Một số mô hình chatbot y tế đơn giản </a:t>
            </a:r>
          </a:p>
          <a:p>
            <a:pPr algn="l" marL="647700" indent="-323850" lvl="1">
              <a:lnSpc>
                <a:spcPts val="3600"/>
              </a:lnSpc>
              <a:buFont typeface="Arial"/>
              <a:buChar char="•"/>
            </a:pPr>
            <a:r>
              <a:rPr lang="en-US" sz="3000">
                <a:solidFill>
                  <a:srgbClr val="000000"/>
                </a:solidFill>
                <a:latin typeface="Muli"/>
                <a:ea typeface="Muli"/>
                <a:cs typeface="Muli"/>
                <a:sym typeface="Muli"/>
              </a:rPr>
              <a:t>Chatbot tư vấn COVID-19 (2020-2022)</a:t>
            </a:r>
          </a:p>
          <a:p>
            <a:pPr algn="l" marL="647700" indent="-323850" lvl="1">
              <a:lnSpc>
                <a:spcPts val="3600"/>
              </a:lnSpc>
              <a:buFont typeface="Arial"/>
              <a:buChar char="•"/>
            </a:pPr>
            <a:r>
              <a:rPr lang="en-US" sz="3000">
                <a:solidFill>
                  <a:srgbClr val="000000"/>
                </a:solidFill>
                <a:latin typeface="Muli"/>
                <a:ea typeface="Muli"/>
                <a:cs typeface="Muli"/>
                <a:sym typeface="Muli"/>
              </a:rPr>
              <a:t>Chatbot đặt lịch và chăm sóc khách hàng bệnh viện </a:t>
            </a:r>
          </a:p>
          <a:p>
            <a:pPr algn="l" marL="647700" indent="-323850" lvl="1">
              <a:lnSpc>
                <a:spcPts val="3600"/>
              </a:lnSpc>
              <a:buFont typeface="Arial"/>
              <a:buChar char="•"/>
            </a:pPr>
            <a:r>
              <a:rPr lang="en-US" sz="3000">
                <a:solidFill>
                  <a:srgbClr val="000000"/>
                </a:solidFill>
                <a:latin typeface="Muli"/>
                <a:ea typeface="Muli"/>
                <a:cs typeface="Muli"/>
                <a:sym typeface="Muli"/>
              </a:rPr>
              <a:t>Chatbot sức khỏe trong ứng dụng di động </a:t>
            </a:r>
          </a:p>
          <a:p>
            <a:pPr algn="l" marL="647700" indent="-323850" lvl="1">
              <a:lnSpc>
                <a:spcPts val="3600"/>
              </a:lnSpc>
              <a:buFont typeface="Arial"/>
              <a:buChar char="•"/>
            </a:pPr>
            <a:r>
              <a:rPr lang="en-US" sz="3000">
                <a:solidFill>
                  <a:srgbClr val="000000"/>
                </a:solidFill>
                <a:latin typeface="Muli"/>
                <a:ea typeface="Muli"/>
                <a:cs typeface="Muli"/>
                <a:sym typeface="Muli"/>
              </a:rPr>
              <a:t>Chatbot chăm sóc sau điều trị </a:t>
            </a:r>
          </a:p>
        </p:txBody>
      </p:sp>
      <p:sp>
        <p:nvSpPr>
          <p:cNvPr name="TextBox 7" id="7"/>
          <p:cNvSpPr txBox="true"/>
          <p:nvPr/>
        </p:nvSpPr>
        <p:spPr>
          <a:xfrm rot="0">
            <a:off x="1028700" y="5448040"/>
            <a:ext cx="8290612" cy="5105400"/>
          </a:xfrm>
          <a:prstGeom prst="rect">
            <a:avLst/>
          </a:prstGeom>
        </p:spPr>
        <p:txBody>
          <a:bodyPr anchor="t" rtlCol="false" tIns="0" lIns="0" bIns="0" rIns="0">
            <a:spAutoFit/>
          </a:bodyPr>
          <a:lstStyle/>
          <a:p>
            <a:pPr algn="l">
              <a:lnSpc>
                <a:spcPts val="3600"/>
              </a:lnSpc>
            </a:pPr>
            <a:r>
              <a:rPr lang="en-US" sz="3000">
                <a:solidFill>
                  <a:srgbClr val="000000"/>
                </a:solidFill>
                <a:latin typeface="Muli"/>
                <a:ea typeface="Muli"/>
                <a:cs typeface="Muli"/>
                <a:sym typeface="Muli"/>
              </a:rPr>
              <a:t>5.3. Tiềm năng phát triển </a:t>
            </a:r>
          </a:p>
          <a:p>
            <a:pPr algn="l">
              <a:lnSpc>
                <a:spcPts val="4200"/>
              </a:lnSpc>
            </a:pPr>
            <a:r>
              <a:rPr lang="en-US" sz="3000">
                <a:solidFill>
                  <a:srgbClr val="000000"/>
                </a:solidFill>
                <a:latin typeface="Arimo"/>
                <a:ea typeface="Arimo"/>
                <a:cs typeface="Arimo"/>
                <a:sym typeface="Arimo"/>
              </a:rPr>
              <a:t> Để ngành y tế và chăm sóc sức khỏe Việt Nam có thể phát triển vượt bậc và sánh ngang với các nền y tế hiện đại trên thế giới, việc ứng dụng công nghệ cao vào mọi bước thực hiện là điều không thể tránh khỏi.Bởi vì hiện nay, công nghệ đã trở thành một phần tất yếu trong cuộc sống.</a:t>
            </a:r>
          </a:p>
          <a:p>
            <a:pPr algn="l">
              <a:lnSpc>
                <a:spcPts val="3600"/>
              </a:lnSpc>
            </a:pPr>
          </a:p>
          <a:p>
            <a:pPr algn="l">
              <a:lnSpc>
                <a:spcPts val="3600"/>
              </a:lnSpc>
            </a:pPr>
          </a:p>
        </p:txBody>
      </p:sp>
      <p:sp>
        <p:nvSpPr>
          <p:cNvPr name="Freeform 8" id="8"/>
          <p:cNvSpPr/>
          <p:nvPr/>
        </p:nvSpPr>
        <p:spPr>
          <a:xfrm flipH="false" flipV="false" rot="0">
            <a:off x="11849833" y="3315421"/>
            <a:ext cx="3863814" cy="4722440"/>
          </a:xfrm>
          <a:custGeom>
            <a:avLst/>
            <a:gdLst/>
            <a:ahLst/>
            <a:cxnLst/>
            <a:rect r="r" b="b" t="t" l="l"/>
            <a:pathLst>
              <a:path h="4722440" w="3863814">
                <a:moveTo>
                  <a:pt x="0" y="0"/>
                </a:moveTo>
                <a:lnTo>
                  <a:pt x="3863815" y="0"/>
                </a:lnTo>
                <a:lnTo>
                  <a:pt x="3863815" y="4722439"/>
                </a:lnTo>
                <a:lnTo>
                  <a:pt x="0" y="472243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0">
            <a:off x="16353616" y="0"/>
            <a:ext cx="1934384" cy="1934384"/>
          </a:xfrm>
          <a:custGeom>
            <a:avLst/>
            <a:gdLst/>
            <a:ahLst/>
            <a:cxnLst/>
            <a:rect r="r" b="b" t="t" l="l"/>
            <a:pathLst>
              <a:path h="1934384" w="1934384">
                <a:moveTo>
                  <a:pt x="0" y="0"/>
                </a:moveTo>
                <a:lnTo>
                  <a:pt x="1934384" y="0"/>
                </a:lnTo>
                <a:lnTo>
                  <a:pt x="1934384" y="1934384"/>
                </a:lnTo>
                <a:lnTo>
                  <a:pt x="0" y="1934384"/>
                </a:lnTo>
                <a:lnTo>
                  <a:pt x="0" y="0"/>
                </a:lnTo>
                <a:close/>
              </a:path>
            </a:pathLst>
          </a:custGeom>
          <a:blipFill>
            <a:blip r:embed="rId6"/>
            <a:stretch>
              <a:fillRect l="0" t="0" r="0" b="0"/>
            </a:stretch>
          </a:blipFill>
        </p:spPr>
      </p:sp>
    </p:spTree>
  </p:cSld>
  <p:clrMapOvr>
    <a:masterClrMapping/>
  </p:clrMapOvr>
  <p:transition spd="slow">
    <p:cover dir="l"/>
  </p:transition>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FFDF7"/>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8879336" y="820322"/>
            <a:ext cx="15128191" cy="11965024"/>
          </a:xfrm>
          <a:custGeom>
            <a:avLst/>
            <a:gdLst/>
            <a:ahLst/>
            <a:cxnLst/>
            <a:rect r="r" b="b" t="t" l="l"/>
            <a:pathLst>
              <a:path h="11965024" w="15128191">
                <a:moveTo>
                  <a:pt x="0" y="0"/>
                </a:moveTo>
                <a:lnTo>
                  <a:pt x="15128191" y="0"/>
                </a:lnTo>
                <a:lnTo>
                  <a:pt x="15128191" y="11965024"/>
                </a:lnTo>
                <a:lnTo>
                  <a:pt x="0" y="1196502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0079232" y="977746"/>
            <a:ext cx="7490165" cy="8331508"/>
            <a:chOff x="687070" y="247650"/>
            <a:chExt cx="11148060" cy="12400280"/>
          </a:xfrm>
        </p:grpSpPr>
        <p:sp>
          <p:nvSpPr>
            <p:cNvPr name="Freeform 4" id="4"/>
            <p:cNvSpPr/>
            <p:nvPr/>
          </p:nvSpPr>
          <p:spPr>
            <a:xfrm flipH="false" flipV="false" rot="0">
              <a:off x="366333" y="5962"/>
              <a:ext cx="10331959" cy="12110687"/>
            </a:xfrm>
            <a:custGeom>
              <a:avLst/>
              <a:gdLst/>
              <a:ahLst/>
              <a:cxnLst/>
              <a:rect r="r" b="b" t="t" l="l"/>
              <a:pathLst>
                <a:path h="12110687" w="10331959">
                  <a:moveTo>
                    <a:pt x="8848787" y="1491368"/>
                  </a:moveTo>
                  <a:cubicBezTo>
                    <a:pt x="8406827" y="966858"/>
                    <a:pt x="7868347" y="502038"/>
                    <a:pt x="7224457" y="246768"/>
                  </a:cubicBezTo>
                  <a:cubicBezTo>
                    <a:pt x="6765987" y="65158"/>
                    <a:pt x="6266877" y="-5962"/>
                    <a:pt x="5772847" y="388"/>
                  </a:cubicBezTo>
                  <a:cubicBezTo>
                    <a:pt x="3687507" y="30868"/>
                    <a:pt x="1791397" y="1485018"/>
                    <a:pt x="922717" y="3340488"/>
                  </a:cubicBezTo>
                  <a:cubicBezTo>
                    <a:pt x="160717" y="4971168"/>
                    <a:pt x="-366333" y="7786758"/>
                    <a:pt x="314387" y="9451728"/>
                  </a:cubicBezTo>
                  <a:cubicBezTo>
                    <a:pt x="993837" y="11116698"/>
                    <a:pt x="2133027" y="11999348"/>
                    <a:pt x="3881817" y="12075548"/>
                  </a:cubicBezTo>
                  <a:cubicBezTo>
                    <a:pt x="6635177" y="12394318"/>
                    <a:pt x="8721787" y="10496938"/>
                    <a:pt x="9751757" y="8303648"/>
                  </a:cubicBezTo>
                  <a:cubicBezTo>
                    <a:pt x="10781728" y="6110358"/>
                    <a:pt x="10415967" y="3355728"/>
                    <a:pt x="8848787" y="1491368"/>
                  </a:cubicBezTo>
                  <a:close/>
                </a:path>
              </a:pathLst>
            </a:custGeom>
            <a:solidFill>
              <a:srgbClr val="000000">
                <a:alpha val="0"/>
              </a:srgbClr>
            </a:solidFill>
            <a:ln w="12700">
              <a:solidFill>
                <a:srgbClr val="000000"/>
              </a:solidFill>
            </a:ln>
          </p:spPr>
        </p:sp>
      </p:grpSp>
      <p:sp>
        <p:nvSpPr>
          <p:cNvPr name="TextBox 5" id="5"/>
          <p:cNvSpPr txBox="true"/>
          <p:nvPr/>
        </p:nvSpPr>
        <p:spPr>
          <a:xfrm rot="0">
            <a:off x="1028700" y="939646"/>
            <a:ext cx="8626246" cy="1356360"/>
          </a:xfrm>
          <a:prstGeom prst="rect">
            <a:avLst/>
          </a:prstGeom>
        </p:spPr>
        <p:txBody>
          <a:bodyPr anchor="t" rtlCol="false" tIns="0" lIns="0" bIns="0" rIns="0">
            <a:spAutoFit/>
          </a:bodyPr>
          <a:lstStyle/>
          <a:p>
            <a:pPr algn="l">
              <a:lnSpc>
                <a:spcPts val="5460"/>
              </a:lnSpc>
            </a:pPr>
            <a:r>
              <a:rPr lang="en-US" sz="4200">
                <a:gradFill>
                  <a:gsLst>
                    <a:gs pos="0">
                      <a:srgbClr val="004AAD">
                        <a:alpha val="100000"/>
                      </a:srgbClr>
                    </a:gs>
                    <a:gs pos="100000">
                      <a:srgbClr val="CB6CE6">
                        <a:alpha val="100000"/>
                      </a:srgbClr>
                    </a:gs>
                  </a:gsLst>
                  <a:lin ang="0"/>
                </a:gradFill>
                <a:latin typeface="Muli"/>
                <a:ea typeface="Muli"/>
                <a:cs typeface="Muli"/>
                <a:sym typeface="Muli"/>
              </a:rPr>
              <a:t>6. Giải pháp và định hướng phát triển trong tương lai </a:t>
            </a:r>
          </a:p>
        </p:txBody>
      </p:sp>
      <p:sp>
        <p:nvSpPr>
          <p:cNvPr name="TextBox 6" id="6"/>
          <p:cNvSpPr txBox="true"/>
          <p:nvPr/>
        </p:nvSpPr>
        <p:spPr>
          <a:xfrm rot="0">
            <a:off x="1028700" y="2530029"/>
            <a:ext cx="8290612" cy="3200400"/>
          </a:xfrm>
          <a:prstGeom prst="rect">
            <a:avLst/>
          </a:prstGeom>
        </p:spPr>
        <p:txBody>
          <a:bodyPr anchor="t" rtlCol="false" tIns="0" lIns="0" bIns="0" rIns="0">
            <a:spAutoFit/>
          </a:bodyPr>
          <a:lstStyle/>
          <a:p>
            <a:pPr algn="l">
              <a:lnSpc>
                <a:spcPts val="3600"/>
              </a:lnSpc>
            </a:pPr>
            <a:r>
              <a:rPr lang="en-US" sz="3000">
                <a:solidFill>
                  <a:srgbClr val="000000"/>
                </a:solidFill>
                <a:latin typeface="Muli"/>
                <a:ea typeface="Muli"/>
                <a:cs typeface="Muli"/>
                <a:sym typeface="Muli"/>
              </a:rPr>
              <a:t>6.1. Giải pháp công nghệ </a:t>
            </a:r>
          </a:p>
          <a:p>
            <a:pPr algn="l" marL="647700" indent="-323850" lvl="1">
              <a:lnSpc>
                <a:spcPts val="3600"/>
              </a:lnSpc>
              <a:buFont typeface="Arial"/>
              <a:buChar char="•"/>
            </a:pPr>
            <a:r>
              <a:rPr lang="en-US" sz="3000">
                <a:solidFill>
                  <a:srgbClr val="000000"/>
                </a:solidFill>
                <a:latin typeface="Muli"/>
                <a:ea typeface="Muli"/>
                <a:cs typeface="Muli"/>
                <a:sym typeface="Muli"/>
              </a:rPr>
              <a:t> Chuẩn hóa và tích hợp dữ liệu (Data standardization &amp; interoperability)</a:t>
            </a:r>
          </a:p>
          <a:p>
            <a:pPr algn="l" marL="647700" indent="-323850" lvl="1">
              <a:lnSpc>
                <a:spcPts val="3600"/>
              </a:lnSpc>
              <a:buFont typeface="Arial"/>
              <a:buChar char="•"/>
            </a:pPr>
            <a:r>
              <a:rPr lang="en-US" sz="3000">
                <a:solidFill>
                  <a:srgbClr val="000000"/>
                </a:solidFill>
                <a:latin typeface="Muli"/>
                <a:ea typeface="Muli"/>
                <a:cs typeface="Muli"/>
                <a:sym typeface="Muli"/>
              </a:rPr>
              <a:t> Tăng cường an ninh mạng và bảo mật dữ liệu</a:t>
            </a:r>
          </a:p>
          <a:p>
            <a:pPr algn="l" marL="647700" indent="-323850" lvl="1">
              <a:lnSpc>
                <a:spcPts val="3600"/>
              </a:lnSpc>
              <a:buFont typeface="Arial"/>
              <a:buChar char="•"/>
            </a:pPr>
            <a:r>
              <a:rPr lang="en-US" sz="3000">
                <a:solidFill>
                  <a:srgbClr val="000000"/>
                </a:solidFill>
                <a:latin typeface="Muli"/>
                <a:ea typeface="Muli"/>
                <a:cs typeface="Muli"/>
                <a:sym typeface="Muli"/>
              </a:rPr>
              <a:t> Nâng cao năng lực AI và NLP tiếng Việt</a:t>
            </a:r>
          </a:p>
          <a:p>
            <a:pPr algn="l" marL="647700" indent="-323850" lvl="1">
              <a:lnSpc>
                <a:spcPts val="3600"/>
              </a:lnSpc>
              <a:buFont typeface="Arial"/>
              <a:buChar char="•"/>
            </a:pPr>
            <a:r>
              <a:rPr lang="en-US" sz="3000">
                <a:solidFill>
                  <a:srgbClr val="000000"/>
                </a:solidFill>
                <a:latin typeface="Muli"/>
                <a:ea typeface="Muli"/>
                <a:cs typeface="Muli"/>
                <a:sym typeface="Muli"/>
              </a:rPr>
              <a:t> Cải thiện trải nghiệm người dùng (UX/UI)</a:t>
            </a:r>
          </a:p>
        </p:txBody>
      </p:sp>
      <p:sp>
        <p:nvSpPr>
          <p:cNvPr name="TextBox 7" id="7"/>
          <p:cNvSpPr txBox="true"/>
          <p:nvPr/>
        </p:nvSpPr>
        <p:spPr>
          <a:xfrm rot="0">
            <a:off x="1028700" y="5964451"/>
            <a:ext cx="8290612" cy="1828800"/>
          </a:xfrm>
          <a:prstGeom prst="rect">
            <a:avLst/>
          </a:prstGeom>
        </p:spPr>
        <p:txBody>
          <a:bodyPr anchor="t" rtlCol="false" tIns="0" lIns="0" bIns="0" rIns="0">
            <a:spAutoFit/>
          </a:bodyPr>
          <a:lstStyle/>
          <a:p>
            <a:pPr algn="l">
              <a:lnSpc>
                <a:spcPts val="3600"/>
              </a:lnSpc>
            </a:pPr>
            <a:r>
              <a:rPr lang="en-US" sz="3000">
                <a:solidFill>
                  <a:srgbClr val="000000"/>
                </a:solidFill>
                <a:latin typeface="Muli"/>
                <a:ea typeface="Muli"/>
                <a:cs typeface="Muli"/>
                <a:sym typeface="Muli"/>
              </a:rPr>
              <a:t>6.2. Giải pháp pháp lý và quản lý </a:t>
            </a:r>
          </a:p>
          <a:p>
            <a:pPr algn="l" marL="647700" indent="-323850" lvl="1">
              <a:lnSpc>
                <a:spcPts val="3600"/>
              </a:lnSpc>
              <a:buFont typeface="Arial"/>
              <a:buChar char="•"/>
            </a:pPr>
            <a:r>
              <a:rPr lang="en-US" sz="3000">
                <a:solidFill>
                  <a:srgbClr val="000000"/>
                </a:solidFill>
                <a:latin typeface="Muli"/>
                <a:ea typeface="Muli"/>
                <a:cs typeface="Muli"/>
                <a:sym typeface="Muli"/>
              </a:rPr>
              <a:t> Bảo vệ dữ liệu cá nhân và quyền riêng tư</a:t>
            </a:r>
          </a:p>
          <a:p>
            <a:pPr algn="l" marL="647700" indent="-323850" lvl="1">
              <a:lnSpc>
                <a:spcPts val="3600"/>
              </a:lnSpc>
              <a:buFont typeface="Arial"/>
              <a:buChar char="•"/>
            </a:pPr>
            <a:r>
              <a:rPr lang="en-US" sz="3000">
                <a:solidFill>
                  <a:srgbClr val="000000"/>
                </a:solidFill>
                <a:latin typeface="Muli"/>
                <a:ea typeface="Muli"/>
                <a:cs typeface="Muli"/>
                <a:sym typeface="Muli"/>
              </a:rPr>
              <a:t> Cơ chế kiểm định và chứng nhận an toàn</a:t>
            </a:r>
          </a:p>
          <a:p>
            <a:pPr algn="l" marL="647700" indent="-323850" lvl="1">
              <a:lnSpc>
                <a:spcPts val="3600"/>
              </a:lnSpc>
              <a:buFont typeface="Arial"/>
              <a:buChar char="•"/>
            </a:pPr>
            <a:r>
              <a:rPr lang="en-US" sz="3000">
                <a:solidFill>
                  <a:srgbClr val="000000"/>
                </a:solidFill>
                <a:latin typeface="Muli"/>
                <a:ea typeface="Muli"/>
                <a:cs typeface="Muli"/>
                <a:sym typeface="Muli"/>
              </a:rPr>
              <a:t> Tăng cường giám sát và quản lý vận hành</a:t>
            </a:r>
          </a:p>
        </p:txBody>
      </p:sp>
      <p:sp>
        <p:nvSpPr>
          <p:cNvPr name="Freeform 8" id="8"/>
          <p:cNvSpPr/>
          <p:nvPr/>
        </p:nvSpPr>
        <p:spPr>
          <a:xfrm flipH="false" flipV="false" rot="0">
            <a:off x="11973320" y="3333510"/>
            <a:ext cx="3079295" cy="4223472"/>
          </a:xfrm>
          <a:custGeom>
            <a:avLst/>
            <a:gdLst/>
            <a:ahLst/>
            <a:cxnLst/>
            <a:rect r="r" b="b" t="t" l="l"/>
            <a:pathLst>
              <a:path h="4223472" w="3079295">
                <a:moveTo>
                  <a:pt x="0" y="0"/>
                </a:moveTo>
                <a:lnTo>
                  <a:pt x="3079295" y="0"/>
                </a:lnTo>
                <a:lnTo>
                  <a:pt x="3079295" y="4223473"/>
                </a:lnTo>
                <a:lnTo>
                  <a:pt x="0" y="422347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0">
            <a:off x="16242876" y="0"/>
            <a:ext cx="1983616" cy="1983616"/>
          </a:xfrm>
          <a:custGeom>
            <a:avLst/>
            <a:gdLst/>
            <a:ahLst/>
            <a:cxnLst/>
            <a:rect r="r" b="b" t="t" l="l"/>
            <a:pathLst>
              <a:path h="1983616" w="1983616">
                <a:moveTo>
                  <a:pt x="0" y="0"/>
                </a:moveTo>
                <a:lnTo>
                  <a:pt x="1983616" y="0"/>
                </a:lnTo>
                <a:lnTo>
                  <a:pt x="1983616" y="1983616"/>
                </a:lnTo>
                <a:lnTo>
                  <a:pt x="0" y="1983616"/>
                </a:lnTo>
                <a:lnTo>
                  <a:pt x="0" y="0"/>
                </a:lnTo>
                <a:close/>
              </a:path>
            </a:pathLst>
          </a:custGeom>
          <a:blipFill>
            <a:blip r:embed="rId6"/>
            <a:stretch>
              <a:fillRect l="0" t="0" r="0" b="0"/>
            </a:stretch>
          </a:blipFill>
        </p:spPr>
      </p:sp>
    </p:spTree>
  </p:cSld>
  <p:clrMapOvr>
    <a:masterClrMapping/>
  </p:clrMapOvr>
  <p:transition spd="fast">
    <p:wipe dir="l"/>
  </p:transition>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FFDF7"/>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8879336" y="820322"/>
            <a:ext cx="15128191" cy="11965024"/>
          </a:xfrm>
          <a:custGeom>
            <a:avLst/>
            <a:gdLst/>
            <a:ahLst/>
            <a:cxnLst/>
            <a:rect r="r" b="b" t="t" l="l"/>
            <a:pathLst>
              <a:path h="11965024" w="15128191">
                <a:moveTo>
                  <a:pt x="0" y="0"/>
                </a:moveTo>
                <a:lnTo>
                  <a:pt x="15128191" y="0"/>
                </a:lnTo>
                <a:lnTo>
                  <a:pt x="15128191" y="11965024"/>
                </a:lnTo>
                <a:lnTo>
                  <a:pt x="0" y="1196502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0079232" y="977746"/>
            <a:ext cx="7490165" cy="8331508"/>
            <a:chOff x="687070" y="247650"/>
            <a:chExt cx="11148060" cy="12400280"/>
          </a:xfrm>
        </p:grpSpPr>
        <p:sp>
          <p:nvSpPr>
            <p:cNvPr name="Freeform 4" id="4"/>
            <p:cNvSpPr/>
            <p:nvPr/>
          </p:nvSpPr>
          <p:spPr>
            <a:xfrm flipH="false" flipV="false" rot="0">
              <a:off x="366333" y="5962"/>
              <a:ext cx="10331959" cy="12110687"/>
            </a:xfrm>
            <a:custGeom>
              <a:avLst/>
              <a:gdLst/>
              <a:ahLst/>
              <a:cxnLst/>
              <a:rect r="r" b="b" t="t" l="l"/>
              <a:pathLst>
                <a:path h="12110687" w="10331959">
                  <a:moveTo>
                    <a:pt x="8848787" y="1491368"/>
                  </a:moveTo>
                  <a:cubicBezTo>
                    <a:pt x="8406827" y="966858"/>
                    <a:pt x="7868347" y="502038"/>
                    <a:pt x="7224457" y="246768"/>
                  </a:cubicBezTo>
                  <a:cubicBezTo>
                    <a:pt x="6765987" y="65158"/>
                    <a:pt x="6266877" y="-5962"/>
                    <a:pt x="5772847" y="388"/>
                  </a:cubicBezTo>
                  <a:cubicBezTo>
                    <a:pt x="3687507" y="30868"/>
                    <a:pt x="1791397" y="1485018"/>
                    <a:pt x="922717" y="3340488"/>
                  </a:cubicBezTo>
                  <a:cubicBezTo>
                    <a:pt x="160717" y="4971168"/>
                    <a:pt x="-366333" y="7786758"/>
                    <a:pt x="314387" y="9451728"/>
                  </a:cubicBezTo>
                  <a:cubicBezTo>
                    <a:pt x="993837" y="11116698"/>
                    <a:pt x="2133027" y="11999348"/>
                    <a:pt x="3881817" y="12075548"/>
                  </a:cubicBezTo>
                  <a:cubicBezTo>
                    <a:pt x="6635177" y="12394318"/>
                    <a:pt x="8721787" y="10496938"/>
                    <a:pt x="9751757" y="8303648"/>
                  </a:cubicBezTo>
                  <a:cubicBezTo>
                    <a:pt x="10781728" y="6110358"/>
                    <a:pt x="10415967" y="3355728"/>
                    <a:pt x="8848787" y="1491368"/>
                  </a:cubicBezTo>
                  <a:close/>
                </a:path>
              </a:pathLst>
            </a:custGeom>
            <a:solidFill>
              <a:srgbClr val="000000">
                <a:alpha val="0"/>
              </a:srgbClr>
            </a:solidFill>
            <a:ln w="12700">
              <a:solidFill>
                <a:srgbClr val="000000"/>
              </a:solidFill>
            </a:ln>
          </p:spPr>
        </p:sp>
      </p:grpSp>
      <p:sp>
        <p:nvSpPr>
          <p:cNvPr name="TextBox 5" id="5"/>
          <p:cNvSpPr txBox="true"/>
          <p:nvPr/>
        </p:nvSpPr>
        <p:spPr>
          <a:xfrm rot="0">
            <a:off x="1028700" y="701040"/>
            <a:ext cx="8626246" cy="1356360"/>
          </a:xfrm>
          <a:prstGeom prst="rect">
            <a:avLst/>
          </a:prstGeom>
        </p:spPr>
        <p:txBody>
          <a:bodyPr anchor="t" rtlCol="false" tIns="0" lIns="0" bIns="0" rIns="0">
            <a:spAutoFit/>
          </a:bodyPr>
          <a:lstStyle/>
          <a:p>
            <a:pPr algn="l">
              <a:lnSpc>
                <a:spcPts val="5460"/>
              </a:lnSpc>
            </a:pPr>
            <a:r>
              <a:rPr lang="en-US" sz="4200">
                <a:gradFill>
                  <a:gsLst>
                    <a:gs pos="0">
                      <a:srgbClr val="004AAD">
                        <a:alpha val="100000"/>
                      </a:srgbClr>
                    </a:gs>
                    <a:gs pos="100000">
                      <a:srgbClr val="CB6CE6">
                        <a:alpha val="100000"/>
                      </a:srgbClr>
                    </a:gs>
                  </a:gsLst>
                  <a:lin ang="0"/>
                </a:gradFill>
                <a:latin typeface="Muli"/>
                <a:ea typeface="Muli"/>
                <a:cs typeface="Muli"/>
                <a:sym typeface="Muli"/>
              </a:rPr>
              <a:t>6. Giải pháp và định hướng phát triển trong tương lai </a:t>
            </a:r>
          </a:p>
        </p:txBody>
      </p:sp>
      <p:sp>
        <p:nvSpPr>
          <p:cNvPr name="TextBox 6" id="6"/>
          <p:cNvSpPr txBox="true"/>
          <p:nvPr/>
        </p:nvSpPr>
        <p:spPr>
          <a:xfrm rot="0">
            <a:off x="1028700" y="2057400"/>
            <a:ext cx="8290612" cy="3657600"/>
          </a:xfrm>
          <a:prstGeom prst="rect">
            <a:avLst/>
          </a:prstGeom>
        </p:spPr>
        <p:txBody>
          <a:bodyPr anchor="t" rtlCol="false" tIns="0" lIns="0" bIns="0" rIns="0">
            <a:spAutoFit/>
          </a:bodyPr>
          <a:lstStyle/>
          <a:p>
            <a:pPr algn="l">
              <a:lnSpc>
                <a:spcPts val="3600"/>
              </a:lnSpc>
            </a:pPr>
            <a:r>
              <a:rPr lang="en-US" sz="3000">
                <a:solidFill>
                  <a:srgbClr val="000000"/>
                </a:solidFill>
                <a:latin typeface="Muli"/>
                <a:ea typeface="Muli"/>
                <a:cs typeface="Muli"/>
                <a:sym typeface="Muli"/>
              </a:rPr>
              <a:t>6.3. Đào tạo nguồn nhân lực và nâng cao nhận thức cộng đồng </a:t>
            </a:r>
          </a:p>
          <a:p>
            <a:pPr algn="l" marL="647700" indent="-323850" lvl="1">
              <a:lnSpc>
                <a:spcPts val="3600"/>
              </a:lnSpc>
              <a:buFont typeface="Arial"/>
              <a:buChar char="•"/>
            </a:pPr>
            <a:r>
              <a:rPr lang="en-US" sz="3000">
                <a:solidFill>
                  <a:srgbClr val="000000"/>
                </a:solidFill>
                <a:latin typeface="Muli"/>
                <a:ea typeface="Muli"/>
                <a:cs typeface="Muli"/>
                <a:sym typeface="Muli"/>
              </a:rPr>
              <a:t>Đào tạo chuyên gia AI-y tế</a:t>
            </a:r>
          </a:p>
          <a:p>
            <a:pPr algn="l" marL="647700" indent="-323850" lvl="1">
              <a:lnSpc>
                <a:spcPts val="3600"/>
              </a:lnSpc>
              <a:buFont typeface="Arial"/>
              <a:buChar char="•"/>
            </a:pPr>
            <a:r>
              <a:rPr lang="en-US" sz="3000">
                <a:solidFill>
                  <a:srgbClr val="000000"/>
                </a:solidFill>
                <a:latin typeface="Muli"/>
                <a:ea typeface="Muli"/>
                <a:cs typeface="Muli"/>
                <a:sym typeface="Muli"/>
              </a:rPr>
              <a:t> Nâng cao kỹ năng số cho nhân viên y tế</a:t>
            </a:r>
          </a:p>
          <a:p>
            <a:pPr algn="l" marL="647700" indent="-323850" lvl="1">
              <a:lnSpc>
                <a:spcPts val="3600"/>
              </a:lnSpc>
              <a:buFont typeface="Arial"/>
              <a:buChar char="•"/>
            </a:pPr>
            <a:r>
              <a:rPr lang="en-US" sz="3000">
                <a:solidFill>
                  <a:srgbClr val="000000"/>
                </a:solidFill>
                <a:latin typeface="Muli"/>
                <a:ea typeface="Muli"/>
                <a:cs typeface="Muli"/>
                <a:sym typeface="Muli"/>
              </a:rPr>
              <a:t> Tuyên truyền, hướng dẫn người dân sử dụng chatbot đúng cách</a:t>
            </a:r>
          </a:p>
          <a:p>
            <a:pPr algn="l" marL="647700" indent="-323850" lvl="1">
              <a:lnSpc>
                <a:spcPts val="3600"/>
              </a:lnSpc>
              <a:buFont typeface="Arial"/>
              <a:buChar char="•"/>
            </a:pPr>
            <a:r>
              <a:rPr lang="en-US" sz="3000">
                <a:solidFill>
                  <a:srgbClr val="000000"/>
                </a:solidFill>
                <a:latin typeface="Muli"/>
                <a:ea typeface="Muli"/>
                <a:cs typeface="Muli"/>
                <a:sym typeface="Muli"/>
              </a:rPr>
              <a:t> Hợp tác giữa doanh nghiệp – bệnh viện – nhà trường</a:t>
            </a:r>
          </a:p>
        </p:txBody>
      </p:sp>
      <p:sp>
        <p:nvSpPr>
          <p:cNvPr name="TextBox 7" id="7"/>
          <p:cNvSpPr txBox="true"/>
          <p:nvPr/>
        </p:nvSpPr>
        <p:spPr>
          <a:xfrm rot="0">
            <a:off x="1196517" y="5715000"/>
            <a:ext cx="8290612" cy="4572000"/>
          </a:xfrm>
          <a:prstGeom prst="rect">
            <a:avLst/>
          </a:prstGeom>
        </p:spPr>
        <p:txBody>
          <a:bodyPr anchor="t" rtlCol="false" tIns="0" lIns="0" bIns="0" rIns="0">
            <a:spAutoFit/>
          </a:bodyPr>
          <a:lstStyle/>
          <a:p>
            <a:pPr algn="l">
              <a:lnSpc>
                <a:spcPts val="3600"/>
              </a:lnSpc>
            </a:pPr>
            <a:r>
              <a:rPr lang="en-US" sz="3000">
                <a:solidFill>
                  <a:srgbClr val="000000"/>
                </a:solidFill>
                <a:latin typeface="Muli"/>
                <a:ea typeface="Muli"/>
                <a:cs typeface="Muli"/>
                <a:sym typeface="Muli"/>
              </a:rPr>
              <a:t>6.4. Tầm nhìn dài hạn cho ngành y tế số Việt Nam </a:t>
            </a:r>
          </a:p>
          <a:p>
            <a:pPr algn="l" marL="647700" indent="-323850" lvl="1">
              <a:lnSpc>
                <a:spcPts val="3600"/>
              </a:lnSpc>
              <a:buFont typeface="Arial"/>
              <a:buChar char="•"/>
            </a:pPr>
            <a:r>
              <a:rPr lang="en-US" sz="3000">
                <a:solidFill>
                  <a:srgbClr val="000000"/>
                </a:solidFill>
                <a:latin typeface="Muli"/>
                <a:ea typeface="Muli"/>
                <a:cs typeface="Muli"/>
                <a:sym typeface="Muli"/>
              </a:rPr>
              <a:t> Xây dựng hệ sinh thái y tế thông minh</a:t>
            </a:r>
          </a:p>
          <a:p>
            <a:pPr algn="l" marL="647700" indent="-323850" lvl="1">
              <a:lnSpc>
                <a:spcPts val="3600"/>
              </a:lnSpc>
              <a:buFont typeface="Arial"/>
              <a:buChar char="•"/>
            </a:pPr>
            <a:r>
              <a:rPr lang="en-US" sz="3000">
                <a:solidFill>
                  <a:srgbClr val="000000"/>
                </a:solidFill>
                <a:latin typeface="Muli"/>
                <a:ea typeface="Muli"/>
                <a:cs typeface="Muli"/>
                <a:sym typeface="Muli"/>
              </a:rPr>
              <a:t> Hướng đến bệnh viện thông minh (Smart Hospital)</a:t>
            </a:r>
          </a:p>
          <a:p>
            <a:pPr algn="l" marL="647700" indent="-323850" lvl="1">
              <a:lnSpc>
                <a:spcPts val="3600"/>
              </a:lnSpc>
              <a:buFont typeface="Arial"/>
              <a:buChar char="•"/>
            </a:pPr>
            <a:r>
              <a:rPr lang="en-US" sz="3000">
                <a:solidFill>
                  <a:srgbClr val="000000"/>
                </a:solidFill>
                <a:latin typeface="Muli"/>
                <a:ea typeface="Muli"/>
                <a:cs typeface="Muli"/>
                <a:sym typeface="Muli"/>
              </a:rPr>
              <a:t> Phát triển nền tảng chăm sóc sức khỏe cộng đồng</a:t>
            </a:r>
          </a:p>
          <a:p>
            <a:pPr algn="l" marL="647700" indent="-323850" lvl="1">
              <a:lnSpc>
                <a:spcPts val="3600"/>
              </a:lnSpc>
              <a:buFont typeface="Arial"/>
              <a:buChar char="•"/>
            </a:pPr>
            <a:r>
              <a:rPr lang="en-US" sz="3000">
                <a:solidFill>
                  <a:srgbClr val="000000"/>
                </a:solidFill>
                <a:latin typeface="Muli"/>
                <a:ea typeface="Muli"/>
                <a:cs typeface="Muli"/>
                <a:sym typeface="Muli"/>
              </a:rPr>
              <a:t> Thúc đẩy đổi mới sáng tạo và hợp tác quốc tế</a:t>
            </a:r>
          </a:p>
          <a:p>
            <a:pPr algn="l" marL="647700" indent="-323850" lvl="1">
              <a:lnSpc>
                <a:spcPts val="3600"/>
              </a:lnSpc>
              <a:buFont typeface="Arial"/>
              <a:buChar char="•"/>
            </a:pPr>
            <a:r>
              <a:rPr lang="en-US" sz="3000">
                <a:solidFill>
                  <a:srgbClr val="000000"/>
                </a:solidFill>
                <a:latin typeface="Muli"/>
                <a:ea typeface="Muli"/>
                <a:cs typeface="Muli"/>
                <a:sym typeface="Muli"/>
              </a:rPr>
              <a:t> Lấy người dân làm trung tâm</a:t>
            </a:r>
          </a:p>
        </p:txBody>
      </p:sp>
      <p:sp>
        <p:nvSpPr>
          <p:cNvPr name="Freeform 8" id="8"/>
          <p:cNvSpPr/>
          <p:nvPr/>
        </p:nvSpPr>
        <p:spPr>
          <a:xfrm flipH="false" flipV="false" rot="0">
            <a:off x="11973320" y="3333510"/>
            <a:ext cx="3079295" cy="4223472"/>
          </a:xfrm>
          <a:custGeom>
            <a:avLst/>
            <a:gdLst/>
            <a:ahLst/>
            <a:cxnLst/>
            <a:rect r="r" b="b" t="t" l="l"/>
            <a:pathLst>
              <a:path h="4223472" w="3079295">
                <a:moveTo>
                  <a:pt x="0" y="0"/>
                </a:moveTo>
                <a:lnTo>
                  <a:pt x="3079295" y="0"/>
                </a:lnTo>
                <a:lnTo>
                  <a:pt x="3079295" y="4223473"/>
                </a:lnTo>
                <a:lnTo>
                  <a:pt x="0" y="422347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0">
            <a:off x="16148936" y="48642"/>
            <a:ext cx="1960117" cy="1960117"/>
          </a:xfrm>
          <a:custGeom>
            <a:avLst/>
            <a:gdLst/>
            <a:ahLst/>
            <a:cxnLst/>
            <a:rect r="r" b="b" t="t" l="l"/>
            <a:pathLst>
              <a:path h="1960117" w="1960117">
                <a:moveTo>
                  <a:pt x="0" y="0"/>
                </a:moveTo>
                <a:lnTo>
                  <a:pt x="1960116" y="0"/>
                </a:lnTo>
                <a:lnTo>
                  <a:pt x="1960116" y="1960116"/>
                </a:lnTo>
                <a:lnTo>
                  <a:pt x="0" y="1960116"/>
                </a:lnTo>
                <a:lnTo>
                  <a:pt x="0" y="0"/>
                </a:lnTo>
                <a:close/>
              </a:path>
            </a:pathLst>
          </a:custGeom>
          <a:blipFill>
            <a:blip r:embed="rId6"/>
            <a:stretch>
              <a:fillRect l="0" t="0" r="0" b="0"/>
            </a:stretch>
          </a:blipFill>
        </p:spPr>
      </p:sp>
    </p:spTree>
  </p:cSld>
  <p:clrMapOvr>
    <a:masterClrMapping/>
  </p:clrMapOvr>
  <p:transition spd="fast">
    <p:fade/>
  </p:transition>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BADBF3"/>
        </a:solidFill>
      </p:bgPr>
    </p:bg>
    <p:spTree>
      <p:nvGrpSpPr>
        <p:cNvPr id="1" name=""/>
        <p:cNvGrpSpPr/>
        <p:nvPr/>
      </p:nvGrpSpPr>
      <p:grpSpPr>
        <a:xfrm>
          <a:off x="0" y="0"/>
          <a:ext cx="0" cy="0"/>
          <a:chOff x="0" y="0"/>
          <a:chExt cx="0" cy="0"/>
        </a:xfrm>
      </p:grpSpPr>
      <p:grpSp>
        <p:nvGrpSpPr>
          <p:cNvPr name="Group 2" id="2"/>
          <p:cNvGrpSpPr/>
          <p:nvPr/>
        </p:nvGrpSpPr>
        <p:grpSpPr>
          <a:xfrm rot="0">
            <a:off x="0" y="-6437"/>
            <a:ext cx="18276570" cy="10293437"/>
            <a:chOff x="0" y="0"/>
            <a:chExt cx="24353520" cy="13716000"/>
          </a:xfrm>
        </p:grpSpPr>
        <p:sp>
          <p:nvSpPr>
            <p:cNvPr name="Freeform 3" id="3"/>
            <p:cNvSpPr/>
            <p:nvPr/>
          </p:nvSpPr>
          <p:spPr>
            <a:xfrm flipH="false" flipV="false" rot="0">
              <a:off x="38100" y="38100"/>
              <a:ext cx="24278589" cy="13639800"/>
            </a:xfrm>
            <a:custGeom>
              <a:avLst/>
              <a:gdLst/>
              <a:ahLst/>
              <a:cxnLst/>
              <a:rect r="r" b="b" t="t" l="l"/>
              <a:pathLst>
                <a:path h="13639800" w="24278589">
                  <a:moveTo>
                    <a:pt x="24278589" y="452120"/>
                  </a:moveTo>
                  <a:lnTo>
                    <a:pt x="24278589" y="13187680"/>
                  </a:lnTo>
                  <a:cubicBezTo>
                    <a:pt x="24278589" y="13436600"/>
                    <a:pt x="24075389" y="13639800"/>
                    <a:pt x="23826470" y="13639800"/>
                  </a:cubicBezTo>
                  <a:lnTo>
                    <a:pt x="7706360" y="13639800"/>
                  </a:lnTo>
                  <a:lnTo>
                    <a:pt x="6588760" y="12920980"/>
                  </a:lnTo>
                  <a:lnTo>
                    <a:pt x="2498090" y="12920980"/>
                  </a:lnTo>
                  <a:lnTo>
                    <a:pt x="1614170" y="13639800"/>
                  </a:lnTo>
                  <a:lnTo>
                    <a:pt x="452120" y="13639800"/>
                  </a:lnTo>
                  <a:cubicBezTo>
                    <a:pt x="203200" y="13639800"/>
                    <a:pt x="0" y="13436600"/>
                    <a:pt x="0" y="13187680"/>
                  </a:cubicBezTo>
                  <a:lnTo>
                    <a:pt x="0" y="452120"/>
                  </a:lnTo>
                  <a:cubicBezTo>
                    <a:pt x="0" y="203200"/>
                    <a:pt x="203200" y="0"/>
                    <a:pt x="452120" y="0"/>
                  </a:cubicBezTo>
                  <a:lnTo>
                    <a:pt x="23826470" y="0"/>
                  </a:lnTo>
                  <a:cubicBezTo>
                    <a:pt x="23925530" y="0"/>
                    <a:pt x="24020780" y="31750"/>
                    <a:pt x="24099520" y="92710"/>
                  </a:cubicBezTo>
                  <a:cubicBezTo>
                    <a:pt x="24212550" y="179070"/>
                    <a:pt x="24278589" y="309880"/>
                    <a:pt x="24278589" y="452120"/>
                  </a:cubicBezTo>
                  <a:close/>
                </a:path>
              </a:pathLst>
            </a:custGeom>
            <a:solidFill>
              <a:srgbClr val="000000">
                <a:alpha val="0"/>
              </a:srgbClr>
            </a:solidFill>
            <a:ln w="12700">
              <a:solidFill>
                <a:srgbClr val="000000"/>
              </a:solidFill>
            </a:ln>
          </p:spPr>
        </p:sp>
        <p:sp>
          <p:nvSpPr>
            <p:cNvPr name="Freeform 4" id="4"/>
            <p:cNvSpPr/>
            <p:nvPr/>
          </p:nvSpPr>
          <p:spPr>
            <a:xfrm flipH="false" flipV="false" rot="0">
              <a:off x="0" y="0"/>
              <a:ext cx="24353520" cy="13717270"/>
            </a:xfrm>
            <a:custGeom>
              <a:avLst/>
              <a:gdLst/>
              <a:ahLst/>
              <a:cxnLst/>
              <a:rect r="r" b="b" t="t" l="l"/>
              <a:pathLst>
                <a:path h="13717270" w="24353520">
                  <a:moveTo>
                    <a:pt x="2523490" y="12387580"/>
                  </a:moveTo>
                  <a:lnTo>
                    <a:pt x="834390" y="12387580"/>
                  </a:lnTo>
                  <a:lnTo>
                    <a:pt x="834390" y="1785620"/>
                  </a:lnTo>
                  <a:lnTo>
                    <a:pt x="2327910" y="293370"/>
                  </a:lnTo>
                  <a:lnTo>
                    <a:pt x="14380211" y="293370"/>
                  </a:lnTo>
                  <a:lnTo>
                    <a:pt x="15153639" y="835660"/>
                  </a:lnTo>
                  <a:lnTo>
                    <a:pt x="23520400" y="835660"/>
                  </a:lnTo>
                  <a:lnTo>
                    <a:pt x="23520400" y="11247120"/>
                  </a:lnTo>
                  <a:lnTo>
                    <a:pt x="24062689" y="12192000"/>
                  </a:lnTo>
                  <a:lnTo>
                    <a:pt x="24062689" y="13227050"/>
                  </a:lnTo>
                  <a:cubicBezTo>
                    <a:pt x="24062689" y="13336270"/>
                    <a:pt x="23973789" y="13425170"/>
                    <a:pt x="23865839" y="13425170"/>
                  </a:cubicBezTo>
                  <a:lnTo>
                    <a:pt x="7819390" y="13425170"/>
                  </a:lnTo>
                  <a:lnTo>
                    <a:pt x="6700520" y="12706350"/>
                  </a:lnTo>
                  <a:lnTo>
                    <a:pt x="2523490" y="12706350"/>
                  </a:lnTo>
                  <a:lnTo>
                    <a:pt x="2523490" y="12388850"/>
                  </a:lnTo>
                  <a:close/>
                  <a:moveTo>
                    <a:pt x="872490" y="12349480"/>
                  </a:moveTo>
                  <a:lnTo>
                    <a:pt x="2561590" y="12349480"/>
                  </a:lnTo>
                  <a:lnTo>
                    <a:pt x="2561590" y="12666980"/>
                  </a:lnTo>
                  <a:lnTo>
                    <a:pt x="6711950" y="12666980"/>
                  </a:lnTo>
                  <a:lnTo>
                    <a:pt x="6789420" y="12716511"/>
                  </a:lnTo>
                  <a:lnTo>
                    <a:pt x="7830820" y="13385800"/>
                  </a:lnTo>
                  <a:lnTo>
                    <a:pt x="23864570" y="13385800"/>
                  </a:lnTo>
                  <a:cubicBezTo>
                    <a:pt x="23952200" y="13385800"/>
                    <a:pt x="24023320" y="13314680"/>
                    <a:pt x="24023320" y="13225780"/>
                  </a:cubicBezTo>
                  <a:lnTo>
                    <a:pt x="24023320" y="12200890"/>
                  </a:lnTo>
                  <a:lnTo>
                    <a:pt x="23481030" y="11256011"/>
                  </a:lnTo>
                  <a:lnTo>
                    <a:pt x="23481030" y="872490"/>
                  </a:lnTo>
                  <a:lnTo>
                    <a:pt x="15139670" y="872490"/>
                  </a:lnTo>
                  <a:lnTo>
                    <a:pt x="14366239" y="330200"/>
                  </a:lnTo>
                  <a:lnTo>
                    <a:pt x="2343150" y="330200"/>
                  </a:lnTo>
                  <a:lnTo>
                    <a:pt x="872490" y="1800860"/>
                  </a:lnTo>
                  <a:lnTo>
                    <a:pt x="872490" y="12349480"/>
                  </a:lnTo>
                  <a:close/>
                  <a:moveTo>
                    <a:pt x="1658620" y="13716000"/>
                  </a:moveTo>
                  <a:lnTo>
                    <a:pt x="490220" y="13716000"/>
                  </a:lnTo>
                  <a:cubicBezTo>
                    <a:pt x="219710" y="13716000"/>
                    <a:pt x="0" y="13496289"/>
                    <a:pt x="0" y="13225780"/>
                  </a:cubicBezTo>
                  <a:lnTo>
                    <a:pt x="0" y="490220"/>
                  </a:lnTo>
                  <a:cubicBezTo>
                    <a:pt x="0" y="219710"/>
                    <a:pt x="219710" y="0"/>
                    <a:pt x="490220" y="0"/>
                  </a:cubicBezTo>
                  <a:lnTo>
                    <a:pt x="23864570" y="0"/>
                  </a:lnTo>
                  <a:cubicBezTo>
                    <a:pt x="23972520" y="0"/>
                    <a:pt x="24075389" y="34290"/>
                    <a:pt x="24160480" y="100330"/>
                  </a:cubicBezTo>
                  <a:cubicBezTo>
                    <a:pt x="24283670" y="194310"/>
                    <a:pt x="24353520" y="336550"/>
                    <a:pt x="24353520" y="490220"/>
                  </a:cubicBezTo>
                  <a:lnTo>
                    <a:pt x="24353520" y="13225780"/>
                  </a:lnTo>
                  <a:cubicBezTo>
                    <a:pt x="24353520" y="13496289"/>
                    <a:pt x="24133811" y="13716000"/>
                    <a:pt x="23863300" y="13716000"/>
                  </a:cubicBezTo>
                  <a:lnTo>
                    <a:pt x="7733030" y="13716000"/>
                  </a:lnTo>
                  <a:lnTo>
                    <a:pt x="7727950" y="13713461"/>
                  </a:lnTo>
                  <a:lnTo>
                    <a:pt x="6614161" y="12998450"/>
                  </a:lnTo>
                  <a:lnTo>
                    <a:pt x="2548890" y="12998450"/>
                  </a:lnTo>
                  <a:lnTo>
                    <a:pt x="1664970" y="13717270"/>
                  </a:lnTo>
                  <a:lnTo>
                    <a:pt x="1658620" y="13717270"/>
                  </a:lnTo>
                  <a:close/>
                  <a:moveTo>
                    <a:pt x="1249680" y="13677900"/>
                  </a:moveTo>
                  <a:lnTo>
                    <a:pt x="1652270" y="13677900"/>
                  </a:lnTo>
                  <a:lnTo>
                    <a:pt x="2536190" y="12959080"/>
                  </a:lnTo>
                  <a:lnTo>
                    <a:pt x="6626860" y="12959080"/>
                  </a:lnTo>
                  <a:lnTo>
                    <a:pt x="7744460" y="13677900"/>
                  </a:lnTo>
                  <a:lnTo>
                    <a:pt x="23863300" y="13677900"/>
                  </a:lnTo>
                  <a:cubicBezTo>
                    <a:pt x="24112220" y="13677900"/>
                    <a:pt x="24315420" y="13474700"/>
                    <a:pt x="24315420" y="13225780"/>
                  </a:cubicBezTo>
                  <a:lnTo>
                    <a:pt x="24315420" y="490220"/>
                  </a:lnTo>
                  <a:cubicBezTo>
                    <a:pt x="24315420" y="347980"/>
                    <a:pt x="24250650" y="217170"/>
                    <a:pt x="24137620" y="130810"/>
                  </a:cubicBezTo>
                  <a:cubicBezTo>
                    <a:pt x="24058879" y="69850"/>
                    <a:pt x="23963629" y="38100"/>
                    <a:pt x="23864570" y="38100"/>
                  </a:cubicBezTo>
                  <a:lnTo>
                    <a:pt x="490220" y="38100"/>
                  </a:lnTo>
                  <a:cubicBezTo>
                    <a:pt x="240030" y="38100"/>
                    <a:pt x="38100" y="241300"/>
                    <a:pt x="38100" y="490220"/>
                  </a:cubicBezTo>
                  <a:lnTo>
                    <a:pt x="38100" y="13225780"/>
                  </a:lnTo>
                  <a:cubicBezTo>
                    <a:pt x="38100" y="13474700"/>
                    <a:pt x="241300" y="13677900"/>
                    <a:pt x="490220" y="13677900"/>
                  </a:cubicBezTo>
                  <a:lnTo>
                    <a:pt x="1249680" y="13677900"/>
                  </a:lnTo>
                  <a:close/>
                </a:path>
              </a:pathLst>
            </a:custGeom>
            <a:solidFill>
              <a:srgbClr val="004AAD"/>
            </a:solidFill>
          </p:spPr>
        </p:sp>
      </p:grpSp>
      <p:sp>
        <p:nvSpPr>
          <p:cNvPr name="TextBox 5" id="5"/>
          <p:cNvSpPr txBox="true"/>
          <p:nvPr/>
        </p:nvSpPr>
        <p:spPr>
          <a:xfrm rot="0">
            <a:off x="0" y="1019175"/>
            <a:ext cx="6564827" cy="923925"/>
          </a:xfrm>
          <a:prstGeom prst="rect">
            <a:avLst/>
          </a:prstGeom>
        </p:spPr>
        <p:txBody>
          <a:bodyPr anchor="t" rtlCol="false" tIns="0" lIns="0" bIns="0" rIns="0">
            <a:spAutoFit/>
          </a:bodyPr>
          <a:lstStyle/>
          <a:p>
            <a:pPr algn="ctr">
              <a:lnSpc>
                <a:spcPts val="7200"/>
              </a:lnSpc>
              <a:spcBef>
                <a:spcPct val="0"/>
              </a:spcBef>
            </a:pPr>
            <a:r>
              <a:rPr lang="en-US" sz="6000">
                <a:solidFill>
                  <a:srgbClr val="000000"/>
                </a:solidFill>
                <a:latin typeface="Muli"/>
                <a:ea typeface="Muli"/>
                <a:cs typeface="Muli"/>
                <a:sym typeface="Muli"/>
              </a:rPr>
              <a:t>Kết luận </a:t>
            </a:r>
          </a:p>
        </p:txBody>
      </p:sp>
      <p:sp>
        <p:nvSpPr>
          <p:cNvPr name="TextBox 6" id="6"/>
          <p:cNvSpPr txBox="true"/>
          <p:nvPr/>
        </p:nvSpPr>
        <p:spPr>
          <a:xfrm rot="0">
            <a:off x="1378250" y="1943100"/>
            <a:ext cx="15107475" cy="5029200"/>
          </a:xfrm>
          <a:prstGeom prst="rect">
            <a:avLst/>
          </a:prstGeom>
        </p:spPr>
        <p:txBody>
          <a:bodyPr anchor="t" rtlCol="false" tIns="0" lIns="0" bIns="0" rIns="0">
            <a:spAutoFit/>
          </a:bodyPr>
          <a:lstStyle/>
          <a:p>
            <a:pPr algn="ctr">
              <a:lnSpc>
                <a:spcPts val="3600"/>
              </a:lnSpc>
            </a:pPr>
            <a:r>
              <a:rPr lang="en-US" sz="3000">
                <a:solidFill>
                  <a:srgbClr val="000000"/>
                </a:solidFill>
                <a:latin typeface="Muli"/>
                <a:ea typeface="Muli"/>
                <a:cs typeface="Muli"/>
                <a:sym typeface="Muli"/>
              </a:rPr>
              <a:t>Trợ lý y tế ảo và Chatbot sử dụng AI và NLP để hỗ trợ tra cứu thông tin sức khỏe, hướng dẫn kiểm tra cơ bản, theo dõi tình trạng và tư vấn tự động 24/7, giúp giảm tải cho nhân viên y tế và thúc đẩy chuyển đổi số. Ứng dụng phổ biến gồm đặt lịch, tư vấn ban đầu, hỗ trợ khám từ xa, theo dõi bệnh nhân và quản lý hồ sơ sức khỏe điện tử.</a:t>
            </a:r>
          </a:p>
          <a:p>
            <a:pPr algn="ctr">
              <a:lnSpc>
                <a:spcPts val="3600"/>
              </a:lnSpc>
            </a:pPr>
            <a:r>
              <a:rPr lang="en-US" sz="3000">
                <a:solidFill>
                  <a:srgbClr val="000000"/>
                </a:solidFill>
                <a:latin typeface="Muli"/>
                <a:ea typeface="Muli"/>
                <a:cs typeface="Muli"/>
                <a:sym typeface="Muli"/>
              </a:rPr>
              <a:t>Tại Việt Nam, công nghệ này phát triển nhanh nhờ nhu cầu chăm sóc sức khỏe ảo sau COVID-19, nhưng vẫn đối mặt hạn chế về chuyên môn, chất lượng dữ liệu, khả năng xử lý tiếng Việt, cùng các vấn đề pháp lý và bảo mật.</a:t>
            </a:r>
          </a:p>
          <a:p>
            <a:pPr algn="ctr">
              <a:lnSpc>
                <a:spcPts val="3600"/>
              </a:lnSpc>
            </a:pPr>
            <a:r>
              <a:rPr lang="en-US" sz="3000">
                <a:solidFill>
                  <a:srgbClr val="000000"/>
                </a:solidFill>
                <a:latin typeface="Muli"/>
                <a:ea typeface="Muli"/>
                <a:cs typeface="Muli"/>
                <a:sym typeface="Muli"/>
              </a:rPr>
              <a:t>Để phát triển bền vững, cần chuẩn hóa dữ liệu, hoàn thiện khung pháp lý và đào tạo nhân lực, hướng tới hệ sinh thái y tế thông minh, nơi mỗi người dân có thể sở hữu một trợ lý sức khỏe ảo hỗ trợ theo dõi và chăm sóc chủ động.</a:t>
            </a:r>
          </a:p>
          <a:p>
            <a:pPr algn="ctr">
              <a:lnSpc>
                <a:spcPts val="3600"/>
              </a:lnSpc>
              <a:spcBef>
                <a:spcPct val="0"/>
              </a:spcBef>
            </a:pPr>
          </a:p>
        </p:txBody>
      </p:sp>
      <p:sp>
        <p:nvSpPr>
          <p:cNvPr name="Freeform 7" id="7"/>
          <p:cNvSpPr/>
          <p:nvPr/>
        </p:nvSpPr>
        <p:spPr>
          <a:xfrm flipH="false" flipV="false" rot="0">
            <a:off x="15857762" y="361622"/>
            <a:ext cx="1980687" cy="1980687"/>
          </a:xfrm>
          <a:custGeom>
            <a:avLst/>
            <a:gdLst/>
            <a:ahLst/>
            <a:cxnLst/>
            <a:rect r="r" b="b" t="t" l="l"/>
            <a:pathLst>
              <a:path h="1980687" w="1980687">
                <a:moveTo>
                  <a:pt x="0" y="0"/>
                </a:moveTo>
                <a:lnTo>
                  <a:pt x="1980687" y="0"/>
                </a:lnTo>
                <a:lnTo>
                  <a:pt x="1980687" y="1980687"/>
                </a:lnTo>
                <a:lnTo>
                  <a:pt x="0" y="1980687"/>
                </a:lnTo>
                <a:lnTo>
                  <a:pt x="0" y="0"/>
                </a:lnTo>
                <a:close/>
              </a:path>
            </a:pathLst>
          </a:custGeom>
          <a:blipFill>
            <a:blip r:embed="rId2"/>
            <a:stretch>
              <a:fillRect l="0" t="0" r="0" b="0"/>
            </a:stretch>
          </a:blipFill>
        </p:spPr>
      </p:sp>
    </p:spTree>
  </p:cSld>
  <p:clrMapOvr>
    <a:masterClrMapping/>
  </p:clrMapOvr>
  <p:transition spd="fast">
    <p:circle/>
  </p:transition>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BADBF3"/>
        </a:solidFill>
      </p:bgPr>
    </p:bg>
    <p:spTree>
      <p:nvGrpSpPr>
        <p:cNvPr id="1" name=""/>
        <p:cNvGrpSpPr/>
        <p:nvPr/>
      </p:nvGrpSpPr>
      <p:grpSpPr>
        <a:xfrm>
          <a:off x="0" y="0"/>
          <a:ext cx="0" cy="0"/>
          <a:chOff x="0" y="0"/>
          <a:chExt cx="0" cy="0"/>
        </a:xfrm>
      </p:grpSpPr>
      <p:sp>
        <p:nvSpPr>
          <p:cNvPr name="Freeform 2" id="2"/>
          <p:cNvSpPr/>
          <p:nvPr/>
        </p:nvSpPr>
        <p:spPr>
          <a:xfrm flipH="false" flipV="false" rot="0">
            <a:off x="4583810" y="-502820"/>
            <a:ext cx="12109484" cy="14637837"/>
          </a:xfrm>
          <a:custGeom>
            <a:avLst/>
            <a:gdLst/>
            <a:ahLst/>
            <a:cxnLst/>
            <a:rect r="r" b="b" t="t" l="l"/>
            <a:pathLst>
              <a:path h="14637837" w="12109484">
                <a:moveTo>
                  <a:pt x="0" y="0"/>
                </a:moveTo>
                <a:lnTo>
                  <a:pt x="12109484" y="0"/>
                </a:lnTo>
                <a:lnTo>
                  <a:pt x="12109484" y="14637837"/>
                </a:lnTo>
                <a:lnTo>
                  <a:pt x="0" y="1463783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3651623" y="1614932"/>
            <a:ext cx="3774283" cy="4827571"/>
          </a:xfrm>
          <a:custGeom>
            <a:avLst/>
            <a:gdLst/>
            <a:ahLst/>
            <a:cxnLst/>
            <a:rect r="r" b="b" t="t" l="l"/>
            <a:pathLst>
              <a:path h="4827571" w="3774283">
                <a:moveTo>
                  <a:pt x="0" y="0"/>
                </a:moveTo>
                <a:lnTo>
                  <a:pt x="3774283" y="0"/>
                </a:lnTo>
                <a:lnTo>
                  <a:pt x="3774283" y="4827571"/>
                </a:lnTo>
                <a:lnTo>
                  <a:pt x="0" y="482757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567898" y="2951050"/>
            <a:ext cx="3623452" cy="4613192"/>
          </a:xfrm>
          <a:custGeom>
            <a:avLst/>
            <a:gdLst/>
            <a:ahLst/>
            <a:cxnLst/>
            <a:rect r="r" b="b" t="t" l="l"/>
            <a:pathLst>
              <a:path h="4613192" w="3623452">
                <a:moveTo>
                  <a:pt x="0" y="0"/>
                </a:moveTo>
                <a:lnTo>
                  <a:pt x="3623452" y="0"/>
                </a:lnTo>
                <a:lnTo>
                  <a:pt x="3623452" y="4613191"/>
                </a:lnTo>
                <a:lnTo>
                  <a:pt x="0" y="461319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3651623" y="4260419"/>
            <a:ext cx="3563119" cy="4600271"/>
          </a:xfrm>
          <a:custGeom>
            <a:avLst/>
            <a:gdLst/>
            <a:ahLst/>
            <a:cxnLst/>
            <a:rect r="r" b="b" t="t" l="l"/>
            <a:pathLst>
              <a:path h="4600271" w="3563119">
                <a:moveTo>
                  <a:pt x="0" y="0"/>
                </a:moveTo>
                <a:lnTo>
                  <a:pt x="3563118" y="0"/>
                </a:lnTo>
                <a:lnTo>
                  <a:pt x="3563118" y="4600271"/>
                </a:lnTo>
                <a:lnTo>
                  <a:pt x="0" y="460027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6" id="6"/>
          <p:cNvGrpSpPr/>
          <p:nvPr/>
        </p:nvGrpSpPr>
        <p:grpSpPr>
          <a:xfrm rot="0">
            <a:off x="6711831" y="3966555"/>
            <a:ext cx="8188130" cy="2773148"/>
            <a:chOff x="0" y="0"/>
            <a:chExt cx="10917507" cy="3697531"/>
          </a:xfrm>
        </p:grpSpPr>
        <p:sp>
          <p:nvSpPr>
            <p:cNvPr name="TextBox 7" id="7"/>
            <p:cNvSpPr txBox="true"/>
            <p:nvPr/>
          </p:nvSpPr>
          <p:spPr>
            <a:xfrm rot="0">
              <a:off x="0" y="-16510"/>
              <a:ext cx="10917507" cy="1952625"/>
            </a:xfrm>
            <a:prstGeom prst="rect">
              <a:avLst/>
            </a:prstGeom>
          </p:spPr>
          <p:txBody>
            <a:bodyPr anchor="t" rtlCol="false" tIns="0" lIns="0" bIns="0" rIns="0">
              <a:spAutoFit/>
            </a:bodyPr>
            <a:lstStyle/>
            <a:p>
              <a:pPr algn="ctr">
                <a:lnSpc>
                  <a:spcPts val="11519"/>
                </a:lnSpc>
              </a:pPr>
              <a:r>
                <a:rPr lang="en-US" sz="9600">
                  <a:solidFill>
                    <a:srgbClr val="000000"/>
                  </a:solidFill>
                  <a:latin typeface="Muli"/>
                  <a:ea typeface="Muli"/>
                  <a:cs typeface="Muli"/>
                  <a:sym typeface="Muli"/>
                </a:rPr>
                <a:t>Cảm ơn!</a:t>
              </a:r>
            </a:p>
          </p:txBody>
        </p:sp>
        <p:sp>
          <p:nvSpPr>
            <p:cNvPr name="TextBox 8" id="8"/>
            <p:cNvSpPr txBox="true"/>
            <p:nvPr/>
          </p:nvSpPr>
          <p:spPr>
            <a:xfrm rot="0">
              <a:off x="1174407" y="2413244"/>
              <a:ext cx="8568693" cy="1298575"/>
            </a:xfrm>
            <a:prstGeom prst="rect">
              <a:avLst/>
            </a:prstGeom>
          </p:spPr>
          <p:txBody>
            <a:bodyPr anchor="t" rtlCol="false" tIns="0" lIns="0" bIns="0" rIns="0">
              <a:spAutoFit/>
            </a:bodyPr>
            <a:lstStyle/>
            <a:p>
              <a:pPr algn="ctr">
                <a:lnSpc>
                  <a:spcPts val="3900"/>
                </a:lnSpc>
              </a:pPr>
              <a:r>
                <a:rPr lang="en-US" sz="3000">
                  <a:solidFill>
                    <a:srgbClr val="000000"/>
                  </a:solidFill>
                  <a:latin typeface="Muli"/>
                  <a:ea typeface="Muli"/>
                  <a:cs typeface="Muli"/>
                  <a:sym typeface="Muli"/>
                </a:rPr>
                <a:t>Cảm ơn thầy cô và các bạn đã lắng nghe bài thuyết trình </a:t>
              </a:r>
            </a:p>
          </p:txBody>
        </p:sp>
      </p:grpSp>
      <p:sp>
        <p:nvSpPr>
          <p:cNvPr name="Freeform 9" id="9"/>
          <p:cNvSpPr/>
          <p:nvPr/>
        </p:nvSpPr>
        <p:spPr>
          <a:xfrm flipH="false" flipV="false" rot="0">
            <a:off x="15889100" y="488099"/>
            <a:ext cx="2020349" cy="2020349"/>
          </a:xfrm>
          <a:custGeom>
            <a:avLst/>
            <a:gdLst/>
            <a:ahLst/>
            <a:cxnLst/>
            <a:rect r="r" b="b" t="t" l="l"/>
            <a:pathLst>
              <a:path h="2020349" w="2020349">
                <a:moveTo>
                  <a:pt x="0" y="0"/>
                </a:moveTo>
                <a:lnTo>
                  <a:pt x="2020349" y="0"/>
                </a:lnTo>
                <a:lnTo>
                  <a:pt x="2020349" y="2020349"/>
                </a:lnTo>
                <a:lnTo>
                  <a:pt x="0" y="2020349"/>
                </a:lnTo>
                <a:lnTo>
                  <a:pt x="0" y="0"/>
                </a:lnTo>
                <a:close/>
              </a:path>
            </a:pathLst>
          </a:custGeom>
          <a:blipFill>
            <a:blip r:embed="rId10"/>
            <a:stretch>
              <a:fillRect l="0" t="0" r="0" b="0"/>
            </a:stretch>
          </a:blipFill>
        </p:spPr>
      </p:sp>
    </p:spTree>
  </p:cSld>
  <p:clrMapOvr>
    <a:masterClrMapping/>
  </p:clrMapOvr>
  <p:transition spd="slow">
    <p:push dir="l"/>
  </p:transition>
</p:sld>
</file>

<file path=ppt/slides/slide14.xml><?xml version="1.0" encoding="utf-8"?>
<p:sld xmlns:p="http://schemas.openxmlformats.org/presentationml/2006/main" xmlns:a="http://schemas.openxmlformats.org/drawingml/2006/main">
  <p:cSld>
    <p:bg>
      <p:bgPr>
        <a:solidFill>
          <a:srgbClr val="BADBF3"/>
        </a:solidFill>
      </p:bgPr>
    </p:bg>
    <p:spTree>
      <p:nvGrpSpPr>
        <p:cNvPr id="1" name=""/>
        <p:cNvGrpSpPr/>
        <p:nvPr/>
      </p:nvGrpSpPr>
      <p:grpSpPr>
        <a:xfrm>
          <a:off x="0" y="0"/>
          <a:ext cx="0" cy="0"/>
          <a:chOff x="0" y="0"/>
          <a:chExt cx="0" cy="0"/>
        </a:xfrm>
      </p:grpSpPr>
      <p:graphicFrame>
        <p:nvGraphicFramePr>
          <p:cNvPr name="Table 2" id="2"/>
          <p:cNvGraphicFramePr>
            <a:graphicFrameLocks noGrp="true"/>
          </p:cNvGraphicFramePr>
          <p:nvPr/>
        </p:nvGraphicFramePr>
        <p:xfrm>
          <a:off x="1028700" y="0"/>
          <a:ext cx="14427242" cy="9177893"/>
        </p:xfrm>
        <a:graphic>
          <a:graphicData uri="http://schemas.openxmlformats.org/drawingml/2006/table">
            <a:tbl>
              <a:tblPr/>
              <a:tblGrid>
                <a:gridCol w="3924780"/>
                <a:gridCol w="2312015"/>
                <a:gridCol w="1862994"/>
                <a:gridCol w="2191203"/>
                <a:gridCol w="1731710"/>
                <a:gridCol w="2404540"/>
              </a:tblGrid>
              <a:tr h="1249213">
                <a:tc>
                  <a:txBody>
                    <a:bodyPr anchor="t" rtlCol="false"/>
                    <a:lstStyle/>
                    <a:p>
                      <a:pPr algn="ctr">
                        <a:lnSpc>
                          <a:spcPts val="2519"/>
                        </a:lnSpc>
                        <a:defRPr/>
                      </a:pPr>
                      <a:r>
                        <a:rPr lang="en-US" sz="1799" b="true">
                          <a:solidFill>
                            <a:srgbClr val="000000"/>
                          </a:solidFill>
                          <a:latin typeface="Muli Bold"/>
                          <a:ea typeface="Muli Bold"/>
                          <a:cs typeface="Muli Bold"/>
                          <a:sym typeface="Muli Bold"/>
                        </a:rPr>
                        <a:t> Nguồn (Địa chỉ)</a:t>
                      </a:r>
                      <a:endParaRPr lang="en-US" sz="1100"/>
                    </a:p>
                  </a:txBody>
                  <a:tcPr marL="190500" marR="190500" marT="190500" marB="190500" anchor="ctr">
                    <a:lnL cmpd="sng" algn="ctr" cap="flat" w="33867">
                      <a:solidFill>
                        <a:srgbClr val="000000"/>
                      </a:solidFill>
                      <a:prstDash val="solid"/>
                      <a:round/>
                      <a:headEnd type="none" w="med" len="med"/>
                      <a:tailEnd type="none" w="med" len="med"/>
                    </a:lnL>
                    <a:lnR cmpd="sng" algn="ctr" cap="flat" w="33867">
                      <a:solidFill>
                        <a:srgbClr val="000000"/>
                      </a:solidFill>
                      <a:prstDash val="solid"/>
                      <a:round/>
                      <a:headEnd type="none" w="med" len="med"/>
                      <a:tailEnd type="none" w="med" len="med"/>
                    </a:lnR>
                    <a:lnT cmpd="sng" algn="ctr" cap="flat" w="33867">
                      <a:solidFill>
                        <a:srgbClr val="000000"/>
                      </a:solidFill>
                      <a:prstDash val="solid"/>
                      <a:round/>
                      <a:headEnd type="none" w="med" len="med"/>
                      <a:tailEnd type="none" w="med" len="med"/>
                    </a:lnT>
                    <a:lnB cmpd="sng" algn="ctr" cap="flat" w="33867">
                      <a:solidFill>
                        <a:srgbClr val="000000"/>
                      </a:solidFill>
                      <a:prstDash val="solid"/>
                      <a:round/>
                      <a:headEnd type="none" w="med" len="med"/>
                      <a:tailEnd type="none" w="med" len="med"/>
                    </a:lnB>
                  </a:tcPr>
                </a:tc>
                <a:tc>
                  <a:txBody>
                    <a:bodyPr anchor="t" rtlCol="false"/>
                    <a:lstStyle/>
                    <a:p>
                      <a:pPr algn="ctr">
                        <a:lnSpc>
                          <a:spcPts val="2519"/>
                        </a:lnSpc>
                        <a:defRPr/>
                      </a:pPr>
                      <a:r>
                        <a:rPr lang="en-US" sz="1799" b="true">
                          <a:solidFill>
                            <a:srgbClr val="000000"/>
                          </a:solidFill>
                          <a:latin typeface="Muli Bold"/>
                          <a:ea typeface="Muli Bold"/>
                          <a:cs typeface="Muli Bold"/>
                          <a:sym typeface="Muli Bold"/>
                        </a:rPr>
                        <a:t> Tính thời sự (Currency)</a:t>
                      </a:r>
                      <a:endParaRPr lang="en-US" sz="1100"/>
                    </a:p>
                  </a:txBody>
                  <a:tcPr marL="190500" marR="190500" marT="190500" marB="190500" anchor="ctr">
                    <a:lnL cmpd="sng" algn="ctr" cap="flat" w="33867">
                      <a:solidFill>
                        <a:srgbClr val="000000"/>
                      </a:solidFill>
                      <a:prstDash val="solid"/>
                      <a:round/>
                      <a:headEnd type="none" w="med" len="med"/>
                      <a:tailEnd type="none" w="med" len="med"/>
                    </a:lnL>
                    <a:lnR cmpd="sng" algn="ctr" cap="flat" w="33867">
                      <a:solidFill>
                        <a:srgbClr val="000000"/>
                      </a:solidFill>
                      <a:prstDash val="solid"/>
                      <a:round/>
                      <a:headEnd type="none" w="med" len="med"/>
                      <a:tailEnd type="none" w="med" len="med"/>
                    </a:lnR>
                    <a:lnT cmpd="sng" algn="ctr" cap="flat" w="33867">
                      <a:solidFill>
                        <a:srgbClr val="000000"/>
                      </a:solidFill>
                      <a:prstDash val="solid"/>
                      <a:round/>
                      <a:headEnd type="none" w="med" len="med"/>
                      <a:tailEnd type="none" w="med" len="med"/>
                    </a:lnT>
                    <a:lnB cmpd="sng" algn="ctr" cap="flat" w="33867">
                      <a:solidFill>
                        <a:srgbClr val="000000"/>
                      </a:solidFill>
                      <a:prstDash val="solid"/>
                      <a:round/>
                      <a:headEnd type="none" w="med" len="med"/>
                      <a:tailEnd type="none" w="med" len="med"/>
                    </a:lnB>
                  </a:tcPr>
                </a:tc>
                <a:tc>
                  <a:txBody>
                    <a:bodyPr anchor="t" rtlCol="false"/>
                    <a:lstStyle/>
                    <a:p>
                      <a:pPr algn="ctr">
                        <a:lnSpc>
                          <a:spcPts val="2519"/>
                        </a:lnSpc>
                        <a:defRPr/>
                      </a:pPr>
                      <a:r>
                        <a:rPr lang="en-US" sz="1799" b="true">
                          <a:solidFill>
                            <a:srgbClr val="000000"/>
                          </a:solidFill>
                          <a:latin typeface="Muli Bold"/>
                          <a:ea typeface="Muli Bold"/>
                          <a:cs typeface="Muli Bold"/>
                          <a:sym typeface="Muli Bold"/>
                        </a:rPr>
                        <a:t> Tính liên quan (Relevance)</a:t>
                      </a:r>
                      <a:endParaRPr lang="en-US" sz="1100"/>
                    </a:p>
                  </a:txBody>
                  <a:tcPr marL="190500" marR="190500" marT="190500" marB="190500" anchor="ctr">
                    <a:lnL cmpd="sng" algn="ctr" cap="flat" w="33867">
                      <a:solidFill>
                        <a:srgbClr val="000000"/>
                      </a:solidFill>
                      <a:prstDash val="solid"/>
                      <a:round/>
                      <a:headEnd type="none" w="med" len="med"/>
                      <a:tailEnd type="none" w="med" len="med"/>
                    </a:lnL>
                    <a:lnR cmpd="sng" algn="ctr" cap="flat" w="33867">
                      <a:solidFill>
                        <a:srgbClr val="000000"/>
                      </a:solidFill>
                      <a:prstDash val="solid"/>
                      <a:round/>
                      <a:headEnd type="none" w="med" len="med"/>
                      <a:tailEnd type="none" w="med" len="med"/>
                    </a:lnR>
                    <a:lnT cmpd="sng" algn="ctr" cap="flat" w="33867">
                      <a:solidFill>
                        <a:srgbClr val="000000"/>
                      </a:solidFill>
                      <a:prstDash val="solid"/>
                      <a:round/>
                      <a:headEnd type="none" w="med" len="med"/>
                      <a:tailEnd type="none" w="med" len="med"/>
                    </a:lnT>
                    <a:lnB cmpd="sng" algn="ctr" cap="flat" w="33867">
                      <a:solidFill>
                        <a:srgbClr val="000000"/>
                      </a:solidFill>
                      <a:prstDash val="solid"/>
                      <a:round/>
                      <a:headEnd type="none" w="med" len="med"/>
                      <a:tailEnd type="none" w="med" len="med"/>
                    </a:lnB>
                  </a:tcPr>
                </a:tc>
                <a:tc>
                  <a:txBody>
                    <a:bodyPr anchor="t" rtlCol="false"/>
                    <a:lstStyle/>
                    <a:p>
                      <a:pPr algn="ctr">
                        <a:lnSpc>
                          <a:spcPts val="2519"/>
                        </a:lnSpc>
                        <a:defRPr/>
                      </a:pPr>
                      <a:r>
                        <a:rPr lang="en-US" sz="1799" b="true">
                          <a:solidFill>
                            <a:srgbClr val="000000"/>
                          </a:solidFill>
                          <a:latin typeface="Muli Bold"/>
                          <a:ea typeface="Muli Bold"/>
                          <a:cs typeface="Muli Bold"/>
                          <a:sym typeface="Muli Bold"/>
                        </a:rPr>
                        <a:t> Mục đích (Purpose)</a:t>
                      </a:r>
                      <a:endParaRPr lang="en-US" sz="1100"/>
                    </a:p>
                  </a:txBody>
                  <a:tcPr marL="190500" marR="190500" marT="190500" marB="190500" anchor="ctr">
                    <a:lnL cmpd="sng" algn="ctr" cap="flat" w="33867">
                      <a:solidFill>
                        <a:srgbClr val="000000"/>
                      </a:solidFill>
                      <a:prstDash val="solid"/>
                      <a:round/>
                      <a:headEnd type="none" w="med" len="med"/>
                      <a:tailEnd type="none" w="med" len="med"/>
                    </a:lnL>
                    <a:lnR cmpd="sng" algn="ctr" cap="flat" w="33867">
                      <a:solidFill>
                        <a:srgbClr val="000000"/>
                      </a:solidFill>
                      <a:prstDash val="solid"/>
                      <a:round/>
                      <a:headEnd type="none" w="med" len="med"/>
                      <a:tailEnd type="none" w="med" len="med"/>
                    </a:lnR>
                    <a:lnT cmpd="sng" algn="ctr" cap="flat" w="33867">
                      <a:solidFill>
                        <a:srgbClr val="000000"/>
                      </a:solidFill>
                      <a:prstDash val="solid"/>
                      <a:round/>
                      <a:headEnd type="none" w="med" len="med"/>
                      <a:tailEnd type="none" w="med" len="med"/>
                    </a:lnT>
                    <a:lnB cmpd="sng" algn="ctr" cap="flat" w="33867">
                      <a:solidFill>
                        <a:srgbClr val="000000"/>
                      </a:solidFill>
                      <a:prstDash val="solid"/>
                      <a:round/>
                      <a:headEnd type="none" w="med" len="med"/>
                      <a:tailEnd type="none" w="med" len="med"/>
                    </a:lnB>
                  </a:tcPr>
                </a:tc>
                <a:tc>
                  <a:txBody>
                    <a:bodyPr anchor="t" rtlCol="false"/>
                    <a:lstStyle/>
                    <a:p>
                      <a:pPr algn="ctr">
                        <a:lnSpc>
                          <a:spcPts val="2519"/>
                        </a:lnSpc>
                        <a:defRPr/>
                      </a:pPr>
                      <a:r>
                        <a:rPr lang="en-US" sz="1799" b="true">
                          <a:solidFill>
                            <a:srgbClr val="000000"/>
                          </a:solidFill>
                          <a:latin typeface="Muli Bold"/>
                          <a:ea typeface="Muli Bold"/>
                          <a:cs typeface="Muli Bold"/>
                          <a:sym typeface="Muli Bold"/>
                        </a:rPr>
                        <a:t> Tính chính xác (Accuracy)</a:t>
                      </a:r>
                      <a:endParaRPr lang="en-US" sz="1100"/>
                    </a:p>
                  </a:txBody>
                  <a:tcPr marL="190500" marR="190500" marT="190500" marB="190500" anchor="ctr">
                    <a:lnL cmpd="sng" algn="ctr" cap="flat" w="33867">
                      <a:solidFill>
                        <a:srgbClr val="000000"/>
                      </a:solidFill>
                      <a:prstDash val="solid"/>
                      <a:round/>
                      <a:headEnd type="none" w="med" len="med"/>
                      <a:tailEnd type="none" w="med" len="med"/>
                    </a:lnL>
                    <a:lnR cmpd="sng" algn="ctr" cap="flat" w="33867">
                      <a:solidFill>
                        <a:srgbClr val="000000"/>
                      </a:solidFill>
                      <a:prstDash val="solid"/>
                      <a:round/>
                      <a:headEnd type="none" w="med" len="med"/>
                      <a:tailEnd type="none" w="med" len="med"/>
                    </a:lnR>
                    <a:lnT cmpd="sng" algn="ctr" cap="flat" w="33867">
                      <a:solidFill>
                        <a:srgbClr val="000000"/>
                      </a:solidFill>
                      <a:prstDash val="solid"/>
                      <a:round/>
                      <a:headEnd type="none" w="med" len="med"/>
                      <a:tailEnd type="none" w="med" len="med"/>
                    </a:lnT>
                    <a:lnB cmpd="sng" algn="ctr" cap="flat" w="33867">
                      <a:solidFill>
                        <a:srgbClr val="000000"/>
                      </a:solidFill>
                      <a:prstDash val="solid"/>
                      <a:round/>
                      <a:headEnd type="none" w="med" len="med"/>
                      <a:tailEnd type="none" w="med" len="med"/>
                    </a:lnB>
                  </a:tcPr>
                </a:tc>
                <a:tc>
                  <a:txBody>
                    <a:bodyPr anchor="t" rtlCol="false"/>
                    <a:lstStyle/>
                    <a:p>
                      <a:pPr algn="ctr">
                        <a:lnSpc>
                          <a:spcPts val="2519"/>
                        </a:lnSpc>
                        <a:defRPr/>
                      </a:pPr>
                      <a:r>
                        <a:rPr lang="en-US" sz="1799" b="true">
                          <a:solidFill>
                            <a:srgbClr val="000000"/>
                          </a:solidFill>
                          <a:latin typeface="Muli Bold"/>
                          <a:ea typeface="Muli Bold"/>
                          <a:cs typeface="Muli Bold"/>
                          <a:sym typeface="Muli Bold"/>
                        </a:rPr>
                        <a:t> Thẩm quyền (Authority)</a:t>
                      </a:r>
                      <a:endParaRPr lang="en-US" sz="1100"/>
                    </a:p>
                  </a:txBody>
                  <a:tcPr marL="190500" marR="190500" marT="190500" marB="190500" anchor="ctr">
                    <a:lnL cmpd="sng" algn="ctr" cap="flat" w="33867">
                      <a:solidFill>
                        <a:srgbClr val="000000"/>
                      </a:solidFill>
                      <a:prstDash val="solid"/>
                      <a:round/>
                      <a:headEnd type="none" w="med" len="med"/>
                      <a:tailEnd type="none" w="med" len="med"/>
                    </a:lnL>
                    <a:lnR cmpd="sng" algn="ctr" cap="flat" w="33867">
                      <a:solidFill>
                        <a:srgbClr val="000000"/>
                      </a:solidFill>
                      <a:prstDash val="solid"/>
                      <a:round/>
                      <a:headEnd type="none" w="med" len="med"/>
                      <a:tailEnd type="none" w="med" len="med"/>
                    </a:lnR>
                    <a:lnT cmpd="sng" algn="ctr" cap="flat" w="33867">
                      <a:solidFill>
                        <a:srgbClr val="000000"/>
                      </a:solidFill>
                      <a:prstDash val="solid"/>
                      <a:round/>
                      <a:headEnd type="none" w="med" len="med"/>
                      <a:tailEnd type="none" w="med" len="med"/>
                    </a:lnT>
                    <a:lnB cmpd="sng" algn="ctr" cap="flat" w="33867">
                      <a:solidFill>
                        <a:srgbClr val="000000"/>
                      </a:solidFill>
                      <a:prstDash val="solid"/>
                      <a:round/>
                      <a:headEnd type="none" w="med" len="med"/>
                      <a:tailEnd type="none" w="med" len="med"/>
                    </a:lnB>
                  </a:tcPr>
                </a:tc>
              </a:tr>
              <a:tr h="1529649">
                <a:tc>
                  <a:txBody>
                    <a:bodyPr anchor="t" rtlCol="false"/>
                    <a:lstStyle/>
                    <a:p>
                      <a:pPr algn="ctr">
                        <a:lnSpc>
                          <a:spcPts val="2519"/>
                        </a:lnSpc>
                        <a:defRPr/>
                      </a:pPr>
                      <a:r>
                        <a:rPr lang="en-US" sz="1799">
                          <a:solidFill>
                            <a:srgbClr val="000000"/>
                          </a:solidFill>
                          <a:latin typeface="Muli"/>
                          <a:ea typeface="Muli"/>
                          <a:cs typeface="Muli"/>
                          <a:sym typeface="Muli"/>
                        </a:rPr>
                        <a:t> Nature.com</a:t>
                      </a:r>
                      <a:endParaRPr lang="en-US" sz="1100"/>
                    </a:p>
                    <a:p>
                      <a:pPr algn="ctr">
                        <a:lnSpc>
                          <a:spcPts val="2519"/>
                        </a:lnSpc>
                      </a:pPr>
                      <a:r>
                        <a:rPr lang="en-US" sz="1799">
                          <a:solidFill>
                            <a:srgbClr val="000000"/>
                          </a:solidFill>
                          <a:latin typeface="Muli"/>
                          <a:ea typeface="Muli"/>
                          <a:cs typeface="Muli"/>
                          <a:sym typeface="Muli"/>
                        </a:rPr>
                        <a:t>https://www.nature.com/articles/s44184-024-00097-4</a:t>
                      </a:r>
                    </a:p>
                  </a:txBody>
                  <a:tcPr marL="190500" marR="190500" marT="190500" marB="190500" anchor="ctr">
                    <a:lnL cmpd="sng" algn="ctr" cap="flat" w="33867">
                      <a:solidFill>
                        <a:srgbClr val="000000"/>
                      </a:solidFill>
                      <a:prstDash val="solid"/>
                      <a:round/>
                      <a:headEnd type="none" w="med" len="med"/>
                      <a:tailEnd type="none" w="med" len="med"/>
                    </a:lnL>
                    <a:lnR cmpd="sng" algn="ctr" cap="flat" w="33867">
                      <a:solidFill>
                        <a:srgbClr val="000000"/>
                      </a:solidFill>
                      <a:prstDash val="solid"/>
                      <a:round/>
                      <a:headEnd type="none" w="med" len="med"/>
                      <a:tailEnd type="none" w="med" len="med"/>
                    </a:lnR>
                    <a:lnT cmpd="sng" algn="ctr" cap="flat" w="33867">
                      <a:solidFill>
                        <a:srgbClr val="000000"/>
                      </a:solidFill>
                      <a:prstDash val="solid"/>
                      <a:round/>
                      <a:headEnd type="none" w="med" len="med"/>
                      <a:tailEnd type="none" w="med" len="med"/>
                    </a:lnT>
                    <a:lnB cmpd="sng" algn="ctr" cap="flat" w="33867">
                      <a:solidFill>
                        <a:srgbClr val="000000"/>
                      </a:solidFill>
                      <a:prstDash val="solid"/>
                      <a:round/>
                      <a:headEnd type="none" w="med" len="med"/>
                      <a:tailEnd type="none" w="med" len="med"/>
                    </a:lnB>
                  </a:tcPr>
                </a:tc>
                <a:tc>
                  <a:txBody>
                    <a:bodyPr anchor="t" rtlCol="false"/>
                    <a:lstStyle/>
                    <a:p>
                      <a:pPr algn="ctr">
                        <a:lnSpc>
                          <a:spcPts val="2519"/>
                        </a:lnSpc>
                        <a:defRPr/>
                      </a:pPr>
                      <a:r>
                        <a:rPr lang="en-US" sz="1799">
                          <a:solidFill>
                            <a:srgbClr val="000000"/>
                          </a:solidFill>
                          <a:latin typeface="Muli"/>
                          <a:ea typeface="Muli"/>
                          <a:cs typeface="Muli"/>
                          <a:sym typeface="Muli"/>
                        </a:rPr>
                        <a:t> Rất cao. (Bài báo 06/2024)</a:t>
                      </a:r>
                      <a:endParaRPr lang="en-US" sz="1100"/>
                    </a:p>
                  </a:txBody>
                  <a:tcPr marL="190500" marR="190500" marT="190500" marB="190500" anchor="ctr">
                    <a:lnL cmpd="sng" algn="ctr" cap="flat" w="33867">
                      <a:solidFill>
                        <a:srgbClr val="000000"/>
                      </a:solidFill>
                      <a:prstDash val="solid"/>
                      <a:round/>
                      <a:headEnd type="none" w="med" len="med"/>
                      <a:tailEnd type="none" w="med" len="med"/>
                    </a:lnL>
                    <a:lnR cmpd="sng" algn="ctr" cap="flat" w="33867">
                      <a:solidFill>
                        <a:srgbClr val="000000"/>
                      </a:solidFill>
                      <a:prstDash val="solid"/>
                      <a:round/>
                      <a:headEnd type="none" w="med" len="med"/>
                      <a:tailEnd type="none" w="med" len="med"/>
                    </a:lnR>
                    <a:lnT cmpd="sng" algn="ctr" cap="flat" w="33867">
                      <a:solidFill>
                        <a:srgbClr val="000000"/>
                      </a:solidFill>
                      <a:prstDash val="solid"/>
                      <a:round/>
                      <a:headEnd type="none" w="med" len="med"/>
                      <a:tailEnd type="none" w="med" len="med"/>
                    </a:lnT>
                    <a:lnB cmpd="sng" algn="ctr" cap="flat" w="33867">
                      <a:solidFill>
                        <a:srgbClr val="000000"/>
                      </a:solidFill>
                      <a:prstDash val="solid"/>
                      <a:round/>
                      <a:headEnd type="none" w="med" len="med"/>
                      <a:tailEnd type="none" w="med" len="med"/>
                    </a:lnB>
                  </a:tcPr>
                </a:tc>
                <a:tc>
                  <a:txBody>
                    <a:bodyPr anchor="t" rtlCol="false"/>
                    <a:lstStyle/>
                    <a:p>
                      <a:pPr algn="ctr">
                        <a:lnSpc>
                          <a:spcPts val="2519"/>
                        </a:lnSpc>
                        <a:defRPr/>
                      </a:pPr>
                      <a:r>
                        <a:rPr lang="en-US" sz="1799">
                          <a:solidFill>
                            <a:srgbClr val="000000"/>
                          </a:solidFill>
                          <a:latin typeface="Muli"/>
                          <a:ea typeface="Muli"/>
                          <a:cs typeface="Muli"/>
                          <a:sym typeface="Muli"/>
                        </a:rPr>
                        <a:t> Rất cao. (Generative AI trong phân phối thuốc)</a:t>
                      </a:r>
                      <a:endParaRPr lang="en-US" sz="1100"/>
                    </a:p>
                  </a:txBody>
                  <a:tcPr marL="190500" marR="190500" marT="190500" marB="190500" anchor="ctr">
                    <a:lnL cmpd="sng" algn="ctr" cap="flat" w="33867">
                      <a:solidFill>
                        <a:srgbClr val="000000"/>
                      </a:solidFill>
                      <a:prstDash val="solid"/>
                      <a:round/>
                      <a:headEnd type="none" w="med" len="med"/>
                      <a:tailEnd type="none" w="med" len="med"/>
                    </a:lnL>
                    <a:lnR cmpd="sng" algn="ctr" cap="flat" w="33867">
                      <a:solidFill>
                        <a:srgbClr val="000000"/>
                      </a:solidFill>
                      <a:prstDash val="solid"/>
                      <a:round/>
                      <a:headEnd type="none" w="med" len="med"/>
                      <a:tailEnd type="none" w="med" len="med"/>
                    </a:lnR>
                    <a:lnT cmpd="sng" algn="ctr" cap="flat" w="33867">
                      <a:solidFill>
                        <a:srgbClr val="000000"/>
                      </a:solidFill>
                      <a:prstDash val="solid"/>
                      <a:round/>
                      <a:headEnd type="none" w="med" len="med"/>
                      <a:tailEnd type="none" w="med" len="med"/>
                    </a:lnT>
                    <a:lnB cmpd="sng" algn="ctr" cap="flat" w="33867">
                      <a:solidFill>
                        <a:srgbClr val="000000"/>
                      </a:solidFill>
                      <a:prstDash val="solid"/>
                      <a:round/>
                      <a:headEnd type="none" w="med" len="med"/>
                      <a:tailEnd type="none" w="med" len="med"/>
                    </a:lnB>
                  </a:tcPr>
                </a:tc>
                <a:tc>
                  <a:txBody>
                    <a:bodyPr anchor="t" rtlCol="false"/>
                    <a:lstStyle/>
                    <a:p>
                      <a:pPr algn="ctr">
                        <a:lnSpc>
                          <a:spcPts val="2519"/>
                        </a:lnSpc>
                        <a:defRPr/>
                      </a:pPr>
                      <a:r>
                        <a:rPr lang="en-US" sz="1799">
                          <a:solidFill>
                            <a:srgbClr val="000000"/>
                          </a:solidFill>
                          <a:latin typeface="Muli"/>
                          <a:ea typeface="Muli"/>
                          <a:cs typeface="Muli"/>
                          <a:sym typeface="Muli"/>
                        </a:rPr>
                        <a:t> Học thuật / Thông tin. (Cung cấp kiến thức mới)</a:t>
                      </a:r>
                      <a:endParaRPr lang="en-US" sz="1100"/>
                    </a:p>
                  </a:txBody>
                  <a:tcPr marL="190500" marR="190500" marT="190500" marB="190500" anchor="ctr">
                    <a:lnL cmpd="sng" algn="ctr" cap="flat" w="33867">
                      <a:solidFill>
                        <a:srgbClr val="000000"/>
                      </a:solidFill>
                      <a:prstDash val="solid"/>
                      <a:round/>
                      <a:headEnd type="none" w="med" len="med"/>
                      <a:tailEnd type="none" w="med" len="med"/>
                    </a:lnL>
                    <a:lnR cmpd="sng" algn="ctr" cap="flat" w="33867">
                      <a:solidFill>
                        <a:srgbClr val="000000"/>
                      </a:solidFill>
                      <a:prstDash val="solid"/>
                      <a:round/>
                      <a:headEnd type="none" w="med" len="med"/>
                      <a:tailEnd type="none" w="med" len="med"/>
                    </a:lnR>
                    <a:lnT cmpd="sng" algn="ctr" cap="flat" w="33867">
                      <a:solidFill>
                        <a:srgbClr val="000000"/>
                      </a:solidFill>
                      <a:prstDash val="solid"/>
                      <a:round/>
                      <a:headEnd type="none" w="med" len="med"/>
                      <a:tailEnd type="none" w="med" len="med"/>
                    </a:lnT>
                    <a:lnB cmpd="sng" algn="ctr" cap="flat" w="33867">
                      <a:solidFill>
                        <a:srgbClr val="000000"/>
                      </a:solidFill>
                      <a:prstDash val="solid"/>
                      <a:round/>
                      <a:headEnd type="none" w="med" len="med"/>
                      <a:tailEnd type="none" w="med" len="med"/>
                    </a:lnB>
                  </a:tcPr>
                </a:tc>
                <a:tc>
                  <a:txBody>
                    <a:bodyPr anchor="t" rtlCol="false"/>
                    <a:lstStyle/>
                    <a:p>
                      <a:pPr algn="ctr">
                        <a:lnSpc>
                          <a:spcPts val="2519"/>
                        </a:lnSpc>
                        <a:defRPr/>
                      </a:pPr>
                      <a:r>
                        <a:rPr lang="en-US" sz="1799">
                          <a:solidFill>
                            <a:srgbClr val="000000"/>
                          </a:solidFill>
                          <a:latin typeface="Muli"/>
                          <a:ea typeface="Muli"/>
                          <a:cs typeface="Muli"/>
                          <a:sym typeface="Muli"/>
                        </a:rPr>
                        <a:t> Rất cao. (Kiểm định khoa học, có trích dẫn)</a:t>
                      </a:r>
                      <a:endParaRPr lang="en-US" sz="1100"/>
                    </a:p>
                  </a:txBody>
                  <a:tcPr marL="190500" marR="190500" marT="190500" marB="190500" anchor="ctr">
                    <a:lnL cmpd="sng" algn="ctr" cap="flat" w="33867">
                      <a:solidFill>
                        <a:srgbClr val="000000"/>
                      </a:solidFill>
                      <a:prstDash val="solid"/>
                      <a:round/>
                      <a:headEnd type="none" w="med" len="med"/>
                      <a:tailEnd type="none" w="med" len="med"/>
                    </a:lnL>
                    <a:lnR cmpd="sng" algn="ctr" cap="flat" w="33867">
                      <a:solidFill>
                        <a:srgbClr val="000000"/>
                      </a:solidFill>
                      <a:prstDash val="solid"/>
                      <a:round/>
                      <a:headEnd type="none" w="med" len="med"/>
                      <a:tailEnd type="none" w="med" len="med"/>
                    </a:lnR>
                    <a:lnT cmpd="sng" algn="ctr" cap="flat" w="33867">
                      <a:solidFill>
                        <a:srgbClr val="000000"/>
                      </a:solidFill>
                      <a:prstDash val="solid"/>
                      <a:round/>
                      <a:headEnd type="none" w="med" len="med"/>
                      <a:tailEnd type="none" w="med" len="med"/>
                    </a:lnT>
                    <a:lnB cmpd="sng" algn="ctr" cap="flat" w="33867">
                      <a:solidFill>
                        <a:srgbClr val="000000"/>
                      </a:solidFill>
                      <a:prstDash val="solid"/>
                      <a:round/>
                      <a:headEnd type="none" w="med" len="med"/>
                      <a:tailEnd type="none" w="med" len="med"/>
                    </a:lnB>
                  </a:tcPr>
                </a:tc>
                <a:tc>
                  <a:txBody>
                    <a:bodyPr anchor="t" rtlCol="false"/>
                    <a:lstStyle/>
                    <a:p>
                      <a:pPr algn="ctr">
                        <a:lnSpc>
                          <a:spcPts val="2519"/>
                        </a:lnSpc>
                        <a:defRPr/>
                      </a:pPr>
                      <a:r>
                        <a:rPr lang="en-US" sz="1799">
                          <a:solidFill>
                            <a:srgbClr val="000000"/>
                          </a:solidFill>
                          <a:latin typeface="Muli"/>
                          <a:ea typeface="Muli"/>
                          <a:cs typeface="Muli"/>
                          <a:sym typeface="Muli"/>
                        </a:rPr>
                        <a:t> Rất cao. (Tạp chí Nature, đã bình duyệt)</a:t>
                      </a:r>
                      <a:endParaRPr lang="en-US" sz="1100"/>
                    </a:p>
                  </a:txBody>
                  <a:tcPr marL="190500" marR="190500" marT="190500" marB="190500" anchor="ctr">
                    <a:lnL cmpd="sng" algn="ctr" cap="flat" w="33867">
                      <a:solidFill>
                        <a:srgbClr val="000000"/>
                      </a:solidFill>
                      <a:prstDash val="solid"/>
                      <a:round/>
                      <a:headEnd type="none" w="med" len="med"/>
                      <a:tailEnd type="none" w="med" len="med"/>
                    </a:lnL>
                    <a:lnR cmpd="sng" algn="ctr" cap="flat" w="33867">
                      <a:solidFill>
                        <a:srgbClr val="000000"/>
                      </a:solidFill>
                      <a:prstDash val="solid"/>
                      <a:round/>
                      <a:headEnd type="none" w="med" len="med"/>
                      <a:tailEnd type="none" w="med" len="med"/>
                    </a:lnR>
                    <a:lnT cmpd="sng" algn="ctr" cap="flat" w="33867">
                      <a:solidFill>
                        <a:srgbClr val="000000"/>
                      </a:solidFill>
                      <a:prstDash val="solid"/>
                      <a:round/>
                      <a:headEnd type="none" w="med" len="med"/>
                      <a:tailEnd type="none" w="med" len="med"/>
                    </a:lnT>
                    <a:lnB cmpd="sng" algn="ctr" cap="flat" w="33867">
                      <a:solidFill>
                        <a:srgbClr val="000000"/>
                      </a:solidFill>
                      <a:prstDash val="solid"/>
                      <a:round/>
                      <a:headEnd type="none" w="med" len="med"/>
                      <a:tailEnd type="none" w="med" len="med"/>
                    </a:lnB>
                  </a:tcPr>
                </a:tc>
              </a:tr>
              <a:tr h="1249213">
                <a:tc>
                  <a:txBody>
                    <a:bodyPr anchor="t" rtlCol="false"/>
                    <a:lstStyle/>
                    <a:p>
                      <a:pPr algn="ctr">
                        <a:lnSpc>
                          <a:spcPts val="1679"/>
                        </a:lnSpc>
                        <a:defRPr/>
                      </a:pPr>
                      <a:r>
                        <a:rPr lang="en-US" sz="1199">
                          <a:solidFill>
                            <a:srgbClr val="000000"/>
                          </a:solidFill>
                          <a:latin typeface="Muli"/>
                          <a:ea typeface="Muli"/>
                          <a:cs typeface="Muli"/>
                          <a:sym typeface="Muli"/>
                        </a:rPr>
                        <a:t> Scholar DLU (ĐH Đà Lạt)</a:t>
                      </a:r>
                      <a:endParaRPr lang="en-US" sz="1100"/>
                    </a:p>
                    <a:p>
                      <a:pPr algn="ctr">
                        <a:lnSpc>
                          <a:spcPts val="1679"/>
                        </a:lnSpc>
                      </a:pPr>
                      <a:r>
                        <a:rPr lang="en-US" sz="1199">
                          <a:solidFill>
                            <a:srgbClr val="000000"/>
                          </a:solidFill>
                          <a:latin typeface="Muli"/>
                          <a:ea typeface="Muli"/>
                          <a:cs typeface="Muli"/>
                          <a:sym typeface="Muli"/>
                        </a:rPr>
                        <a:t>https://scholar.dlu.edu.vn/thuvienso/bitstream/DLU123456789/134645/1/CVv416V38S012020024.pdf</a:t>
                      </a:r>
                    </a:p>
                  </a:txBody>
                  <a:tcPr marL="190500" marR="190500" marT="190500" marB="190500" anchor="ctr">
                    <a:lnL cmpd="sng" algn="ctr" cap="flat" w="33867">
                      <a:solidFill>
                        <a:srgbClr val="000000"/>
                      </a:solidFill>
                      <a:prstDash val="solid"/>
                      <a:round/>
                      <a:headEnd type="none" w="med" len="med"/>
                      <a:tailEnd type="none" w="med" len="med"/>
                    </a:lnL>
                    <a:lnR cmpd="sng" algn="ctr" cap="flat" w="33867">
                      <a:solidFill>
                        <a:srgbClr val="000000"/>
                      </a:solidFill>
                      <a:prstDash val="solid"/>
                      <a:round/>
                      <a:headEnd type="none" w="med" len="med"/>
                      <a:tailEnd type="none" w="med" len="med"/>
                    </a:lnR>
                    <a:lnT cmpd="sng" algn="ctr" cap="flat" w="33867">
                      <a:solidFill>
                        <a:srgbClr val="000000"/>
                      </a:solidFill>
                      <a:prstDash val="solid"/>
                      <a:round/>
                      <a:headEnd type="none" w="med" len="med"/>
                      <a:tailEnd type="none" w="med" len="med"/>
                    </a:lnT>
                    <a:lnB cmpd="sng" algn="ctr" cap="flat" w="33867">
                      <a:solidFill>
                        <a:srgbClr val="000000"/>
                      </a:solidFill>
                      <a:prstDash val="solid"/>
                      <a:round/>
                      <a:headEnd type="none" w="med" len="med"/>
                      <a:tailEnd type="none" w="med" len="med"/>
                    </a:lnB>
                  </a:tcPr>
                </a:tc>
                <a:tc>
                  <a:txBody>
                    <a:bodyPr anchor="t" rtlCol="false"/>
                    <a:lstStyle/>
                    <a:p>
                      <a:pPr algn="ctr">
                        <a:lnSpc>
                          <a:spcPts val="2519"/>
                        </a:lnSpc>
                        <a:defRPr/>
                      </a:pPr>
                      <a:r>
                        <a:rPr lang="en-US" sz="1799">
                          <a:solidFill>
                            <a:srgbClr val="000000"/>
                          </a:solidFill>
                          <a:latin typeface="Muli"/>
                          <a:ea typeface="Muli"/>
                          <a:cs typeface="Muli"/>
                          <a:sym typeface="Muli"/>
                        </a:rPr>
                        <a:t> Trung bình. (Bài báo năm 2020)</a:t>
                      </a:r>
                      <a:endParaRPr lang="en-US" sz="1100"/>
                    </a:p>
                  </a:txBody>
                  <a:tcPr marL="190500" marR="190500" marT="190500" marB="190500" anchor="ctr">
                    <a:lnL cmpd="sng" algn="ctr" cap="flat" w="33867">
                      <a:solidFill>
                        <a:srgbClr val="000000"/>
                      </a:solidFill>
                      <a:prstDash val="solid"/>
                      <a:round/>
                      <a:headEnd type="none" w="med" len="med"/>
                      <a:tailEnd type="none" w="med" len="med"/>
                    </a:lnL>
                    <a:lnR cmpd="sng" algn="ctr" cap="flat" w="33867">
                      <a:solidFill>
                        <a:srgbClr val="000000"/>
                      </a:solidFill>
                      <a:prstDash val="solid"/>
                      <a:round/>
                      <a:headEnd type="none" w="med" len="med"/>
                      <a:tailEnd type="none" w="med" len="med"/>
                    </a:lnR>
                    <a:lnT cmpd="sng" algn="ctr" cap="flat" w="33867">
                      <a:solidFill>
                        <a:srgbClr val="000000"/>
                      </a:solidFill>
                      <a:prstDash val="solid"/>
                      <a:round/>
                      <a:headEnd type="none" w="med" len="med"/>
                      <a:tailEnd type="none" w="med" len="med"/>
                    </a:lnT>
                    <a:lnB cmpd="sng" algn="ctr" cap="flat" w="33867">
                      <a:solidFill>
                        <a:srgbClr val="000000"/>
                      </a:solidFill>
                      <a:prstDash val="solid"/>
                      <a:round/>
                      <a:headEnd type="none" w="med" len="med"/>
                      <a:tailEnd type="none" w="med" len="med"/>
                    </a:lnB>
                  </a:tcPr>
                </a:tc>
                <a:tc>
                  <a:txBody>
                    <a:bodyPr anchor="t" rtlCol="false"/>
                    <a:lstStyle/>
                    <a:p>
                      <a:pPr algn="ctr">
                        <a:lnSpc>
                          <a:spcPts val="2519"/>
                        </a:lnSpc>
                        <a:defRPr/>
                      </a:pPr>
                      <a:r>
                        <a:rPr lang="en-US" sz="1799">
                          <a:solidFill>
                            <a:srgbClr val="000000"/>
                          </a:solidFill>
                          <a:latin typeface="Muli"/>
                          <a:ea typeface="Muli"/>
                          <a:cs typeface="Muli"/>
                          <a:sym typeface="Muli"/>
                        </a:rPr>
                        <a:t> Rất cao. (AI trong y tế tại Việt Nam)</a:t>
                      </a:r>
                      <a:endParaRPr lang="en-US" sz="1100"/>
                    </a:p>
                  </a:txBody>
                  <a:tcPr marL="190500" marR="190500" marT="190500" marB="190500" anchor="ctr">
                    <a:lnL cmpd="sng" algn="ctr" cap="flat" w="33867">
                      <a:solidFill>
                        <a:srgbClr val="000000"/>
                      </a:solidFill>
                      <a:prstDash val="solid"/>
                      <a:round/>
                      <a:headEnd type="none" w="med" len="med"/>
                      <a:tailEnd type="none" w="med" len="med"/>
                    </a:lnL>
                    <a:lnR cmpd="sng" algn="ctr" cap="flat" w="33867">
                      <a:solidFill>
                        <a:srgbClr val="000000"/>
                      </a:solidFill>
                      <a:prstDash val="solid"/>
                      <a:round/>
                      <a:headEnd type="none" w="med" len="med"/>
                      <a:tailEnd type="none" w="med" len="med"/>
                    </a:lnR>
                    <a:lnT cmpd="sng" algn="ctr" cap="flat" w="33867">
                      <a:solidFill>
                        <a:srgbClr val="000000"/>
                      </a:solidFill>
                      <a:prstDash val="solid"/>
                      <a:round/>
                      <a:headEnd type="none" w="med" len="med"/>
                      <a:tailEnd type="none" w="med" len="med"/>
                    </a:lnT>
                    <a:lnB cmpd="sng" algn="ctr" cap="flat" w="33867">
                      <a:solidFill>
                        <a:srgbClr val="000000"/>
                      </a:solidFill>
                      <a:prstDash val="solid"/>
                      <a:round/>
                      <a:headEnd type="none" w="med" len="med"/>
                      <a:tailEnd type="none" w="med" len="med"/>
                    </a:lnB>
                  </a:tcPr>
                </a:tc>
                <a:tc>
                  <a:txBody>
                    <a:bodyPr anchor="t" rtlCol="false"/>
                    <a:lstStyle/>
                    <a:p>
                      <a:pPr algn="ctr">
                        <a:lnSpc>
                          <a:spcPts val="2519"/>
                        </a:lnSpc>
                        <a:defRPr/>
                      </a:pPr>
                      <a:r>
                        <a:rPr lang="en-US" sz="1799">
                          <a:solidFill>
                            <a:srgbClr val="000000"/>
                          </a:solidFill>
                          <a:latin typeface="Muli"/>
                          <a:ea typeface="Muli"/>
                          <a:cs typeface="Muli"/>
                          <a:sym typeface="Muli"/>
                        </a:rPr>
                        <a:t> Học thuật / Thông tin. (Tổng quan tình hình VN)</a:t>
                      </a:r>
                      <a:endParaRPr lang="en-US" sz="1100"/>
                    </a:p>
                  </a:txBody>
                  <a:tcPr marL="190500" marR="190500" marT="190500" marB="190500" anchor="ctr">
                    <a:lnL cmpd="sng" algn="ctr" cap="flat" w="33867">
                      <a:solidFill>
                        <a:srgbClr val="000000"/>
                      </a:solidFill>
                      <a:prstDash val="solid"/>
                      <a:round/>
                      <a:headEnd type="none" w="med" len="med"/>
                      <a:tailEnd type="none" w="med" len="med"/>
                    </a:lnL>
                    <a:lnR cmpd="sng" algn="ctr" cap="flat" w="33867">
                      <a:solidFill>
                        <a:srgbClr val="000000"/>
                      </a:solidFill>
                      <a:prstDash val="solid"/>
                      <a:round/>
                      <a:headEnd type="none" w="med" len="med"/>
                      <a:tailEnd type="none" w="med" len="med"/>
                    </a:lnR>
                    <a:lnT cmpd="sng" algn="ctr" cap="flat" w="33867">
                      <a:solidFill>
                        <a:srgbClr val="000000"/>
                      </a:solidFill>
                      <a:prstDash val="solid"/>
                      <a:round/>
                      <a:headEnd type="none" w="med" len="med"/>
                      <a:tailEnd type="none" w="med" len="med"/>
                    </a:lnT>
                    <a:lnB cmpd="sng" algn="ctr" cap="flat" w="33867">
                      <a:solidFill>
                        <a:srgbClr val="000000"/>
                      </a:solidFill>
                      <a:prstDash val="solid"/>
                      <a:round/>
                      <a:headEnd type="none" w="med" len="med"/>
                      <a:tailEnd type="none" w="med" len="med"/>
                    </a:lnB>
                  </a:tcPr>
                </a:tc>
                <a:tc>
                  <a:txBody>
                    <a:bodyPr anchor="t" rtlCol="false"/>
                    <a:lstStyle/>
                    <a:p>
                      <a:pPr algn="ctr">
                        <a:lnSpc>
                          <a:spcPts val="2519"/>
                        </a:lnSpc>
                        <a:defRPr/>
                      </a:pPr>
                      <a:r>
                        <a:rPr lang="en-US" sz="1799">
                          <a:solidFill>
                            <a:srgbClr val="000000"/>
                          </a:solidFill>
                          <a:latin typeface="Muli"/>
                          <a:ea typeface="Muli"/>
                          <a:cs typeface="Muli"/>
                          <a:sym typeface="Muli"/>
                        </a:rPr>
                        <a:t> Cao. (Bài tổng quan học thuật)</a:t>
                      </a:r>
                      <a:endParaRPr lang="en-US" sz="1100"/>
                    </a:p>
                  </a:txBody>
                  <a:tcPr marL="190500" marR="190500" marT="190500" marB="190500" anchor="ctr">
                    <a:lnL cmpd="sng" algn="ctr" cap="flat" w="33867">
                      <a:solidFill>
                        <a:srgbClr val="000000"/>
                      </a:solidFill>
                      <a:prstDash val="solid"/>
                      <a:round/>
                      <a:headEnd type="none" w="med" len="med"/>
                      <a:tailEnd type="none" w="med" len="med"/>
                    </a:lnL>
                    <a:lnR cmpd="sng" algn="ctr" cap="flat" w="33867">
                      <a:solidFill>
                        <a:srgbClr val="000000"/>
                      </a:solidFill>
                      <a:prstDash val="solid"/>
                      <a:round/>
                      <a:headEnd type="none" w="med" len="med"/>
                      <a:tailEnd type="none" w="med" len="med"/>
                    </a:lnR>
                    <a:lnT cmpd="sng" algn="ctr" cap="flat" w="33867">
                      <a:solidFill>
                        <a:srgbClr val="000000"/>
                      </a:solidFill>
                      <a:prstDash val="solid"/>
                      <a:round/>
                      <a:headEnd type="none" w="med" len="med"/>
                      <a:tailEnd type="none" w="med" len="med"/>
                    </a:lnT>
                    <a:lnB cmpd="sng" algn="ctr" cap="flat" w="33867">
                      <a:solidFill>
                        <a:srgbClr val="000000"/>
                      </a:solidFill>
                      <a:prstDash val="solid"/>
                      <a:round/>
                      <a:headEnd type="none" w="med" len="med"/>
                      <a:tailEnd type="none" w="med" len="med"/>
                    </a:lnB>
                  </a:tcPr>
                </a:tc>
                <a:tc>
                  <a:txBody>
                    <a:bodyPr anchor="t" rtlCol="false"/>
                    <a:lstStyle/>
                    <a:p>
                      <a:pPr algn="ctr">
                        <a:lnSpc>
                          <a:spcPts val="2519"/>
                        </a:lnSpc>
                        <a:defRPr/>
                      </a:pPr>
                      <a:r>
                        <a:rPr lang="en-US" sz="1799">
                          <a:solidFill>
                            <a:srgbClr val="000000"/>
                          </a:solidFill>
                          <a:latin typeface="Muli"/>
                          <a:ea typeface="Muli"/>
                          <a:cs typeface="Muli"/>
                          <a:sym typeface="Muli"/>
                        </a:rPr>
                        <a:t> Cao. (Tạp chí khoa học ĐH Đà Lạt)</a:t>
                      </a:r>
                      <a:endParaRPr lang="en-US" sz="1100"/>
                    </a:p>
                  </a:txBody>
                  <a:tcPr marL="190500" marR="190500" marT="190500" marB="190500" anchor="ctr">
                    <a:lnL cmpd="sng" algn="ctr" cap="flat" w="33867">
                      <a:solidFill>
                        <a:srgbClr val="000000"/>
                      </a:solidFill>
                      <a:prstDash val="solid"/>
                      <a:round/>
                      <a:headEnd type="none" w="med" len="med"/>
                      <a:tailEnd type="none" w="med" len="med"/>
                    </a:lnL>
                    <a:lnR cmpd="sng" algn="ctr" cap="flat" w="33867">
                      <a:solidFill>
                        <a:srgbClr val="000000"/>
                      </a:solidFill>
                      <a:prstDash val="solid"/>
                      <a:round/>
                      <a:headEnd type="none" w="med" len="med"/>
                      <a:tailEnd type="none" w="med" len="med"/>
                    </a:lnR>
                    <a:lnT cmpd="sng" algn="ctr" cap="flat" w="33867">
                      <a:solidFill>
                        <a:srgbClr val="000000"/>
                      </a:solidFill>
                      <a:prstDash val="solid"/>
                      <a:round/>
                      <a:headEnd type="none" w="med" len="med"/>
                      <a:tailEnd type="none" w="med" len="med"/>
                    </a:lnT>
                    <a:lnB cmpd="sng" algn="ctr" cap="flat" w="33867">
                      <a:solidFill>
                        <a:srgbClr val="000000"/>
                      </a:solidFill>
                      <a:prstDash val="solid"/>
                      <a:round/>
                      <a:headEnd type="none" w="med" len="med"/>
                      <a:tailEnd type="none" w="med" len="med"/>
                    </a:lnB>
                  </a:tcPr>
                </a:tc>
              </a:tr>
              <a:tr h="2090520">
                <a:tc>
                  <a:txBody>
                    <a:bodyPr anchor="t" rtlCol="false"/>
                    <a:lstStyle/>
                    <a:p>
                      <a:pPr algn="ctr">
                        <a:lnSpc>
                          <a:spcPts val="1120"/>
                        </a:lnSpc>
                        <a:defRPr/>
                      </a:pPr>
                      <a:r>
                        <a:rPr lang="en-US" sz="800">
                          <a:solidFill>
                            <a:srgbClr val="000000"/>
                          </a:solidFill>
                          <a:latin typeface="Muli"/>
                          <a:ea typeface="Muli"/>
                          <a:cs typeface="Muli"/>
                          <a:sym typeface="Muli"/>
                        </a:rPr>
                        <a:t> Bộ Y Tế (MOH)</a:t>
                      </a:r>
                      <a:endParaRPr lang="en-US" sz="1100"/>
                    </a:p>
                    <a:p>
                      <a:pPr algn="ctr">
                        <a:lnSpc>
                          <a:spcPts val="1120"/>
                        </a:lnSpc>
                      </a:pPr>
                      <a:r>
                        <a:rPr lang="en-US" sz="800">
                          <a:solidFill>
                            <a:srgbClr val="000000"/>
                          </a:solidFill>
                          <a:latin typeface="Muli"/>
                          <a:ea typeface="Muli"/>
                          <a:cs typeface="Muli"/>
                          <a:sym typeface="Muli"/>
                        </a:rPr>
                        <a:t>https://moh.gov.vn/su-kien-y-te-noi-bat/-/asset_publisher/8EeXRtRENhb6/content/tich-hop-tri-tue-nhan-tao-vao-cham-soc-suc-khoe-co-hoi-va-thach-thuc?inheritRedirect=false&amp;redirect=https%3A%2F%2Fmoh.gov.vn%3A443%2Fsu-kien-y-te-noi-bat%3Fp_p_id%3D101_INSTANCE_8EeXRtRENhb6%26p_p_lifecycle%3D0%26p_p_state%3Dnormal%26p_p_mode%3Dview%26p_p_col_id%3Drow-0-column-2%26p_p_col_count%3D1%26_101_INSTANCE_8EeXRtRENhb6_advancedSearch%3Dfalse%26_101_INSTANCE_8EeXRtRENhb6_keywords%3D%26_101_INSTANCE_8EeXRtRENhb6_delta%3D20%26p_r_p_564233524_resetCur%3Dfalse%26_101_INSTANCE_8EeXRtRENhb6_cur%3D2%26_101_INSTANCE_8EeXRtRENhb6_andOperator%3Dtrue</a:t>
                      </a:r>
                    </a:p>
                    <a:p>
                      <a:pPr algn="ctr">
                        <a:lnSpc>
                          <a:spcPts val="1120"/>
                        </a:lnSpc>
                      </a:pPr>
                    </a:p>
                  </a:txBody>
                  <a:tcPr marL="190500" marR="190500" marT="190500" marB="190500" anchor="ctr">
                    <a:lnL cmpd="sng" algn="ctr" cap="flat" w="33867">
                      <a:solidFill>
                        <a:srgbClr val="000000"/>
                      </a:solidFill>
                      <a:prstDash val="solid"/>
                      <a:round/>
                      <a:headEnd type="none" w="med" len="med"/>
                      <a:tailEnd type="none" w="med" len="med"/>
                    </a:lnL>
                    <a:lnR cmpd="sng" algn="ctr" cap="flat" w="33867">
                      <a:solidFill>
                        <a:srgbClr val="000000"/>
                      </a:solidFill>
                      <a:prstDash val="solid"/>
                      <a:round/>
                      <a:headEnd type="none" w="med" len="med"/>
                      <a:tailEnd type="none" w="med" len="med"/>
                    </a:lnR>
                    <a:lnT cmpd="sng" algn="ctr" cap="flat" w="33867">
                      <a:solidFill>
                        <a:srgbClr val="000000"/>
                      </a:solidFill>
                      <a:prstDash val="solid"/>
                      <a:round/>
                      <a:headEnd type="none" w="med" len="med"/>
                      <a:tailEnd type="none" w="med" len="med"/>
                    </a:lnT>
                    <a:lnB cmpd="sng" algn="ctr" cap="flat" w="33867">
                      <a:solidFill>
                        <a:srgbClr val="000000"/>
                      </a:solidFill>
                      <a:prstDash val="solid"/>
                      <a:round/>
                      <a:headEnd type="none" w="med" len="med"/>
                      <a:tailEnd type="none" w="med" len="med"/>
                    </a:lnB>
                  </a:tcPr>
                </a:tc>
                <a:tc>
                  <a:txBody>
                    <a:bodyPr anchor="t" rtlCol="false"/>
                    <a:lstStyle/>
                    <a:p>
                      <a:pPr algn="ctr">
                        <a:lnSpc>
                          <a:spcPts val="2519"/>
                        </a:lnSpc>
                        <a:defRPr/>
                      </a:pPr>
                      <a:r>
                        <a:rPr lang="en-US" sz="1799">
                          <a:solidFill>
                            <a:srgbClr val="000000"/>
                          </a:solidFill>
                          <a:latin typeface="Muli"/>
                          <a:ea typeface="Muli"/>
                          <a:cs typeface="Muli"/>
                          <a:sym typeface="Muli"/>
                        </a:rPr>
                        <a:t> Cao. (Bài đăng 12/2023)</a:t>
                      </a:r>
                      <a:endParaRPr lang="en-US" sz="1100"/>
                    </a:p>
                  </a:txBody>
                  <a:tcPr marL="190500" marR="190500" marT="190500" marB="190500" anchor="ctr">
                    <a:lnL cmpd="sng" algn="ctr" cap="flat" w="33867">
                      <a:solidFill>
                        <a:srgbClr val="000000"/>
                      </a:solidFill>
                      <a:prstDash val="solid"/>
                      <a:round/>
                      <a:headEnd type="none" w="med" len="med"/>
                      <a:tailEnd type="none" w="med" len="med"/>
                    </a:lnL>
                    <a:lnR cmpd="sng" algn="ctr" cap="flat" w="33867">
                      <a:solidFill>
                        <a:srgbClr val="000000"/>
                      </a:solidFill>
                      <a:prstDash val="solid"/>
                      <a:round/>
                      <a:headEnd type="none" w="med" len="med"/>
                      <a:tailEnd type="none" w="med" len="med"/>
                    </a:lnR>
                    <a:lnT cmpd="sng" algn="ctr" cap="flat" w="33867">
                      <a:solidFill>
                        <a:srgbClr val="000000"/>
                      </a:solidFill>
                      <a:prstDash val="solid"/>
                      <a:round/>
                      <a:headEnd type="none" w="med" len="med"/>
                      <a:tailEnd type="none" w="med" len="med"/>
                    </a:lnT>
                    <a:lnB cmpd="sng" algn="ctr" cap="flat" w="33867">
                      <a:solidFill>
                        <a:srgbClr val="000000"/>
                      </a:solidFill>
                      <a:prstDash val="solid"/>
                      <a:round/>
                      <a:headEnd type="none" w="med" len="med"/>
                      <a:tailEnd type="none" w="med" len="med"/>
                    </a:lnB>
                  </a:tcPr>
                </a:tc>
                <a:tc>
                  <a:txBody>
                    <a:bodyPr anchor="t" rtlCol="false"/>
                    <a:lstStyle/>
                    <a:p>
                      <a:pPr algn="ctr">
                        <a:lnSpc>
                          <a:spcPts val="2519"/>
                        </a:lnSpc>
                        <a:defRPr/>
                      </a:pPr>
                      <a:r>
                        <a:rPr lang="en-US" sz="1799">
                          <a:solidFill>
                            <a:srgbClr val="000000"/>
                          </a:solidFill>
                          <a:latin typeface="Muli"/>
                          <a:ea typeface="Muli"/>
                          <a:cs typeface="Muli"/>
                          <a:sym typeface="Muli"/>
                        </a:rPr>
                        <a:t> Rất cao. (Tích hợp AI vào chăm sóc sức khỏe)</a:t>
                      </a:r>
                      <a:endParaRPr lang="en-US" sz="1100"/>
                    </a:p>
                  </a:txBody>
                  <a:tcPr marL="190500" marR="190500" marT="190500" marB="190500" anchor="ctr">
                    <a:lnL cmpd="sng" algn="ctr" cap="flat" w="33867">
                      <a:solidFill>
                        <a:srgbClr val="000000"/>
                      </a:solidFill>
                      <a:prstDash val="solid"/>
                      <a:round/>
                      <a:headEnd type="none" w="med" len="med"/>
                      <a:tailEnd type="none" w="med" len="med"/>
                    </a:lnL>
                    <a:lnR cmpd="sng" algn="ctr" cap="flat" w="33867">
                      <a:solidFill>
                        <a:srgbClr val="000000"/>
                      </a:solidFill>
                      <a:prstDash val="solid"/>
                      <a:round/>
                      <a:headEnd type="none" w="med" len="med"/>
                      <a:tailEnd type="none" w="med" len="med"/>
                    </a:lnR>
                    <a:lnT cmpd="sng" algn="ctr" cap="flat" w="33867">
                      <a:solidFill>
                        <a:srgbClr val="000000"/>
                      </a:solidFill>
                      <a:prstDash val="solid"/>
                      <a:round/>
                      <a:headEnd type="none" w="med" len="med"/>
                      <a:tailEnd type="none" w="med" len="med"/>
                    </a:lnT>
                    <a:lnB cmpd="sng" algn="ctr" cap="flat" w="33867">
                      <a:solidFill>
                        <a:srgbClr val="000000"/>
                      </a:solidFill>
                      <a:prstDash val="solid"/>
                      <a:round/>
                      <a:headEnd type="none" w="med" len="med"/>
                      <a:tailEnd type="none" w="med" len="med"/>
                    </a:lnB>
                  </a:tcPr>
                </a:tc>
                <a:tc>
                  <a:txBody>
                    <a:bodyPr anchor="t" rtlCol="false"/>
                    <a:lstStyle/>
                    <a:p>
                      <a:pPr algn="ctr">
                        <a:lnSpc>
                          <a:spcPts val="2519"/>
                        </a:lnSpc>
                        <a:defRPr/>
                      </a:pPr>
                      <a:r>
                        <a:rPr lang="en-US" sz="1799">
                          <a:solidFill>
                            <a:srgbClr val="000000"/>
                          </a:solidFill>
                          <a:latin typeface="Muli"/>
                          <a:ea typeface="Muli"/>
                          <a:cs typeface="Muli"/>
                          <a:sym typeface="Muli"/>
                        </a:rPr>
                        <a:t> Thông tin / Định hướng. (Cung cấp quan điểm chính thức)</a:t>
                      </a:r>
                      <a:endParaRPr lang="en-US" sz="1100"/>
                    </a:p>
                  </a:txBody>
                  <a:tcPr marL="190500" marR="190500" marT="190500" marB="190500" anchor="ctr">
                    <a:lnL cmpd="sng" algn="ctr" cap="flat" w="33867">
                      <a:solidFill>
                        <a:srgbClr val="000000"/>
                      </a:solidFill>
                      <a:prstDash val="solid"/>
                      <a:round/>
                      <a:headEnd type="none" w="med" len="med"/>
                      <a:tailEnd type="none" w="med" len="med"/>
                    </a:lnL>
                    <a:lnR cmpd="sng" algn="ctr" cap="flat" w="33867">
                      <a:solidFill>
                        <a:srgbClr val="000000"/>
                      </a:solidFill>
                      <a:prstDash val="solid"/>
                      <a:round/>
                      <a:headEnd type="none" w="med" len="med"/>
                      <a:tailEnd type="none" w="med" len="med"/>
                    </a:lnR>
                    <a:lnT cmpd="sng" algn="ctr" cap="flat" w="33867">
                      <a:solidFill>
                        <a:srgbClr val="000000"/>
                      </a:solidFill>
                      <a:prstDash val="solid"/>
                      <a:round/>
                      <a:headEnd type="none" w="med" len="med"/>
                      <a:tailEnd type="none" w="med" len="med"/>
                    </a:lnT>
                    <a:lnB cmpd="sng" algn="ctr" cap="flat" w="33867">
                      <a:solidFill>
                        <a:srgbClr val="000000"/>
                      </a:solidFill>
                      <a:prstDash val="solid"/>
                      <a:round/>
                      <a:headEnd type="none" w="med" len="med"/>
                      <a:tailEnd type="none" w="med" len="med"/>
                    </a:lnB>
                  </a:tcPr>
                </a:tc>
                <a:tc>
                  <a:txBody>
                    <a:bodyPr anchor="t" rtlCol="false"/>
                    <a:lstStyle/>
                    <a:p>
                      <a:pPr algn="ctr">
                        <a:lnSpc>
                          <a:spcPts val="2519"/>
                        </a:lnSpc>
                        <a:defRPr/>
                      </a:pPr>
                      <a:r>
                        <a:rPr lang="en-US" sz="1799">
                          <a:solidFill>
                            <a:srgbClr val="000000"/>
                          </a:solidFill>
                          <a:latin typeface="Muli"/>
                          <a:ea typeface="Muli"/>
                          <a:cs typeface="Muli"/>
                          <a:sym typeface="Muli"/>
                        </a:rPr>
                        <a:t> Rất cao. (Thông tin chính thức từ cơ quan quản lý)</a:t>
                      </a:r>
                      <a:endParaRPr lang="en-US" sz="1100"/>
                    </a:p>
                  </a:txBody>
                  <a:tcPr marL="190500" marR="190500" marT="190500" marB="190500" anchor="ctr">
                    <a:lnL cmpd="sng" algn="ctr" cap="flat" w="33867">
                      <a:solidFill>
                        <a:srgbClr val="000000"/>
                      </a:solidFill>
                      <a:prstDash val="solid"/>
                      <a:round/>
                      <a:headEnd type="none" w="med" len="med"/>
                      <a:tailEnd type="none" w="med" len="med"/>
                    </a:lnL>
                    <a:lnR cmpd="sng" algn="ctr" cap="flat" w="33867">
                      <a:solidFill>
                        <a:srgbClr val="000000"/>
                      </a:solidFill>
                      <a:prstDash val="solid"/>
                      <a:round/>
                      <a:headEnd type="none" w="med" len="med"/>
                      <a:tailEnd type="none" w="med" len="med"/>
                    </a:lnR>
                    <a:lnT cmpd="sng" algn="ctr" cap="flat" w="33867">
                      <a:solidFill>
                        <a:srgbClr val="000000"/>
                      </a:solidFill>
                      <a:prstDash val="solid"/>
                      <a:round/>
                      <a:headEnd type="none" w="med" len="med"/>
                      <a:tailEnd type="none" w="med" len="med"/>
                    </a:lnT>
                    <a:lnB cmpd="sng" algn="ctr" cap="flat" w="33867">
                      <a:solidFill>
                        <a:srgbClr val="000000"/>
                      </a:solidFill>
                      <a:prstDash val="solid"/>
                      <a:round/>
                      <a:headEnd type="none" w="med" len="med"/>
                      <a:tailEnd type="none" w="med" len="med"/>
                    </a:lnB>
                  </a:tcPr>
                </a:tc>
                <a:tc>
                  <a:txBody>
                    <a:bodyPr anchor="t" rtlCol="false"/>
                    <a:lstStyle/>
                    <a:p>
                      <a:pPr algn="ctr">
                        <a:lnSpc>
                          <a:spcPts val="2519"/>
                        </a:lnSpc>
                        <a:defRPr/>
                      </a:pPr>
                      <a:r>
                        <a:rPr lang="en-US" sz="1799">
                          <a:solidFill>
                            <a:srgbClr val="000000"/>
                          </a:solidFill>
                          <a:latin typeface="Muli"/>
                          <a:ea typeface="Muli"/>
                          <a:cs typeface="Muli"/>
                          <a:sym typeface="Muli"/>
                        </a:rPr>
                        <a:t> Rất cao. (Cổng TTĐT Bộ Y Tế Việt Nam)</a:t>
                      </a:r>
                      <a:endParaRPr lang="en-US" sz="1100"/>
                    </a:p>
                  </a:txBody>
                  <a:tcPr marL="190500" marR="190500" marT="190500" marB="190500" anchor="ctr">
                    <a:lnL cmpd="sng" algn="ctr" cap="flat" w="33867">
                      <a:solidFill>
                        <a:srgbClr val="000000"/>
                      </a:solidFill>
                      <a:prstDash val="solid"/>
                      <a:round/>
                      <a:headEnd type="none" w="med" len="med"/>
                      <a:tailEnd type="none" w="med" len="med"/>
                    </a:lnL>
                    <a:lnR cmpd="sng" algn="ctr" cap="flat" w="33867">
                      <a:solidFill>
                        <a:srgbClr val="000000"/>
                      </a:solidFill>
                      <a:prstDash val="solid"/>
                      <a:round/>
                      <a:headEnd type="none" w="med" len="med"/>
                      <a:tailEnd type="none" w="med" len="med"/>
                    </a:lnR>
                    <a:lnT cmpd="sng" algn="ctr" cap="flat" w="33867">
                      <a:solidFill>
                        <a:srgbClr val="000000"/>
                      </a:solidFill>
                      <a:prstDash val="solid"/>
                      <a:round/>
                      <a:headEnd type="none" w="med" len="med"/>
                      <a:tailEnd type="none" w="med" len="med"/>
                    </a:lnT>
                    <a:lnB cmpd="sng" algn="ctr" cap="flat" w="33867">
                      <a:solidFill>
                        <a:srgbClr val="000000"/>
                      </a:solidFill>
                      <a:prstDash val="solid"/>
                      <a:round/>
                      <a:headEnd type="none" w="med" len="med"/>
                      <a:tailEnd type="none" w="med" len="med"/>
                    </a:lnB>
                  </a:tcPr>
                </a:tc>
              </a:tr>
              <a:tr h="1529649">
                <a:tc>
                  <a:txBody>
                    <a:bodyPr anchor="t" rtlCol="false"/>
                    <a:lstStyle/>
                    <a:p>
                      <a:pPr algn="l">
                        <a:lnSpc>
                          <a:spcPts val="1959"/>
                        </a:lnSpc>
                        <a:defRPr/>
                      </a:pPr>
                      <a:r>
                        <a:rPr lang="en-US" sz="1399">
                          <a:solidFill>
                            <a:srgbClr val="000000"/>
                          </a:solidFill>
                          <a:latin typeface="Muli"/>
                          <a:ea typeface="Muli"/>
                          <a:cs typeface="Muli"/>
                          <a:sym typeface="Muli"/>
                        </a:rPr>
                        <a:t> Tuổi Trẻ Online</a:t>
                      </a:r>
                      <a:endParaRPr lang="en-US" sz="1100"/>
                    </a:p>
                    <a:p>
                      <a:pPr algn="l">
                        <a:lnSpc>
                          <a:spcPts val="1959"/>
                        </a:lnSpc>
                      </a:pPr>
                      <a:r>
                        <a:rPr lang="en-US" sz="1399">
                          <a:solidFill>
                            <a:srgbClr val="000000"/>
                          </a:solidFill>
                          <a:latin typeface="Muli"/>
                          <a:ea typeface="Muli"/>
                          <a:cs typeface="Muli"/>
                          <a:sym typeface="Muli"/>
                        </a:rPr>
                        <a:t>https://tuoitre.vn/ung-dung-ai-de-xay-dung-benh-vien-thong-minh-huong-toi-lam-chu-cong-nghe-y-te-20251104204320811.htm</a:t>
                      </a:r>
                    </a:p>
                    <a:p>
                      <a:pPr algn="l">
                        <a:lnSpc>
                          <a:spcPts val="1959"/>
                        </a:lnSpc>
                      </a:pPr>
                    </a:p>
                  </a:txBody>
                  <a:tcPr marL="190500" marR="190500" marT="190500" marB="190500" anchor="ctr">
                    <a:lnL cmpd="sng" algn="ctr" cap="flat" w="33867">
                      <a:solidFill>
                        <a:srgbClr val="000000"/>
                      </a:solidFill>
                      <a:prstDash val="solid"/>
                      <a:round/>
                      <a:headEnd type="none" w="med" len="med"/>
                      <a:tailEnd type="none" w="med" len="med"/>
                    </a:lnL>
                    <a:lnR cmpd="sng" algn="ctr" cap="flat" w="33867">
                      <a:solidFill>
                        <a:srgbClr val="000000"/>
                      </a:solidFill>
                      <a:prstDash val="solid"/>
                      <a:round/>
                      <a:headEnd type="none" w="med" len="med"/>
                      <a:tailEnd type="none" w="med" len="med"/>
                    </a:lnR>
                    <a:lnT cmpd="sng" algn="ctr" cap="flat" w="33867">
                      <a:solidFill>
                        <a:srgbClr val="000000"/>
                      </a:solidFill>
                      <a:prstDash val="solid"/>
                      <a:round/>
                      <a:headEnd type="none" w="med" len="med"/>
                      <a:tailEnd type="none" w="med" len="med"/>
                    </a:lnT>
                    <a:lnB cmpd="sng" algn="ctr" cap="flat" w="33867">
                      <a:solidFill>
                        <a:srgbClr val="000000"/>
                      </a:solidFill>
                      <a:prstDash val="solid"/>
                      <a:round/>
                      <a:headEnd type="none" w="med" len="med"/>
                      <a:tailEnd type="none" w="med" len="med"/>
                    </a:lnB>
                  </a:tcPr>
                </a:tc>
                <a:tc>
                  <a:txBody>
                    <a:bodyPr anchor="t" rtlCol="false"/>
                    <a:lstStyle/>
                    <a:p>
                      <a:pPr algn="ctr">
                        <a:lnSpc>
                          <a:spcPts val="2519"/>
                        </a:lnSpc>
                        <a:defRPr/>
                      </a:pPr>
                      <a:r>
                        <a:rPr lang="en-US" sz="1799">
                          <a:solidFill>
                            <a:srgbClr val="000000"/>
                          </a:solidFill>
                          <a:latin typeface="Muli"/>
                          <a:ea typeface="Muli"/>
                          <a:cs typeface="Muli"/>
                          <a:sym typeface="Muli"/>
                        </a:rPr>
                        <a:t> Cao. (Bài báo 11/2023)</a:t>
                      </a:r>
                      <a:endParaRPr lang="en-US" sz="1100"/>
                    </a:p>
                  </a:txBody>
                  <a:tcPr marL="190500" marR="190500" marT="190500" marB="190500" anchor="ctr">
                    <a:lnL cmpd="sng" algn="ctr" cap="flat" w="33867">
                      <a:solidFill>
                        <a:srgbClr val="000000"/>
                      </a:solidFill>
                      <a:prstDash val="solid"/>
                      <a:round/>
                      <a:headEnd type="none" w="med" len="med"/>
                      <a:tailEnd type="none" w="med" len="med"/>
                    </a:lnL>
                    <a:lnR cmpd="sng" algn="ctr" cap="flat" w="33867">
                      <a:solidFill>
                        <a:srgbClr val="000000"/>
                      </a:solidFill>
                      <a:prstDash val="solid"/>
                      <a:round/>
                      <a:headEnd type="none" w="med" len="med"/>
                      <a:tailEnd type="none" w="med" len="med"/>
                    </a:lnR>
                    <a:lnT cmpd="sng" algn="ctr" cap="flat" w="33867">
                      <a:solidFill>
                        <a:srgbClr val="000000"/>
                      </a:solidFill>
                      <a:prstDash val="solid"/>
                      <a:round/>
                      <a:headEnd type="none" w="med" len="med"/>
                      <a:tailEnd type="none" w="med" len="med"/>
                    </a:lnT>
                    <a:lnB cmpd="sng" algn="ctr" cap="flat" w="33867">
                      <a:solidFill>
                        <a:srgbClr val="000000"/>
                      </a:solidFill>
                      <a:prstDash val="solid"/>
                      <a:round/>
                      <a:headEnd type="none" w="med" len="med"/>
                      <a:tailEnd type="none" w="med" len="med"/>
                    </a:lnB>
                  </a:tcPr>
                </a:tc>
                <a:tc>
                  <a:txBody>
                    <a:bodyPr anchor="t" rtlCol="false"/>
                    <a:lstStyle/>
                    <a:p>
                      <a:pPr algn="ctr">
                        <a:lnSpc>
                          <a:spcPts val="2519"/>
                        </a:lnSpc>
                        <a:defRPr/>
                      </a:pPr>
                      <a:r>
                        <a:rPr lang="en-US" sz="1799">
                          <a:solidFill>
                            <a:srgbClr val="000000"/>
                          </a:solidFill>
                          <a:latin typeface="Muli"/>
                          <a:ea typeface="Muli"/>
                          <a:cs typeface="Muli"/>
                          <a:sym typeface="Muli"/>
                        </a:rPr>
                        <a:t>Rất cao. (AI trong bệnh viện thông minh)</a:t>
                      </a:r>
                      <a:endParaRPr lang="en-US" sz="1100"/>
                    </a:p>
                  </a:txBody>
                  <a:tcPr marL="190500" marR="190500" marT="190500" marB="190500" anchor="ctr">
                    <a:lnL cmpd="sng" algn="ctr" cap="flat" w="33867">
                      <a:solidFill>
                        <a:srgbClr val="000000"/>
                      </a:solidFill>
                      <a:prstDash val="solid"/>
                      <a:round/>
                      <a:headEnd type="none" w="med" len="med"/>
                      <a:tailEnd type="none" w="med" len="med"/>
                    </a:lnL>
                    <a:lnR cmpd="sng" algn="ctr" cap="flat" w="33867">
                      <a:solidFill>
                        <a:srgbClr val="000000"/>
                      </a:solidFill>
                      <a:prstDash val="solid"/>
                      <a:round/>
                      <a:headEnd type="none" w="med" len="med"/>
                      <a:tailEnd type="none" w="med" len="med"/>
                    </a:lnR>
                    <a:lnT cmpd="sng" algn="ctr" cap="flat" w="33867">
                      <a:solidFill>
                        <a:srgbClr val="000000"/>
                      </a:solidFill>
                      <a:prstDash val="solid"/>
                      <a:round/>
                      <a:headEnd type="none" w="med" len="med"/>
                      <a:tailEnd type="none" w="med" len="med"/>
                    </a:lnT>
                    <a:lnB cmpd="sng" algn="ctr" cap="flat" w="33867">
                      <a:solidFill>
                        <a:srgbClr val="000000"/>
                      </a:solidFill>
                      <a:prstDash val="solid"/>
                      <a:round/>
                      <a:headEnd type="none" w="med" len="med"/>
                      <a:tailEnd type="none" w="med" len="med"/>
                    </a:lnB>
                  </a:tcPr>
                </a:tc>
                <a:tc>
                  <a:txBody>
                    <a:bodyPr anchor="t" rtlCol="false"/>
                    <a:lstStyle/>
                    <a:p>
                      <a:pPr algn="ctr">
                        <a:lnSpc>
                          <a:spcPts val="2519"/>
                        </a:lnSpc>
                        <a:defRPr/>
                      </a:pPr>
                      <a:r>
                        <a:rPr lang="en-US" sz="1799">
                          <a:solidFill>
                            <a:srgbClr val="000000"/>
                          </a:solidFill>
                          <a:latin typeface="Muli"/>
                          <a:ea typeface="Muli"/>
                          <a:cs typeface="Muli"/>
                          <a:sym typeface="Muli"/>
                        </a:rPr>
                        <a:t>Tường thuật / Thông tin. (Cung cấp tin tức sự kiện)</a:t>
                      </a:r>
                      <a:endParaRPr lang="en-US" sz="1100"/>
                    </a:p>
                  </a:txBody>
                  <a:tcPr marL="190500" marR="190500" marT="190500" marB="190500" anchor="ctr">
                    <a:lnL cmpd="sng" algn="ctr" cap="flat" w="33867">
                      <a:solidFill>
                        <a:srgbClr val="000000"/>
                      </a:solidFill>
                      <a:prstDash val="solid"/>
                      <a:round/>
                      <a:headEnd type="none" w="med" len="med"/>
                      <a:tailEnd type="none" w="med" len="med"/>
                    </a:lnL>
                    <a:lnR cmpd="sng" algn="ctr" cap="flat" w="33867">
                      <a:solidFill>
                        <a:srgbClr val="000000"/>
                      </a:solidFill>
                      <a:prstDash val="solid"/>
                      <a:round/>
                      <a:headEnd type="none" w="med" len="med"/>
                      <a:tailEnd type="none" w="med" len="med"/>
                    </a:lnR>
                    <a:lnT cmpd="sng" algn="ctr" cap="flat" w="33867">
                      <a:solidFill>
                        <a:srgbClr val="000000"/>
                      </a:solidFill>
                      <a:prstDash val="solid"/>
                      <a:round/>
                      <a:headEnd type="none" w="med" len="med"/>
                      <a:tailEnd type="none" w="med" len="med"/>
                    </a:lnT>
                    <a:lnB cmpd="sng" algn="ctr" cap="flat" w="33867">
                      <a:solidFill>
                        <a:srgbClr val="000000"/>
                      </a:solidFill>
                      <a:prstDash val="solid"/>
                      <a:round/>
                      <a:headEnd type="none" w="med" len="med"/>
                      <a:tailEnd type="none" w="med" len="med"/>
                    </a:lnB>
                  </a:tcPr>
                </a:tc>
                <a:tc>
                  <a:txBody>
                    <a:bodyPr anchor="t" rtlCol="false"/>
                    <a:lstStyle/>
                    <a:p>
                      <a:pPr algn="ctr">
                        <a:lnSpc>
                          <a:spcPts val="2519"/>
                        </a:lnSpc>
                        <a:defRPr/>
                      </a:pPr>
                      <a:r>
                        <a:rPr lang="en-US" sz="1799">
                          <a:solidFill>
                            <a:srgbClr val="000000"/>
                          </a:solidFill>
                          <a:latin typeface="Muli"/>
                          <a:ea typeface="Muli"/>
                          <a:cs typeface="Muli"/>
                          <a:sym typeface="Muli"/>
                        </a:rPr>
                        <a:t> Trung bình – Cao. (Tin tức báo chí, tường thuật lại)</a:t>
                      </a:r>
                      <a:endParaRPr lang="en-US" sz="1100"/>
                    </a:p>
                  </a:txBody>
                  <a:tcPr marL="190500" marR="190500" marT="190500" marB="190500" anchor="ctr">
                    <a:lnL cmpd="sng" algn="ctr" cap="flat" w="33867">
                      <a:solidFill>
                        <a:srgbClr val="000000"/>
                      </a:solidFill>
                      <a:prstDash val="solid"/>
                      <a:round/>
                      <a:headEnd type="none" w="med" len="med"/>
                      <a:tailEnd type="none" w="med" len="med"/>
                    </a:lnL>
                    <a:lnR cmpd="sng" algn="ctr" cap="flat" w="33867">
                      <a:solidFill>
                        <a:srgbClr val="000000"/>
                      </a:solidFill>
                      <a:prstDash val="solid"/>
                      <a:round/>
                      <a:headEnd type="none" w="med" len="med"/>
                      <a:tailEnd type="none" w="med" len="med"/>
                    </a:lnR>
                    <a:lnT cmpd="sng" algn="ctr" cap="flat" w="33867">
                      <a:solidFill>
                        <a:srgbClr val="000000"/>
                      </a:solidFill>
                      <a:prstDash val="solid"/>
                      <a:round/>
                      <a:headEnd type="none" w="med" len="med"/>
                      <a:tailEnd type="none" w="med" len="med"/>
                    </a:lnT>
                    <a:lnB cmpd="sng" algn="ctr" cap="flat" w="33867">
                      <a:solidFill>
                        <a:srgbClr val="000000"/>
                      </a:solidFill>
                      <a:prstDash val="solid"/>
                      <a:round/>
                      <a:headEnd type="none" w="med" len="med"/>
                      <a:tailEnd type="none" w="med" len="med"/>
                    </a:lnB>
                  </a:tcPr>
                </a:tc>
                <a:tc>
                  <a:txBody>
                    <a:bodyPr anchor="t" rtlCol="false"/>
                    <a:lstStyle/>
                    <a:p>
                      <a:pPr algn="ctr">
                        <a:lnSpc>
                          <a:spcPts val="2519"/>
                        </a:lnSpc>
                        <a:defRPr/>
                      </a:pPr>
                      <a:r>
                        <a:rPr lang="en-US" sz="1799">
                          <a:solidFill>
                            <a:srgbClr val="000000"/>
                          </a:solidFill>
                          <a:latin typeface="Muli"/>
                          <a:ea typeface="Muli"/>
                          <a:cs typeface="Muli"/>
                          <a:sym typeface="Muli"/>
                        </a:rPr>
                        <a:t> Cao. (Báo chí chính thống, uy tín)</a:t>
                      </a:r>
                      <a:endParaRPr lang="en-US" sz="1100"/>
                    </a:p>
                  </a:txBody>
                  <a:tcPr marL="190500" marR="190500" marT="190500" marB="190500" anchor="ctr">
                    <a:lnL cmpd="sng" algn="ctr" cap="flat" w="33867">
                      <a:solidFill>
                        <a:srgbClr val="000000"/>
                      </a:solidFill>
                      <a:prstDash val="solid"/>
                      <a:round/>
                      <a:headEnd type="none" w="med" len="med"/>
                      <a:tailEnd type="none" w="med" len="med"/>
                    </a:lnL>
                    <a:lnR cmpd="sng" algn="ctr" cap="flat" w="33867">
                      <a:solidFill>
                        <a:srgbClr val="000000"/>
                      </a:solidFill>
                      <a:prstDash val="solid"/>
                      <a:round/>
                      <a:headEnd type="none" w="med" len="med"/>
                      <a:tailEnd type="none" w="med" len="med"/>
                    </a:lnR>
                    <a:lnT cmpd="sng" algn="ctr" cap="flat" w="33867">
                      <a:solidFill>
                        <a:srgbClr val="000000"/>
                      </a:solidFill>
                      <a:prstDash val="solid"/>
                      <a:round/>
                      <a:headEnd type="none" w="med" len="med"/>
                      <a:tailEnd type="none" w="med" len="med"/>
                    </a:lnT>
                    <a:lnB cmpd="sng" algn="ctr" cap="flat" w="33867">
                      <a:solidFill>
                        <a:srgbClr val="000000"/>
                      </a:solidFill>
                      <a:prstDash val="solid"/>
                      <a:round/>
                      <a:headEnd type="none" w="med" len="med"/>
                      <a:tailEnd type="none" w="med" len="med"/>
                    </a:lnB>
                  </a:tcPr>
                </a:tc>
              </a:tr>
              <a:tr h="1529649">
                <a:tc>
                  <a:txBody>
                    <a:bodyPr anchor="t" rtlCol="false"/>
                    <a:lstStyle/>
                    <a:p>
                      <a:pPr algn="ctr">
                        <a:lnSpc>
                          <a:spcPts val="2519"/>
                        </a:lnSpc>
                        <a:defRPr/>
                      </a:pPr>
                      <a:r>
                        <a:rPr lang="en-US" sz="1799">
                          <a:solidFill>
                            <a:srgbClr val="000000"/>
                          </a:solidFill>
                          <a:latin typeface="Muli"/>
                          <a:ea typeface="Muli"/>
                          <a:cs typeface="Muli"/>
                          <a:sym typeface="Muli"/>
                        </a:rPr>
                        <a:t> PMC (NCBI)	https://pmc.ncbi.nlm.nih.gov/articles/PMC10367431/</a:t>
                      </a:r>
                      <a:endParaRPr lang="en-US" sz="1100"/>
                    </a:p>
                  </a:txBody>
                  <a:tcPr marL="190500" marR="190500" marT="190500" marB="190500" anchor="ctr">
                    <a:lnL cmpd="sng" algn="ctr" cap="flat" w="33867">
                      <a:solidFill>
                        <a:srgbClr val="000000"/>
                      </a:solidFill>
                      <a:prstDash val="solid"/>
                      <a:round/>
                      <a:headEnd type="none" w="med" len="med"/>
                      <a:tailEnd type="none" w="med" len="med"/>
                    </a:lnL>
                    <a:lnR cmpd="sng" algn="ctr" cap="flat" w="33867">
                      <a:solidFill>
                        <a:srgbClr val="000000"/>
                      </a:solidFill>
                      <a:prstDash val="solid"/>
                      <a:round/>
                      <a:headEnd type="none" w="med" len="med"/>
                      <a:tailEnd type="none" w="med" len="med"/>
                    </a:lnR>
                    <a:lnT cmpd="sng" algn="ctr" cap="flat" w="33867">
                      <a:solidFill>
                        <a:srgbClr val="000000"/>
                      </a:solidFill>
                      <a:prstDash val="solid"/>
                      <a:round/>
                      <a:headEnd type="none" w="med" len="med"/>
                      <a:tailEnd type="none" w="med" len="med"/>
                    </a:lnT>
                    <a:lnB cmpd="sng" algn="ctr" cap="flat" w="33867">
                      <a:solidFill>
                        <a:srgbClr val="000000"/>
                      </a:solidFill>
                      <a:prstDash val="solid"/>
                      <a:round/>
                      <a:headEnd type="none" w="med" len="med"/>
                      <a:tailEnd type="none" w="med" len="med"/>
                    </a:lnB>
                  </a:tcPr>
                </a:tc>
                <a:tc>
                  <a:txBody>
                    <a:bodyPr anchor="t" rtlCol="false"/>
                    <a:lstStyle/>
                    <a:p>
                      <a:pPr algn="ctr">
                        <a:lnSpc>
                          <a:spcPts val="2519"/>
                        </a:lnSpc>
                        <a:defRPr/>
                      </a:pPr>
                      <a:r>
                        <a:rPr lang="en-US" sz="1799">
                          <a:solidFill>
                            <a:srgbClr val="000000"/>
                          </a:solidFill>
                          <a:latin typeface="Muli"/>
                          <a:ea typeface="Muli"/>
                          <a:cs typeface="Muli"/>
                          <a:sym typeface="Muli"/>
                        </a:rPr>
                        <a:t>Rất cao. (Bài báo 07/2023)</a:t>
                      </a:r>
                      <a:endParaRPr lang="en-US" sz="1100"/>
                    </a:p>
                  </a:txBody>
                  <a:tcPr marL="190500" marR="190500" marT="190500" marB="190500" anchor="ctr">
                    <a:lnL cmpd="sng" algn="ctr" cap="flat" w="33867">
                      <a:solidFill>
                        <a:srgbClr val="000000"/>
                      </a:solidFill>
                      <a:prstDash val="solid"/>
                      <a:round/>
                      <a:headEnd type="none" w="med" len="med"/>
                      <a:tailEnd type="none" w="med" len="med"/>
                    </a:lnL>
                    <a:lnR cmpd="sng" algn="ctr" cap="flat" w="33867">
                      <a:solidFill>
                        <a:srgbClr val="000000"/>
                      </a:solidFill>
                      <a:prstDash val="solid"/>
                      <a:round/>
                      <a:headEnd type="none" w="med" len="med"/>
                      <a:tailEnd type="none" w="med" len="med"/>
                    </a:lnR>
                    <a:lnT cmpd="sng" algn="ctr" cap="flat" w="33867">
                      <a:solidFill>
                        <a:srgbClr val="000000"/>
                      </a:solidFill>
                      <a:prstDash val="solid"/>
                      <a:round/>
                      <a:headEnd type="none" w="med" len="med"/>
                      <a:tailEnd type="none" w="med" len="med"/>
                    </a:lnT>
                    <a:lnB cmpd="sng" algn="ctr" cap="flat" w="33867">
                      <a:solidFill>
                        <a:srgbClr val="000000"/>
                      </a:solidFill>
                      <a:prstDash val="solid"/>
                      <a:round/>
                      <a:headEnd type="none" w="med" len="med"/>
                      <a:tailEnd type="none" w="med" len="med"/>
                    </a:lnB>
                  </a:tcPr>
                </a:tc>
                <a:tc>
                  <a:txBody>
                    <a:bodyPr anchor="t" rtlCol="false"/>
                    <a:lstStyle/>
                    <a:p>
                      <a:pPr algn="ctr">
                        <a:lnSpc>
                          <a:spcPts val="2519"/>
                        </a:lnSpc>
                        <a:defRPr/>
                      </a:pPr>
                      <a:r>
                        <a:rPr lang="en-US" sz="1799">
                          <a:solidFill>
                            <a:srgbClr val="000000"/>
                          </a:solidFill>
                          <a:latin typeface="Muli"/>
                          <a:ea typeface="Muli"/>
                          <a:cs typeface="Muli"/>
                          <a:sym typeface="Muli"/>
                        </a:rPr>
                        <a:t> Rất cao. (AI trong chẩn đoán hình ảnh)</a:t>
                      </a:r>
                      <a:endParaRPr lang="en-US" sz="1100"/>
                    </a:p>
                  </a:txBody>
                  <a:tcPr marL="190500" marR="190500" marT="190500" marB="190500" anchor="ctr">
                    <a:lnL cmpd="sng" algn="ctr" cap="flat" w="33867">
                      <a:solidFill>
                        <a:srgbClr val="000000"/>
                      </a:solidFill>
                      <a:prstDash val="solid"/>
                      <a:round/>
                      <a:headEnd type="none" w="med" len="med"/>
                      <a:tailEnd type="none" w="med" len="med"/>
                    </a:lnL>
                    <a:lnR cmpd="sng" algn="ctr" cap="flat" w="33867">
                      <a:solidFill>
                        <a:srgbClr val="000000"/>
                      </a:solidFill>
                      <a:prstDash val="solid"/>
                      <a:round/>
                      <a:headEnd type="none" w="med" len="med"/>
                      <a:tailEnd type="none" w="med" len="med"/>
                    </a:lnR>
                    <a:lnT cmpd="sng" algn="ctr" cap="flat" w="33867">
                      <a:solidFill>
                        <a:srgbClr val="000000"/>
                      </a:solidFill>
                      <a:prstDash val="solid"/>
                      <a:round/>
                      <a:headEnd type="none" w="med" len="med"/>
                      <a:tailEnd type="none" w="med" len="med"/>
                    </a:lnT>
                    <a:lnB cmpd="sng" algn="ctr" cap="flat" w="33867">
                      <a:solidFill>
                        <a:srgbClr val="000000"/>
                      </a:solidFill>
                      <a:prstDash val="solid"/>
                      <a:round/>
                      <a:headEnd type="none" w="med" len="med"/>
                      <a:tailEnd type="none" w="med" len="med"/>
                    </a:lnB>
                  </a:tcPr>
                </a:tc>
                <a:tc>
                  <a:txBody>
                    <a:bodyPr anchor="t" rtlCol="false"/>
                    <a:lstStyle/>
                    <a:p>
                      <a:pPr algn="ctr">
                        <a:lnSpc>
                          <a:spcPts val="2519"/>
                        </a:lnSpc>
                        <a:defRPr/>
                      </a:pPr>
                      <a:r>
                        <a:rPr lang="en-US" sz="1799">
                          <a:solidFill>
                            <a:srgbClr val="000000"/>
                          </a:solidFill>
                          <a:latin typeface="Muli"/>
                          <a:ea typeface="Muli"/>
                          <a:cs typeface="Muli"/>
                          <a:sym typeface="Muli"/>
                        </a:rPr>
                        <a:t> Học thuật / Thông tin. (Cung cấp kiến thức khoa học)</a:t>
                      </a:r>
                      <a:endParaRPr lang="en-US" sz="1100"/>
                    </a:p>
                  </a:txBody>
                  <a:tcPr marL="190500" marR="190500" marT="190500" marB="190500" anchor="ctr">
                    <a:lnL cmpd="sng" algn="ctr" cap="flat" w="33867">
                      <a:solidFill>
                        <a:srgbClr val="000000"/>
                      </a:solidFill>
                      <a:prstDash val="solid"/>
                      <a:round/>
                      <a:headEnd type="none" w="med" len="med"/>
                      <a:tailEnd type="none" w="med" len="med"/>
                    </a:lnL>
                    <a:lnR cmpd="sng" algn="ctr" cap="flat" w="33867">
                      <a:solidFill>
                        <a:srgbClr val="000000"/>
                      </a:solidFill>
                      <a:prstDash val="solid"/>
                      <a:round/>
                      <a:headEnd type="none" w="med" len="med"/>
                      <a:tailEnd type="none" w="med" len="med"/>
                    </a:lnR>
                    <a:lnT cmpd="sng" algn="ctr" cap="flat" w="33867">
                      <a:solidFill>
                        <a:srgbClr val="000000"/>
                      </a:solidFill>
                      <a:prstDash val="solid"/>
                      <a:round/>
                      <a:headEnd type="none" w="med" len="med"/>
                      <a:tailEnd type="none" w="med" len="med"/>
                    </a:lnT>
                    <a:lnB cmpd="sng" algn="ctr" cap="flat" w="33867">
                      <a:solidFill>
                        <a:srgbClr val="000000"/>
                      </a:solidFill>
                      <a:prstDash val="solid"/>
                      <a:round/>
                      <a:headEnd type="none" w="med" len="med"/>
                      <a:tailEnd type="none" w="med" len="med"/>
                    </a:lnB>
                  </a:tcPr>
                </a:tc>
                <a:tc>
                  <a:txBody>
                    <a:bodyPr anchor="t" rtlCol="false"/>
                    <a:lstStyle/>
                    <a:p>
                      <a:pPr algn="ctr">
                        <a:lnSpc>
                          <a:spcPts val="2519"/>
                        </a:lnSpc>
                        <a:defRPr/>
                      </a:pPr>
                      <a:r>
                        <a:rPr lang="en-US" sz="1799">
                          <a:solidFill>
                            <a:srgbClr val="000000"/>
                          </a:solidFill>
                          <a:latin typeface="Muli"/>
                          <a:ea typeface="Muli"/>
                          <a:cs typeface="Muli"/>
                          <a:sym typeface="Muli"/>
                        </a:rPr>
                        <a:t> Rất cao. (Nguồn học thuật, đã bình duyệt)</a:t>
                      </a:r>
                      <a:endParaRPr lang="en-US" sz="1100"/>
                    </a:p>
                  </a:txBody>
                  <a:tcPr marL="190500" marR="190500" marT="190500" marB="190500" anchor="ctr">
                    <a:lnL cmpd="sng" algn="ctr" cap="flat" w="33867">
                      <a:solidFill>
                        <a:srgbClr val="000000"/>
                      </a:solidFill>
                      <a:prstDash val="solid"/>
                      <a:round/>
                      <a:headEnd type="none" w="med" len="med"/>
                      <a:tailEnd type="none" w="med" len="med"/>
                    </a:lnL>
                    <a:lnR cmpd="sng" algn="ctr" cap="flat" w="33867">
                      <a:solidFill>
                        <a:srgbClr val="000000"/>
                      </a:solidFill>
                      <a:prstDash val="solid"/>
                      <a:round/>
                      <a:headEnd type="none" w="med" len="med"/>
                      <a:tailEnd type="none" w="med" len="med"/>
                    </a:lnR>
                    <a:lnT cmpd="sng" algn="ctr" cap="flat" w="33867">
                      <a:solidFill>
                        <a:srgbClr val="000000"/>
                      </a:solidFill>
                      <a:prstDash val="solid"/>
                      <a:round/>
                      <a:headEnd type="none" w="med" len="med"/>
                      <a:tailEnd type="none" w="med" len="med"/>
                    </a:lnT>
                    <a:lnB cmpd="sng" algn="ctr" cap="flat" w="33867">
                      <a:solidFill>
                        <a:srgbClr val="000000"/>
                      </a:solidFill>
                      <a:prstDash val="solid"/>
                      <a:round/>
                      <a:headEnd type="none" w="med" len="med"/>
                      <a:tailEnd type="none" w="med" len="med"/>
                    </a:lnB>
                  </a:tcPr>
                </a:tc>
                <a:tc>
                  <a:txBody>
                    <a:bodyPr anchor="t" rtlCol="false"/>
                    <a:lstStyle/>
                    <a:p>
                      <a:pPr algn="ctr">
                        <a:lnSpc>
                          <a:spcPts val="2519"/>
                        </a:lnSpc>
                        <a:defRPr/>
                      </a:pPr>
                      <a:r>
                        <a:rPr lang="en-US" sz="1799">
                          <a:solidFill>
                            <a:srgbClr val="000000"/>
                          </a:solidFill>
                          <a:latin typeface="Muli"/>
                          <a:ea typeface="Muli"/>
                          <a:cs typeface="Muli"/>
                          <a:sym typeface="Muli"/>
                        </a:rPr>
                        <a:t> Rất cao. (Kho lưu trữ y sinh hàng đầu Hoa Kỳ, bình duyệt)</a:t>
                      </a:r>
                      <a:endParaRPr lang="en-US" sz="1100"/>
                    </a:p>
                  </a:txBody>
                  <a:tcPr marL="190500" marR="190500" marT="190500" marB="190500" anchor="ctr">
                    <a:lnL cmpd="sng" algn="ctr" cap="flat" w="33867">
                      <a:solidFill>
                        <a:srgbClr val="000000"/>
                      </a:solidFill>
                      <a:prstDash val="solid"/>
                      <a:round/>
                      <a:headEnd type="none" w="med" len="med"/>
                      <a:tailEnd type="none" w="med" len="med"/>
                    </a:lnL>
                    <a:lnR cmpd="sng" algn="ctr" cap="flat" w="33867">
                      <a:solidFill>
                        <a:srgbClr val="000000"/>
                      </a:solidFill>
                      <a:prstDash val="solid"/>
                      <a:round/>
                      <a:headEnd type="none" w="med" len="med"/>
                      <a:tailEnd type="none" w="med" len="med"/>
                    </a:lnR>
                    <a:lnT cmpd="sng" algn="ctr" cap="flat" w="33867">
                      <a:solidFill>
                        <a:srgbClr val="000000"/>
                      </a:solidFill>
                      <a:prstDash val="solid"/>
                      <a:round/>
                      <a:headEnd type="none" w="med" len="med"/>
                      <a:tailEnd type="none" w="med" len="med"/>
                    </a:lnT>
                    <a:lnB cmpd="sng" algn="ctr" cap="flat" w="33867">
                      <a:solidFill>
                        <a:srgbClr val="000000"/>
                      </a:solidFill>
                      <a:prstDash val="solid"/>
                      <a:round/>
                      <a:headEnd type="none" w="med" len="med"/>
                      <a:tailEnd type="none" w="med" len="med"/>
                    </a:lnB>
                  </a:tcPr>
                </a:tc>
              </a:tr>
            </a:tbl>
          </a:graphicData>
        </a:graphic>
      </p:graphicFrame>
    </p:spTree>
  </p:cSld>
  <p:clrMapOvr>
    <a:masterClrMapping/>
  </p:clrMapOvr>
</p:sld>
</file>

<file path=ppt/slides/slide15.xml><?xml version="1.0" encoding="utf-8"?>
<p:sld xmlns:p="http://schemas.openxmlformats.org/presentationml/2006/main" xmlns:a="http://schemas.openxmlformats.org/drawingml/2006/main">
  <p:cSld>
    <p:bg>
      <p:bgPr>
        <a:solidFill>
          <a:srgbClr val="BADBF3"/>
        </a:solidFill>
      </p:bgPr>
    </p:bg>
    <p:spTree>
      <p:nvGrpSpPr>
        <p:cNvPr id="1" name=""/>
        <p:cNvGrpSpPr/>
        <p:nvPr/>
      </p:nvGrpSpPr>
      <p:grpSpPr>
        <a:xfrm>
          <a:off x="0" y="0"/>
          <a:ext cx="0" cy="0"/>
          <a:chOff x="0" y="0"/>
          <a:chExt cx="0" cy="0"/>
        </a:xfrm>
      </p:grpSpPr>
      <p:graphicFrame>
        <p:nvGraphicFramePr>
          <p:cNvPr name="Table 2" id="2"/>
          <p:cNvGraphicFramePr>
            <a:graphicFrameLocks noGrp="true"/>
          </p:cNvGraphicFramePr>
          <p:nvPr/>
        </p:nvGraphicFramePr>
        <p:xfrm>
          <a:off x="315553" y="178055"/>
          <a:ext cx="17972447" cy="9286875"/>
        </p:xfrm>
        <a:graphic>
          <a:graphicData uri="http://schemas.openxmlformats.org/drawingml/2006/table">
            <a:tbl>
              <a:tblPr/>
              <a:tblGrid>
                <a:gridCol w="4641295"/>
                <a:gridCol w="2842053"/>
                <a:gridCol w="3077646"/>
                <a:gridCol w="2302912"/>
                <a:gridCol w="2344798"/>
                <a:gridCol w="2763743"/>
              </a:tblGrid>
              <a:tr h="1099887">
                <a:tc>
                  <a:txBody>
                    <a:bodyPr anchor="t" rtlCol="false"/>
                    <a:lstStyle/>
                    <a:p>
                      <a:pPr algn="ctr">
                        <a:lnSpc>
                          <a:spcPts val="2520"/>
                        </a:lnSpc>
                        <a:defRPr/>
                      </a:pPr>
                      <a:r>
                        <a:rPr lang="en-US" sz="1800" b="true">
                          <a:solidFill>
                            <a:srgbClr val="000000"/>
                          </a:solidFill>
                          <a:latin typeface="Muli Bold"/>
                          <a:ea typeface="Muli Bold"/>
                          <a:cs typeface="Muli Bold"/>
                          <a:sym typeface="Muli Bold"/>
                        </a:rPr>
                        <a:t> Nguồn (Địa chỉ)</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b="true">
                          <a:solidFill>
                            <a:srgbClr val="000000"/>
                          </a:solidFill>
                          <a:latin typeface="Muli Bold"/>
                          <a:ea typeface="Muli Bold"/>
                          <a:cs typeface="Muli Bold"/>
                          <a:sym typeface="Muli Bold"/>
                        </a:rPr>
                        <a:t> Tính thời sự (Currency)</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b="true">
                          <a:solidFill>
                            <a:srgbClr val="000000"/>
                          </a:solidFill>
                          <a:latin typeface="Muli Bold"/>
                          <a:ea typeface="Muli Bold"/>
                          <a:cs typeface="Muli Bold"/>
                          <a:sym typeface="Muli Bold"/>
                        </a:rPr>
                        <a:t> Tính liên quan (Relevance)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b="true">
                          <a:solidFill>
                            <a:srgbClr val="000000"/>
                          </a:solidFill>
                          <a:latin typeface="Muli Bold"/>
                          <a:ea typeface="Muli Bold"/>
                          <a:cs typeface="Muli Bold"/>
                          <a:sym typeface="Muli Bold"/>
                        </a:rPr>
                        <a:t> Mục đích (Purpose)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b="true">
                          <a:solidFill>
                            <a:srgbClr val="000000"/>
                          </a:solidFill>
                          <a:latin typeface="Muli Bold"/>
                          <a:ea typeface="Muli Bold"/>
                          <a:cs typeface="Muli Bold"/>
                          <a:sym typeface="Muli Bold"/>
                        </a:rPr>
                        <a:t> Tính chính xác (Accuracy)</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b="true">
                          <a:solidFill>
                            <a:srgbClr val="000000"/>
                          </a:solidFill>
                          <a:latin typeface="Muli Bold"/>
                          <a:ea typeface="Muli Bold"/>
                          <a:cs typeface="Muli Bold"/>
                          <a:sym typeface="Muli Bold"/>
                        </a:rPr>
                        <a:t> Thẩm quyền (Authority)</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2046747">
                <a:tc>
                  <a:txBody>
                    <a:bodyPr anchor="t" rtlCol="false"/>
                    <a:lstStyle/>
                    <a:p>
                      <a:pPr algn="ctr">
                        <a:lnSpc>
                          <a:spcPts val="2520"/>
                        </a:lnSpc>
                        <a:defRPr/>
                      </a:pPr>
                      <a:r>
                        <a:rPr lang="en-US" sz="1800">
                          <a:solidFill>
                            <a:srgbClr val="000000"/>
                          </a:solidFill>
                          <a:latin typeface="Muli"/>
                          <a:ea typeface="Muli"/>
                          <a:cs typeface="Muli"/>
                          <a:sym typeface="Muli"/>
                        </a:rPr>
                        <a:t> 1. Grand View Research (Báo cáo thị trường) </a:t>
                      </a:r>
                      <a:endParaRPr lang="en-US" sz="1100"/>
                    </a:p>
                    <a:p>
                      <a:pPr algn="ctr">
                        <a:lnSpc>
                          <a:spcPts val="2520"/>
                        </a:lnSpc>
                      </a:pPr>
                      <a:r>
                        <a:rPr lang="en-US" sz="1800">
                          <a:solidFill>
                            <a:srgbClr val="000000"/>
                          </a:solidFill>
                          <a:latin typeface="Muli"/>
                          <a:ea typeface="Muli"/>
                          <a:cs typeface="Muli"/>
                          <a:sym typeface="Muli"/>
                        </a:rPr>
                        <a:t>https://www.grandviewresearch.com/industry-analysis/healthcare-chatbots-market</a:t>
                      </a:r>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Muli"/>
                          <a:ea typeface="Muli"/>
                          <a:cs typeface="Muli"/>
                          <a:sym typeface="Muli"/>
                        </a:rPr>
                        <a:t>Rất cao. Báo cáo thị trường thường được cập nhật hàng năm (bản mới nhất 2024).</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Muli"/>
                          <a:ea typeface="Muli"/>
                          <a:cs typeface="Muli"/>
                          <a:sym typeface="Muli"/>
                        </a:rPr>
                        <a:t> Rất cao. Phân tích trực tiếp thị trường chatbot y tế.</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Muli"/>
                          <a:ea typeface="Muli"/>
                          <a:cs typeface="Muli"/>
                          <a:sym typeface="Muli"/>
                        </a:rPr>
                        <a:t> Thông tin, phân tích (có tính thương mại). Cung cấp dữ liệu cho doanh nghiệp</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Muli"/>
                          <a:ea typeface="Muli"/>
                          <a:cs typeface="Muli"/>
                          <a:sym typeface="Muli"/>
                        </a:rPr>
                        <a:t> Cao. (Dựa trên dữ liệu thị trường). Dữ liệu có kiểm chứng, dùng để tư vấn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Muli"/>
                          <a:ea typeface="Muli"/>
                          <a:cs typeface="Muli"/>
                          <a:sym typeface="Muli"/>
                        </a:rPr>
                        <a:t> Cao. Công ty nghiên cứu thị trường uy tín.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2046747">
                <a:tc>
                  <a:txBody>
                    <a:bodyPr anchor="t" rtlCol="false"/>
                    <a:lstStyle/>
                    <a:p>
                      <a:pPr algn="ctr">
                        <a:lnSpc>
                          <a:spcPts val="2659"/>
                        </a:lnSpc>
                        <a:defRPr/>
                      </a:pPr>
                      <a:r>
                        <a:rPr lang="en-US" sz="1899">
                          <a:solidFill>
                            <a:srgbClr val="000000"/>
                          </a:solidFill>
                          <a:latin typeface="Muli"/>
                          <a:ea typeface="Muli"/>
                          <a:cs typeface="Muli"/>
                          <a:sym typeface="Muli"/>
                        </a:rPr>
                        <a:t>2. WHO (Báo cáo Đạo đức &amp; Quản trị AI) </a:t>
                      </a:r>
                      <a:endParaRPr lang="en-US" sz="1100"/>
                    </a:p>
                    <a:p>
                      <a:pPr algn="ctr">
                        <a:lnSpc>
                          <a:spcPts val="2659"/>
                        </a:lnSpc>
                      </a:pPr>
                      <a:r>
                        <a:rPr lang="en-US" sz="1899">
                          <a:solidFill>
                            <a:srgbClr val="000000"/>
                          </a:solidFill>
                          <a:latin typeface="Muli"/>
                          <a:ea typeface="Muli"/>
                          <a:cs typeface="Muli"/>
                          <a:sym typeface="Muli"/>
                        </a:rPr>
                        <a:t>https://www.who.int/publications/i/item/9789240029200</a:t>
                      </a:r>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Muli"/>
                          <a:ea typeface="Muli"/>
                          <a:cs typeface="Muli"/>
                          <a:sym typeface="Muli"/>
                        </a:rPr>
                        <a:t> Tốt (2021). Là báo cáo nền tảng, giá trị còn nguyên vẹn.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Muli"/>
                          <a:ea typeface="Muli"/>
                          <a:cs typeface="Muli"/>
                          <a:sym typeface="Muli"/>
                        </a:rPr>
                        <a:t> Rất cao. Đặt ra tiêu chuẩn đạo đức cốt lõi cho mọi ứng dụng AI y tế.</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Muli"/>
                          <a:ea typeface="Muli"/>
                          <a:cs typeface="Muli"/>
                          <a:sym typeface="Muli"/>
                        </a:rPr>
                        <a:t> Hướng dẫn, giáo dục, thiết lập tiêu chuẩn toàn cầu.</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Muli"/>
                          <a:ea typeface="Muli"/>
                          <a:cs typeface="Muli"/>
                          <a:sym typeface="Muli"/>
                        </a:rPr>
                        <a:t> Rất cao. Tiêu chuẩn quốc tế, được đồng thuận bởi nhiều chuyên gia.</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Muli"/>
                          <a:ea typeface="Muli"/>
                          <a:cs typeface="Muli"/>
                          <a:sym typeface="Muli"/>
                        </a:rPr>
                        <a:t> Rất cao. (Tổ chức Y tế Thế giới).</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2046747">
                <a:tc>
                  <a:txBody>
                    <a:bodyPr anchor="t" rtlCol="false"/>
                    <a:lstStyle/>
                    <a:p>
                      <a:pPr algn="ctr">
                        <a:lnSpc>
                          <a:spcPts val="2100"/>
                        </a:lnSpc>
                        <a:defRPr/>
                      </a:pPr>
                      <a:r>
                        <a:rPr lang="en-US" sz="1500">
                          <a:solidFill>
                            <a:srgbClr val="000000"/>
                          </a:solidFill>
                          <a:latin typeface="Muli"/>
                          <a:ea typeface="Muli"/>
                          <a:cs typeface="Muli"/>
                          <a:sym typeface="Muli"/>
                        </a:rPr>
                        <a:t> 3. McKinsey (Generative AI trong Y tế) </a:t>
                      </a:r>
                      <a:endParaRPr lang="en-US" sz="1100"/>
                    </a:p>
                    <a:p>
                      <a:pPr algn="ctr">
                        <a:lnSpc>
                          <a:spcPts val="2100"/>
                        </a:lnSpc>
                      </a:pPr>
                      <a:r>
                        <a:rPr lang="en-US" sz="1500">
                          <a:solidFill>
                            <a:srgbClr val="000000"/>
                          </a:solidFill>
                          <a:latin typeface="Muli"/>
                          <a:ea typeface="Muli"/>
                          <a:cs typeface="Muli"/>
                          <a:sym typeface="Muli"/>
                        </a:rPr>
                        <a:t>https://www.mckinsey.com/industries/healthcare/our-insights/generative-ai-in-healthcare-the-potential-to-reinvent-the-industry</a:t>
                      </a:r>
                    </a:p>
                    <a:p>
                      <a:pPr algn="ctr">
                        <a:lnSpc>
                          <a:spcPts val="2100"/>
                        </a:lnSpc>
                      </a:pPr>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Muli"/>
                          <a:ea typeface="Muli"/>
                          <a:cs typeface="Muli"/>
                          <a:sym typeface="Muli"/>
                        </a:rPr>
                        <a:t> Rất cao. Phân tích về GenAI, công nghệ mới nhất.</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Muli"/>
                          <a:ea typeface="Muli"/>
                          <a:cs typeface="Muli"/>
                          <a:sym typeface="Muli"/>
                        </a:rPr>
                        <a:t> Rất cao. Phân tích chuyên sâu về trợ lý ảo (cả cho bác sĩ và bệnh nhân).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Muli"/>
                          <a:ea typeface="Muli"/>
                          <a:cs typeface="Muli"/>
                          <a:sym typeface="Muli"/>
                        </a:rPr>
                        <a:t> Phân tích, dự báo, tư vấn chiến lược cho doanh nghiệp.</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Muli"/>
                          <a:ea typeface="Muli"/>
                          <a:cs typeface="Muli"/>
                          <a:sym typeface="Muli"/>
                        </a:rPr>
                        <a:t> Rất cao. Phân tích dựa trên nghiên cứu và chuyên môn ngành.</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Muli"/>
                          <a:ea typeface="Muli"/>
                          <a:cs typeface="Muli"/>
                          <a:sym typeface="Muli"/>
                        </a:rPr>
                        <a:t> Rất cao. (Công ty tư vấn chiến lược hàng đầu thế giới)</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2046747">
                <a:tc>
                  <a:txBody>
                    <a:bodyPr anchor="t" rtlCol="false"/>
                    <a:lstStyle/>
                    <a:p>
                      <a:pPr algn="l">
                        <a:lnSpc>
                          <a:spcPts val="1959"/>
                        </a:lnSpc>
                        <a:defRPr/>
                      </a:pPr>
                      <a:r>
                        <a:rPr lang="en-US" sz="1399">
                          <a:solidFill>
                            <a:srgbClr val="000000"/>
                          </a:solidFill>
                          <a:latin typeface="Muli"/>
                          <a:ea typeface="Muli"/>
                          <a:cs typeface="Muli"/>
                          <a:sym typeface="Muli"/>
                        </a:rPr>
                        <a:t>4. ĐH Bách Khoa (Luận văn Chatbot Y tế) </a:t>
                      </a:r>
                      <a:endParaRPr lang="en-US" sz="1100"/>
                    </a:p>
                    <a:p>
                      <a:pPr algn="l">
                        <a:lnSpc>
                          <a:spcPts val="1959"/>
                        </a:lnSpc>
                      </a:pPr>
                      <a:r>
                        <a:rPr lang="en-US" sz="1399">
                          <a:solidFill>
                            <a:srgbClr val="000000"/>
                          </a:solidFill>
                          <a:latin typeface="Muli"/>
                          <a:ea typeface="Muli"/>
                          <a:cs typeface="Muli"/>
                          <a:sym typeface="Muli"/>
                        </a:rPr>
                        <a:t>http://repository.hcmut.edu.vn/handle/123456789/27110</a:t>
                      </a:r>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Muli"/>
                          <a:ea typeface="Muli"/>
                          <a:cs typeface="Muli"/>
                          <a:sym typeface="Muli"/>
                        </a:rPr>
                        <a:t> Tốt (2021). Giá trị về mặt kỹ thuật, phương pháp luận.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Muli"/>
                          <a:ea typeface="Muli"/>
                          <a:cs typeface="Muli"/>
                          <a:sym typeface="Muli"/>
                        </a:rPr>
                        <a:t> Cao. Liên quan trực tiếp đến cách xây dựng chatbot y tế tại VN.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Muli"/>
                          <a:ea typeface="Muli"/>
                          <a:cs typeface="Muli"/>
                          <a:sym typeface="Muli"/>
                        </a:rPr>
                        <a:t> Học thuật, nghiên cứu, chia sẻ phương pháp kỹ thuật.</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Muli"/>
                          <a:ea typeface="Muli"/>
                          <a:cs typeface="Muli"/>
                          <a:sym typeface="Muli"/>
                        </a:rPr>
                        <a:t> Rất cao. (Trong phạm vi nghiên cứu). Đã được kiểm chứng học thuật.</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Muli"/>
                          <a:ea typeface="Muli"/>
                          <a:cs typeface="Muli"/>
                          <a:sym typeface="Muli"/>
                        </a:rPr>
                        <a:t> Cao. (Nghiên cứu học thuật, đã qua hội đồng).</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Tree>
  </p:cSld>
  <p:clrMapOvr>
    <a:masterClrMapping/>
  </p:clrMapOvr>
  <p:transition spd="fast">
    <p:fade/>
  </p:transition>
</p:sld>
</file>

<file path=ppt/slides/slide16.xml><?xml version="1.0" encoding="utf-8"?>
<p:sld xmlns:p="http://schemas.openxmlformats.org/presentationml/2006/main" xmlns:a="http://schemas.openxmlformats.org/drawingml/2006/main">
  <p:cSld>
    <p:bg>
      <p:bgPr>
        <a:solidFill>
          <a:srgbClr val="BADBF3"/>
        </a:solidFill>
      </p:bgPr>
    </p:bg>
    <p:spTree>
      <p:nvGrpSpPr>
        <p:cNvPr id="1" name=""/>
        <p:cNvGrpSpPr/>
        <p:nvPr/>
      </p:nvGrpSpPr>
      <p:grpSpPr>
        <a:xfrm>
          <a:off x="0" y="0"/>
          <a:ext cx="0" cy="0"/>
          <a:chOff x="0" y="0"/>
          <a:chExt cx="0" cy="0"/>
        </a:xfrm>
      </p:grpSpPr>
      <p:graphicFrame>
        <p:nvGraphicFramePr>
          <p:cNvPr name="Table 2" id="2"/>
          <p:cNvGraphicFramePr>
            <a:graphicFrameLocks noGrp="true"/>
          </p:cNvGraphicFramePr>
          <p:nvPr/>
        </p:nvGraphicFramePr>
        <p:xfrm>
          <a:off x="0" y="0"/>
          <a:ext cx="17589915" cy="9392051"/>
        </p:xfrm>
        <a:graphic>
          <a:graphicData uri="http://schemas.openxmlformats.org/drawingml/2006/table">
            <a:tbl>
              <a:tblPr/>
              <a:tblGrid>
                <a:gridCol w="5419126"/>
                <a:gridCol w="2958238"/>
                <a:gridCol w="2316311"/>
                <a:gridCol w="2243818"/>
                <a:gridCol w="2211505"/>
                <a:gridCol w="2440917"/>
              </a:tblGrid>
              <a:tr h="1109803">
                <a:tc>
                  <a:txBody>
                    <a:bodyPr anchor="t" rtlCol="false"/>
                    <a:lstStyle/>
                    <a:p>
                      <a:pPr algn="ctr">
                        <a:lnSpc>
                          <a:spcPts val="2520"/>
                        </a:lnSpc>
                        <a:defRPr/>
                      </a:pPr>
                      <a:r>
                        <a:rPr lang="en-US" sz="1800" b="true">
                          <a:solidFill>
                            <a:srgbClr val="000000"/>
                          </a:solidFill>
                          <a:latin typeface="Muli Bold"/>
                          <a:ea typeface="Muli Bold"/>
                          <a:cs typeface="Muli Bold"/>
                          <a:sym typeface="Muli Bold"/>
                        </a:rPr>
                        <a:t> Nguồn (Tên video và link)</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b="true">
                          <a:solidFill>
                            <a:srgbClr val="000000"/>
                          </a:solidFill>
                          <a:latin typeface="Muli Bold"/>
                          <a:ea typeface="Muli Bold"/>
                          <a:cs typeface="Muli Bold"/>
                          <a:sym typeface="Muli Bold"/>
                        </a:rPr>
                        <a:t> Tính thời sự (Currency)</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b="true">
                          <a:solidFill>
                            <a:srgbClr val="000000"/>
                          </a:solidFill>
                          <a:latin typeface="Muli Bold"/>
                          <a:ea typeface="Muli Bold"/>
                          <a:cs typeface="Muli Bold"/>
                          <a:sym typeface="Muli Bold"/>
                        </a:rPr>
                        <a:t> Tính liên quan (Relevance)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b="true">
                          <a:solidFill>
                            <a:srgbClr val="000000"/>
                          </a:solidFill>
                          <a:latin typeface="Muli Bold"/>
                          <a:ea typeface="Muli Bold"/>
                          <a:cs typeface="Muli Bold"/>
                          <a:sym typeface="Muli Bold"/>
                        </a:rPr>
                        <a:t> Mục đích (Purpose)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b="true">
                          <a:solidFill>
                            <a:srgbClr val="000000"/>
                          </a:solidFill>
                          <a:latin typeface="Muli Bold"/>
                          <a:ea typeface="Muli Bold"/>
                          <a:cs typeface="Muli Bold"/>
                          <a:sym typeface="Muli Bold"/>
                        </a:rPr>
                        <a:t> Tính chính xác (Accuracy)</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b="true">
                          <a:solidFill>
                            <a:srgbClr val="000000"/>
                          </a:solidFill>
                          <a:latin typeface="Muli Bold"/>
                          <a:ea typeface="Muli Bold"/>
                          <a:cs typeface="Muli Bold"/>
                          <a:sym typeface="Muli Bold"/>
                        </a:rPr>
                        <a:t> Thẩm quyền (Authority)</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2046652">
                <a:tc>
                  <a:txBody>
                    <a:bodyPr anchor="t" rtlCol="false"/>
                    <a:lstStyle/>
                    <a:p>
                      <a:pPr algn="ctr">
                        <a:lnSpc>
                          <a:spcPts val="2520"/>
                        </a:lnSpc>
                        <a:defRPr/>
                      </a:pPr>
                      <a:r>
                        <a:rPr lang="en-US" sz="1800">
                          <a:solidFill>
                            <a:srgbClr val="000000"/>
                          </a:solidFill>
                          <a:latin typeface="Muli"/>
                          <a:ea typeface="Muli"/>
                          <a:cs typeface="Muli"/>
                          <a:sym typeface="Muli"/>
                        </a:rPr>
                        <a:t>1. VTV24 (Tin tức, Việt Nam) </a:t>
                      </a:r>
                      <a:r>
                        <a:rPr lang="en-US" sz="1800">
                          <a:solidFill>
                            <a:srgbClr val="000000"/>
                          </a:solidFill>
                          <a:latin typeface="Muli"/>
                          <a:ea typeface="Muli"/>
                          <a:cs typeface="Muli"/>
                          <a:sym typeface="Muli"/>
                        </a:rPr>
                        <a:t></a:t>
                      </a:r>
                      <a:endParaRPr lang="en-US" sz="1100"/>
                    </a:p>
                    <a:p>
                      <a:pPr algn="ctr">
                        <a:lnSpc>
                          <a:spcPts val="2520"/>
                        </a:lnSpc>
                      </a:pPr>
                      <a:r>
                        <a:rPr lang="en-US" sz="1800">
                          <a:solidFill>
                            <a:srgbClr val="000000"/>
                          </a:solidFill>
                          <a:latin typeface="Muli"/>
                          <a:ea typeface="Muli"/>
                          <a:cs typeface="Muli"/>
                          <a:sym typeface="Muli"/>
                        </a:rPr>
                        <a:t>"Đầu tư phát triển trí tuệ nhân tạo trong lĩnh vực y tế</a:t>
                      </a:r>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Muli"/>
                          <a:ea typeface="Muli"/>
                          <a:cs typeface="Muli"/>
                          <a:sym typeface="Muli"/>
                        </a:rPr>
                        <a:t>Tốt</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Muli"/>
                          <a:ea typeface="Muli"/>
                          <a:cs typeface="Muli"/>
                          <a:sym typeface="Muli"/>
                        </a:rPr>
                        <a:t>Tốt (2023). Phản ánh xu hướng đầu tư AI y tế hiện tại</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Muli"/>
                          <a:ea typeface="Muli"/>
                          <a:cs typeface="Muli"/>
                          <a:sym typeface="Muli"/>
                        </a:rPr>
                        <a:t> Cao. Báo cáo tin tức khách quan, đã qua kiểm duyệt biên tập</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Muli"/>
                          <a:ea typeface="Muli"/>
                          <a:cs typeface="Muli"/>
                          <a:sym typeface="Muli"/>
                        </a:rPr>
                        <a:t> Rất cao. (VTV24 - Đài Truyền hình Việt Nam).</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Muli"/>
                          <a:ea typeface="Muli"/>
                          <a:cs typeface="Muli"/>
                          <a:sym typeface="Muli"/>
                        </a:rPr>
                        <a:t> Rất cao. Báo cáo tin tức về ứng dụng AI, bao gồm cả chatbot, trong ngành y.</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2046652">
                <a:tc>
                  <a:txBody>
                    <a:bodyPr anchor="t" rtlCol="false"/>
                    <a:lstStyle/>
                    <a:p>
                      <a:pPr algn="ctr">
                        <a:lnSpc>
                          <a:spcPts val="2659"/>
                        </a:lnSpc>
                        <a:defRPr/>
                      </a:pPr>
                      <a:r>
                        <a:rPr lang="en-US" sz="1899">
                          <a:solidFill>
                            <a:srgbClr val="000000"/>
                          </a:solidFill>
                          <a:latin typeface="Muli"/>
                          <a:ea typeface="Muli"/>
                          <a:cs typeface="Muli"/>
                          <a:sym typeface="Muli"/>
                        </a:rPr>
                        <a:t> 2. FPT (Công nghệ, Việt Nam) </a:t>
                      </a:r>
                      <a:endParaRPr lang="en-US" sz="1100"/>
                    </a:p>
                    <a:p>
                      <a:pPr algn="ctr">
                        <a:lnSpc>
                          <a:spcPts val="2659"/>
                        </a:lnSpc>
                      </a:pPr>
                      <a:r>
                        <a:rPr lang="en-US" sz="1899">
                          <a:solidFill>
                            <a:srgbClr val="000000"/>
                          </a:solidFill>
                          <a:latin typeface="Muli"/>
                          <a:ea typeface="Muli"/>
                          <a:cs typeface="Muli"/>
                          <a:sym typeface="Muli"/>
                        </a:rPr>
                        <a:t>"Y tế thông minh – Khi AI trở thành bác sĩ đồng hành</a:t>
                      </a:r>
                    </a:p>
                    <a:p>
                      <a:pPr algn="ctr">
                        <a:lnSpc>
                          <a:spcPts val="2659"/>
                        </a:lnSpc>
                      </a:pPr>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Muli"/>
                          <a:ea typeface="Muli"/>
                          <a:cs typeface="Muli"/>
                          <a:sym typeface="Muli"/>
                        </a:rPr>
                        <a:t>Trung bình </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Muli"/>
                          <a:ea typeface="Muli"/>
                          <a:cs typeface="Muli"/>
                          <a:sym typeface="Muli"/>
                        </a:rPr>
                        <a:t> Tốt (2022). Phân tích chuyên sâu từ đơn vị phát triển.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Muli"/>
                          <a:ea typeface="Muli"/>
                          <a:cs typeface="Muli"/>
                          <a:sym typeface="Muli"/>
                        </a:rPr>
                        <a:t> Tốt. Chính xác về mặt công nghệ, có thể tô đậm lợi ích.</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Muli"/>
                          <a:ea typeface="Muli"/>
                          <a:cs typeface="Muli"/>
                          <a:sym typeface="Muli"/>
                        </a:rPr>
                        <a:t> Cao. (Tập đoàn FPT - Đơn vị hàng đầu về AI tại Việt Nam).</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Muli"/>
                          <a:ea typeface="Muli"/>
                          <a:cs typeface="Muli"/>
                          <a:sym typeface="Muli"/>
                        </a:rPr>
                        <a:t> Rất cao. Thảo luận trực tiếp về vai trò của AI, trợ lý ảo trong y tế thông minh.</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2142290">
                <a:tc>
                  <a:txBody>
                    <a:bodyPr anchor="t" rtlCol="false"/>
                    <a:lstStyle/>
                    <a:p>
                      <a:pPr algn="ctr">
                        <a:lnSpc>
                          <a:spcPts val="2659"/>
                        </a:lnSpc>
                        <a:defRPr/>
                      </a:pPr>
                      <a:r>
                        <a:rPr lang="en-US" sz="1899">
                          <a:solidFill>
                            <a:srgbClr val="000000"/>
                          </a:solidFill>
                          <a:latin typeface="Muli"/>
                          <a:ea typeface="Muli"/>
                          <a:cs typeface="Muli"/>
                          <a:sym typeface="Muli"/>
                        </a:rPr>
                        <a:t> 3. Microsoft (Công nghệ, Toàn cầu) </a:t>
                      </a:r>
                      <a:endParaRPr lang="en-US" sz="1100"/>
                    </a:p>
                    <a:p>
                      <a:pPr algn="ctr">
                        <a:lnSpc>
                          <a:spcPts val="2659"/>
                        </a:lnSpc>
                      </a:pPr>
                      <a:r>
                        <a:rPr lang="en-US" sz="1899">
                          <a:solidFill>
                            <a:srgbClr val="000000"/>
                          </a:solidFill>
                          <a:latin typeface="Muli"/>
                          <a:ea typeface="Muli"/>
                          <a:cs typeface="Muli"/>
                          <a:sym typeface="Muli"/>
                        </a:rPr>
                        <a:t>"Introduction to Azure Health Bot (Episode 1)" </a:t>
                      </a:r>
                    </a:p>
                    <a:p>
                      <a:pPr algn="ctr">
                        <a:lnSpc>
                          <a:spcPts val="2659"/>
                        </a:lnSpc>
                      </a:pPr>
                      <a:r>
                        <a:rPr lang="en-US" sz="1899">
                          <a:solidFill>
                            <a:srgbClr val="000000"/>
                          </a:solidFill>
                          <a:latin typeface="Muli"/>
                          <a:ea typeface="Muli"/>
                          <a:cs typeface="Muli"/>
                          <a:sym typeface="Muli"/>
                        </a:rPr>
                        <a:t>https://www.youtube.com/watch?v=SYfmu3_eX4w</a:t>
                      </a:r>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Muli"/>
                          <a:ea typeface="Muli"/>
                          <a:cs typeface="Muli"/>
                          <a:sym typeface="Muli"/>
                        </a:rPr>
                        <a:t> Tốt (2021). Là video giới thiệu nền tảng, giá trị còn nguyên.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Muli"/>
                          <a:ea typeface="Muli"/>
                          <a:cs typeface="Muli"/>
                          <a:sym typeface="Muli"/>
                        </a:rPr>
                        <a:t> Rất cao. Giới thiệu một trong những nền tảng chatbot y tế lớn nhất thế giới.</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Muli"/>
                          <a:ea typeface="Muli"/>
                          <a:cs typeface="Muli"/>
                          <a:sym typeface="Muli"/>
                        </a:rPr>
                        <a:t> Hướng dẫn, đào tạo (cho lập trình viên) và tiếp thị sản phẩm (Azure).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Muli"/>
                          <a:ea typeface="Muli"/>
                          <a:cs typeface="Muli"/>
                          <a:sym typeface="Muli"/>
                        </a:rPr>
                        <a:t> Rất cao. Hướng dẫn kỹ thuật chính xác từ nhà phát triển.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Muli"/>
                          <a:ea typeface="Muli"/>
                          <a:cs typeface="Muli"/>
                          <a:sym typeface="Muli"/>
                        </a:rPr>
                        <a:t> Rất cao. (Microsoft - Nhà sản xuất phần mềm).</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2046652">
                <a:tc>
                  <a:txBody>
                    <a:bodyPr anchor="t" rtlCol="false"/>
                    <a:lstStyle/>
                    <a:p>
                      <a:pPr algn="l">
                        <a:lnSpc>
                          <a:spcPts val="1959"/>
                        </a:lnSpc>
                        <a:defRPr/>
                      </a:pPr>
                      <a:r>
                        <a:rPr lang="en-US" sz="1399">
                          <a:solidFill>
                            <a:srgbClr val="000000"/>
                          </a:solidFill>
                          <a:latin typeface="Muli"/>
                          <a:ea typeface="Muli"/>
                          <a:cs typeface="Muli"/>
                          <a:sym typeface="Muli"/>
                        </a:rPr>
                        <a:t> 4. BBC Newsnight (Báo chí Điều tra)</a:t>
                      </a:r>
                      <a:endParaRPr lang="en-US" sz="1100"/>
                    </a:p>
                    <a:p>
                      <a:pPr algn="l">
                        <a:lnSpc>
                          <a:spcPts val="1959"/>
                        </a:lnSpc>
                      </a:pPr>
                      <a:r>
                        <a:rPr lang="en-US" sz="1399">
                          <a:solidFill>
                            <a:srgbClr val="000000"/>
                          </a:solidFill>
                          <a:latin typeface="Muli"/>
                          <a:ea typeface="Muli"/>
                          <a:cs typeface="Muli"/>
                          <a:sym typeface="Muli"/>
                        </a:rPr>
                        <a:t>"Digital Healthcare: Is it clinically effective? (Babylon Health)" </a:t>
                      </a:r>
                    </a:p>
                    <a:p>
                      <a:pPr algn="l">
                        <a:lnSpc>
                          <a:spcPts val="1959"/>
                        </a:lnSpc>
                      </a:pPr>
                      <a:r>
                        <a:rPr lang="en-US" sz="1399">
                          <a:solidFill>
                            <a:srgbClr val="000000"/>
                          </a:solidFill>
                          <a:latin typeface="Muli"/>
                          <a:ea typeface="Muli"/>
                          <a:cs typeface="Muli"/>
                          <a:sym typeface="Muli"/>
                        </a:rPr>
                        <a:t>https://www.youtube.com/watch?v=FQm-wnUJNrU</a:t>
                      </a:r>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Muli"/>
                          <a:ea typeface="Muli"/>
                          <a:cs typeface="Muli"/>
                          <a:sym typeface="Muli"/>
                        </a:rPr>
                        <a:t> Tốt. Cung cấp góc nhìn phản biện cần thiết.</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Muli"/>
                          <a:ea typeface="Muli"/>
                          <a:cs typeface="Muli"/>
                          <a:sym typeface="Muli"/>
                        </a:rPr>
                        <a:t> Rất cao. Điều tra về tính hiệu quả và an toàn của chatbot Babylon Health.</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Muli"/>
                          <a:ea typeface="Muli"/>
                          <a:cs typeface="Muli"/>
                          <a:sym typeface="Muli"/>
                        </a:rPr>
                        <a:t> Điều tra, phản biện, cảnh báo về rủi ro và tính chính xác</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Muli"/>
                          <a:ea typeface="Muli"/>
                          <a:cs typeface="Muli"/>
                          <a:sym typeface="Muli"/>
                        </a:rPr>
                        <a:t> Rất cao. Báo cáo điều tra, đưa ra cả 2 mặt của vấn đề.</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Muli"/>
                          <a:ea typeface="Muli"/>
                          <a:cs typeface="Muli"/>
                          <a:sym typeface="Muli"/>
                        </a:rPr>
                        <a:t> Rất cao. (BBC Newsnight - Chương trình uy tín của BBC).</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Tree>
  </p:cSld>
  <p:clrMapOvr>
    <a:masterClrMapping/>
  </p:clrMapOvr>
  <p:transition spd="fast">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DAG59v41v_0</dc:identifier>
  <dcterms:modified xsi:type="dcterms:W3CDTF">2011-08-01T06:04:30Z</dcterms:modified>
  <cp:revision>1</cp:revision>
  <dc:title>Trợ lí y tế ảo và chatbot</dc:title>
</cp:coreProperties>
</file>