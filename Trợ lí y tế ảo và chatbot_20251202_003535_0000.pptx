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Muli" charset="1" panose="00000500000000000000"/>
      <p:regular r:id="rId19"/>
    </p:embeddedFont>
    <p:embeddedFont>
      <p:font typeface="Muli Bold" charset="1" panose="00000800000000000000"/>
      <p:regular r:id="rId20"/>
    </p:embeddedFont>
    <p:embeddedFont>
      <p:font typeface="Arimo" charset="1" panose="020B06040202020202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6.jpeg" Type="http://schemas.openxmlformats.org/officeDocument/2006/relationships/image"/><Relationship Id="rId5"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6.jpeg" Type="http://schemas.openxmlformats.org/officeDocument/2006/relationships/image"/><Relationship Id="rId5"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BADBF3"/>
        </a:solidFill>
      </p:bgPr>
    </p:bg>
    <p:spTree>
      <p:nvGrpSpPr>
        <p:cNvPr id="1" name=""/>
        <p:cNvGrpSpPr/>
        <p:nvPr/>
      </p:nvGrpSpPr>
      <p:grpSpPr>
        <a:xfrm>
          <a:off x="0" y="0"/>
          <a:ext cx="0" cy="0"/>
          <a:chOff x="0" y="0"/>
          <a:chExt cx="0" cy="0"/>
        </a:xfrm>
      </p:grpSpPr>
      <p:sp>
        <p:nvSpPr>
          <p:cNvPr name="Freeform 2" id="2"/>
          <p:cNvSpPr/>
          <p:nvPr/>
        </p:nvSpPr>
        <p:spPr>
          <a:xfrm flipH="false" flipV="false" rot="0">
            <a:off x="3097736" y="6232322"/>
            <a:ext cx="3232876" cy="4223472"/>
          </a:xfrm>
          <a:custGeom>
            <a:avLst/>
            <a:gdLst/>
            <a:ahLst/>
            <a:cxnLst/>
            <a:rect r="r" b="b" t="t" l="l"/>
            <a:pathLst>
              <a:path h="4223472" w="3232876">
                <a:moveTo>
                  <a:pt x="0" y="0"/>
                </a:moveTo>
                <a:lnTo>
                  <a:pt x="3232876" y="0"/>
                </a:lnTo>
                <a:lnTo>
                  <a:pt x="3232876" y="4223472"/>
                </a:lnTo>
                <a:lnTo>
                  <a:pt x="0" y="42234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48993" y="6232322"/>
            <a:ext cx="3401815" cy="4223472"/>
          </a:xfrm>
          <a:custGeom>
            <a:avLst/>
            <a:gdLst/>
            <a:ahLst/>
            <a:cxnLst/>
            <a:rect r="r" b="b" t="t" l="l"/>
            <a:pathLst>
              <a:path h="4223472" w="3401815">
                <a:moveTo>
                  <a:pt x="0" y="0"/>
                </a:moveTo>
                <a:lnTo>
                  <a:pt x="3401815" y="0"/>
                </a:lnTo>
                <a:lnTo>
                  <a:pt x="3401815" y="4223472"/>
                </a:lnTo>
                <a:lnTo>
                  <a:pt x="0" y="42234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125023" y="6232322"/>
            <a:ext cx="3271271" cy="4223472"/>
          </a:xfrm>
          <a:custGeom>
            <a:avLst/>
            <a:gdLst/>
            <a:ahLst/>
            <a:cxnLst/>
            <a:rect r="r" b="b" t="t" l="l"/>
            <a:pathLst>
              <a:path h="4223472" w="3271271">
                <a:moveTo>
                  <a:pt x="0" y="0"/>
                </a:moveTo>
                <a:lnTo>
                  <a:pt x="3271272" y="0"/>
                </a:lnTo>
                <a:lnTo>
                  <a:pt x="3271272" y="4223472"/>
                </a:lnTo>
                <a:lnTo>
                  <a:pt x="0" y="42234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90101" y="6232322"/>
            <a:ext cx="3079295" cy="4223472"/>
          </a:xfrm>
          <a:custGeom>
            <a:avLst/>
            <a:gdLst/>
            <a:ahLst/>
            <a:cxnLst/>
            <a:rect r="r" b="b" t="t" l="l"/>
            <a:pathLst>
              <a:path h="4223472" w="3079295">
                <a:moveTo>
                  <a:pt x="0" y="0"/>
                </a:moveTo>
                <a:lnTo>
                  <a:pt x="3079296" y="0"/>
                </a:lnTo>
                <a:lnTo>
                  <a:pt x="3079296" y="4223472"/>
                </a:lnTo>
                <a:lnTo>
                  <a:pt x="0" y="42234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618059" y="475596"/>
            <a:ext cx="1995824" cy="1995824"/>
          </a:xfrm>
          <a:custGeom>
            <a:avLst/>
            <a:gdLst/>
            <a:ahLst/>
            <a:cxnLst/>
            <a:rect r="r" b="b" t="t" l="l"/>
            <a:pathLst>
              <a:path h="1995824" w="1995824">
                <a:moveTo>
                  <a:pt x="0" y="0"/>
                </a:moveTo>
                <a:lnTo>
                  <a:pt x="1995824" y="0"/>
                </a:lnTo>
                <a:lnTo>
                  <a:pt x="1995824" y="1995824"/>
                </a:lnTo>
                <a:lnTo>
                  <a:pt x="0" y="1995824"/>
                </a:lnTo>
                <a:lnTo>
                  <a:pt x="0" y="0"/>
                </a:lnTo>
                <a:close/>
              </a:path>
            </a:pathLst>
          </a:custGeom>
          <a:blipFill>
            <a:blip r:embed="rId10"/>
            <a:stretch>
              <a:fillRect l="0" t="0" r="0" b="0"/>
            </a:stretch>
          </a:blipFill>
        </p:spPr>
      </p:sp>
      <p:sp>
        <p:nvSpPr>
          <p:cNvPr name="TextBox 7" id="7"/>
          <p:cNvSpPr txBox="true"/>
          <p:nvPr/>
        </p:nvSpPr>
        <p:spPr>
          <a:xfrm rot="0">
            <a:off x="1028700" y="1095375"/>
            <a:ext cx="13476556" cy="2818765"/>
          </a:xfrm>
          <a:prstGeom prst="rect">
            <a:avLst/>
          </a:prstGeom>
        </p:spPr>
        <p:txBody>
          <a:bodyPr anchor="t" rtlCol="false" tIns="0" lIns="0" bIns="0" rIns="0">
            <a:spAutoFit/>
          </a:bodyPr>
          <a:lstStyle/>
          <a:p>
            <a:pPr algn="l">
              <a:lnSpc>
                <a:spcPts val="7369"/>
              </a:lnSpc>
            </a:pPr>
            <a:r>
              <a:rPr lang="en-US" sz="6699">
                <a:solidFill>
                  <a:srgbClr val="000000"/>
                </a:solidFill>
                <a:latin typeface="Muli"/>
                <a:ea typeface="Muli"/>
                <a:cs typeface="Muli"/>
                <a:sym typeface="Muli"/>
              </a:rPr>
              <a:t>TRỢ LÍ Y TẾ ẢO &amp; CHATBOT TRONG LĨNH VỰC Y HỌC VIỆT NAM</a:t>
            </a:r>
          </a:p>
        </p:txBody>
      </p:sp>
      <p:sp>
        <p:nvSpPr>
          <p:cNvPr name="TextBox 8" id="8"/>
          <p:cNvSpPr txBox="true"/>
          <p:nvPr/>
        </p:nvSpPr>
        <p:spPr>
          <a:xfrm rot="0">
            <a:off x="12234717" y="6565265"/>
            <a:ext cx="4116176" cy="2693035"/>
          </a:xfrm>
          <a:prstGeom prst="rect">
            <a:avLst/>
          </a:prstGeom>
        </p:spPr>
        <p:txBody>
          <a:bodyPr anchor="t" rtlCol="false" tIns="0" lIns="0" bIns="0" rIns="0">
            <a:spAutoFit/>
          </a:bodyPr>
          <a:lstStyle/>
          <a:p>
            <a:pPr algn="l">
              <a:lnSpc>
                <a:spcPts val="4339"/>
              </a:lnSpc>
            </a:pPr>
            <a:r>
              <a:rPr lang="en-US" sz="3099">
                <a:solidFill>
                  <a:srgbClr val="000000"/>
                </a:solidFill>
                <a:latin typeface="Muli"/>
                <a:ea typeface="Muli"/>
                <a:cs typeface="Muli"/>
                <a:sym typeface="Muli"/>
              </a:rPr>
              <a:t>Các thành viên :</a:t>
            </a:r>
          </a:p>
          <a:p>
            <a:pPr algn="l">
              <a:lnSpc>
                <a:spcPts val="4339"/>
              </a:lnSpc>
            </a:pPr>
            <a:r>
              <a:rPr lang="en-US" sz="3099">
                <a:solidFill>
                  <a:srgbClr val="000000"/>
                </a:solidFill>
                <a:latin typeface="Muli"/>
                <a:ea typeface="Muli"/>
                <a:cs typeface="Muli"/>
                <a:sym typeface="Muli"/>
              </a:rPr>
              <a:t>Đỗ Văn Thành</a:t>
            </a:r>
          </a:p>
          <a:p>
            <a:pPr algn="l">
              <a:lnSpc>
                <a:spcPts val="4339"/>
              </a:lnSpc>
            </a:pPr>
            <a:r>
              <a:rPr lang="en-US" sz="3099">
                <a:solidFill>
                  <a:srgbClr val="000000"/>
                </a:solidFill>
                <a:latin typeface="Muli"/>
                <a:ea typeface="Muli"/>
                <a:cs typeface="Muli"/>
                <a:sym typeface="Muli"/>
              </a:rPr>
              <a:t>Nguyễn Thị Anh Thơ</a:t>
            </a:r>
          </a:p>
          <a:p>
            <a:pPr algn="l">
              <a:lnSpc>
                <a:spcPts val="4339"/>
              </a:lnSpc>
            </a:pPr>
            <a:r>
              <a:rPr lang="en-US" sz="3099">
                <a:solidFill>
                  <a:srgbClr val="000000"/>
                </a:solidFill>
                <a:latin typeface="Muli"/>
                <a:ea typeface="Muli"/>
                <a:cs typeface="Muli"/>
                <a:sym typeface="Muli"/>
              </a:rPr>
              <a:t>Võ Lê Bảo Thy</a:t>
            </a:r>
          </a:p>
          <a:p>
            <a:pPr algn="l">
              <a:lnSpc>
                <a:spcPts val="4339"/>
              </a:lnSpc>
            </a:pPr>
            <a:r>
              <a:rPr lang="en-US" sz="3099">
                <a:solidFill>
                  <a:srgbClr val="000000"/>
                </a:solidFill>
                <a:latin typeface="Muli"/>
                <a:ea typeface="Muli"/>
                <a:cs typeface="Muli"/>
                <a:sym typeface="Muli"/>
              </a:rPr>
              <a:t>Nguyễn Tân Tiến </a:t>
            </a:r>
          </a:p>
        </p:txBody>
      </p:sp>
      <p:sp>
        <p:nvSpPr>
          <p:cNvPr name="TextBox 9" id="9"/>
          <p:cNvSpPr txBox="true"/>
          <p:nvPr/>
        </p:nvSpPr>
        <p:spPr>
          <a:xfrm rot="0">
            <a:off x="12234717" y="5168062"/>
            <a:ext cx="5379166" cy="1064260"/>
          </a:xfrm>
          <a:prstGeom prst="rect">
            <a:avLst/>
          </a:prstGeom>
        </p:spPr>
        <p:txBody>
          <a:bodyPr anchor="t" rtlCol="false" tIns="0" lIns="0" bIns="0" rIns="0">
            <a:spAutoFit/>
          </a:bodyPr>
          <a:lstStyle/>
          <a:p>
            <a:pPr algn="l">
              <a:lnSpc>
                <a:spcPts val="4339"/>
              </a:lnSpc>
            </a:pPr>
            <a:r>
              <a:rPr lang="en-US" sz="3099">
                <a:solidFill>
                  <a:srgbClr val="000000"/>
                </a:solidFill>
                <a:latin typeface="Muli"/>
                <a:ea typeface="Muli"/>
                <a:cs typeface="Muli"/>
                <a:sym typeface="Muli"/>
              </a:rPr>
              <a:t>Giáo viên hướng dẫn :</a:t>
            </a:r>
          </a:p>
          <a:p>
            <a:pPr algn="l">
              <a:lnSpc>
                <a:spcPts val="4339"/>
              </a:lnSpc>
            </a:pPr>
            <a:r>
              <a:rPr lang="en-US" sz="3099">
                <a:solidFill>
                  <a:srgbClr val="000000"/>
                </a:solidFill>
                <a:latin typeface="Muli"/>
                <a:ea typeface="Muli"/>
                <a:cs typeface="Muli"/>
                <a:sym typeface="Muli"/>
              </a:rPr>
              <a:t>Ths.GVC Nguyễn Minh Trung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1F189"/>
        </a:solidFill>
      </p:bgPr>
    </p:bg>
    <p:spTree>
      <p:nvGrpSpPr>
        <p:cNvPr id="1" name=""/>
        <p:cNvGrpSpPr/>
        <p:nvPr/>
      </p:nvGrpSpPr>
      <p:grpSpPr>
        <a:xfrm>
          <a:off x="0" y="0"/>
          <a:ext cx="0" cy="0"/>
          <a:chOff x="0" y="0"/>
          <a:chExt cx="0" cy="0"/>
        </a:xfrm>
      </p:grpSpPr>
      <p:sp>
        <p:nvSpPr>
          <p:cNvPr name="Freeform 2" id="2"/>
          <p:cNvSpPr/>
          <p:nvPr/>
        </p:nvSpPr>
        <p:spPr>
          <a:xfrm flipH="false" flipV="false" rot="0">
            <a:off x="2704098" y="-2335231"/>
            <a:ext cx="15380780" cy="18592152"/>
          </a:xfrm>
          <a:custGeom>
            <a:avLst/>
            <a:gdLst/>
            <a:ahLst/>
            <a:cxnLst/>
            <a:rect r="r" b="b" t="t" l="l"/>
            <a:pathLst>
              <a:path h="18592152" w="15380780">
                <a:moveTo>
                  <a:pt x="0" y="0"/>
                </a:moveTo>
                <a:lnTo>
                  <a:pt x="15380780" y="0"/>
                </a:lnTo>
                <a:lnTo>
                  <a:pt x="15380780" y="18592152"/>
                </a:lnTo>
                <a:lnTo>
                  <a:pt x="0" y="18592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4034410" y="4568141"/>
            <a:ext cx="4356731" cy="5718859"/>
          </a:xfrm>
          <a:custGeom>
            <a:avLst/>
            <a:gdLst/>
            <a:ahLst/>
            <a:cxnLst/>
            <a:rect r="r" b="b" t="t" l="l"/>
            <a:pathLst>
              <a:path h="5718859" w="4356731">
                <a:moveTo>
                  <a:pt x="4356731" y="0"/>
                </a:moveTo>
                <a:lnTo>
                  <a:pt x="0" y="0"/>
                </a:lnTo>
                <a:lnTo>
                  <a:pt x="0" y="5718859"/>
                </a:lnTo>
                <a:lnTo>
                  <a:pt x="4356731" y="5718859"/>
                </a:lnTo>
                <a:lnTo>
                  <a:pt x="4356731"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9293138" y="2850989"/>
            <a:ext cx="341787" cy="341787"/>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grpSp>
        <p:nvGrpSpPr>
          <p:cNvPr name="Group 6" id="6"/>
          <p:cNvGrpSpPr/>
          <p:nvPr/>
        </p:nvGrpSpPr>
        <p:grpSpPr>
          <a:xfrm rot="0">
            <a:off x="9293138" y="3908225"/>
            <a:ext cx="341787" cy="341787"/>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grpSp>
        <p:nvGrpSpPr>
          <p:cNvPr name="Group 8" id="8"/>
          <p:cNvGrpSpPr/>
          <p:nvPr/>
        </p:nvGrpSpPr>
        <p:grpSpPr>
          <a:xfrm rot="0">
            <a:off x="9293138" y="4972606"/>
            <a:ext cx="341787" cy="341787"/>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grpSp>
        <p:nvGrpSpPr>
          <p:cNvPr name="Group 10" id="10"/>
          <p:cNvGrpSpPr/>
          <p:nvPr/>
        </p:nvGrpSpPr>
        <p:grpSpPr>
          <a:xfrm rot="0">
            <a:off x="9293138" y="5665780"/>
            <a:ext cx="341787" cy="341787"/>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grpSp>
        <p:nvGrpSpPr>
          <p:cNvPr name="Group 12" id="12"/>
          <p:cNvGrpSpPr/>
          <p:nvPr/>
        </p:nvGrpSpPr>
        <p:grpSpPr>
          <a:xfrm rot="0">
            <a:off x="9293138" y="6534973"/>
            <a:ext cx="341787" cy="341787"/>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TextBox 14" id="14"/>
          <p:cNvSpPr txBox="true"/>
          <p:nvPr/>
        </p:nvSpPr>
        <p:spPr>
          <a:xfrm rot="0">
            <a:off x="1028700" y="1028700"/>
            <a:ext cx="6011420" cy="1333500"/>
          </a:xfrm>
          <a:prstGeom prst="rect">
            <a:avLst/>
          </a:prstGeom>
        </p:spPr>
        <p:txBody>
          <a:bodyPr anchor="t" rtlCol="false" tIns="0" lIns="0" bIns="0" rIns="0">
            <a:spAutoFit/>
          </a:bodyPr>
          <a:lstStyle/>
          <a:p>
            <a:pPr algn="l">
              <a:lnSpc>
                <a:spcPts val="10559"/>
              </a:lnSpc>
            </a:pPr>
            <a:r>
              <a:rPr lang="en-US" sz="8799">
                <a:solidFill>
                  <a:srgbClr val="000000"/>
                </a:solidFill>
                <a:latin typeface="Muli"/>
                <a:ea typeface="Muli"/>
                <a:cs typeface="Muli"/>
                <a:sym typeface="Muli"/>
              </a:rPr>
              <a:t>Nội dung </a:t>
            </a:r>
          </a:p>
        </p:txBody>
      </p:sp>
      <p:sp>
        <p:nvSpPr>
          <p:cNvPr name="TextBox 15" id="15"/>
          <p:cNvSpPr txBox="true"/>
          <p:nvPr/>
        </p:nvSpPr>
        <p:spPr>
          <a:xfrm rot="0">
            <a:off x="8324625" y="756920"/>
            <a:ext cx="8934675" cy="1612900"/>
          </a:xfrm>
          <a:prstGeom prst="rect">
            <a:avLst/>
          </a:prstGeom>
        </p:spPr>
        <p:txBody>
          <a:bodyPr anchor="t" rtlCol="false" tIns="0" lIns="0" bIns="0" rIns="0">
            <a:spAutoFit/>
          </a:bodyPr>
          <a:lstStyle/>
          <a:p>
            <a:pPr algn="l">
              <a:lnSpc>
                <a:spcPts val="6499"/>
              </a:lnSpc>
            </a:pPr>
            <a:r>
              <a:rPr lang="en-US" sz="4999">
                <a:solidFill>
                  <a:srgbClr val="000000"/>
                </a:solidFill>
                <a:latin typeface="Muli"/>
                <a:ea typeface="Muli"/>
                <a:cs typeface="Muli"/>
                <a:sym typeface="Muli"/>
              </a:rPr>
              <a:t>Những điều chúng ta</a:t>
            </a:r>
          </a:p>
          <a:p>
            <a:pPr algn="l">
              <a:lnSpc>
                <a:spcPts val="6499"/>
              </a:lnSpc>
            </a:pPr>
            <a:r>
              <a:rPr lang="en-US" sz="4999">
                <a:solidFill>
                  <a:srgbClr val="000000"/>
                </a:solidFill>
                <a:latin typeface="Muli"/>
                <a:ea typeface="Muli"/>
                <a:cs typeface="Muli"/>
                <a:sym typeface="Muli"/>
              </a:rPr>
              <a:t>sẽ tìm hiểu</a:t>
            </a:r>
          </a:p>
        </p:txBody>
      </p:sp>
      <p:sp>
        <p:nvSpPr>
          <p:cNvPr name="TextBox 16" id="16"/>
          <p:cNvSpPr txBox="true"/>
          <p:nvPr/>
        </p:nvSpPr>
        <p:spPr>
          <a:xfrm rot="0">
            <a:off x="10075185" y="2707001"/>
            <a:ext cx="6693080" cy="952500"/>
          </a:xfrm>
          <a:prstGeom prst="rect">
            <a:avLst/>
          </a:prstGeom>
        </p:spPr>
        <p:txBody>
          <a:bodyPr anchor="t" rtlCol="false" tIns="0" lIns="0" bIns="0" rIns="0">
            <a:spAutoFit/>
          </a:bodyPr>
          <a:lstStyle/>
          <a:p>
            <a:pPr algn="l">
              <a:lnSpc>
                <a:spcPts val="3899"/>
              </a:lnSpc>
            </a:pPr>
            <a:r>
              <a:rPr lang="en-US" sz="2999">
                <a:solidFill>
                  <a:srgbClr val="000000"/>
                </a:solidFill>
                <a:latin typeface="Muli"/>
                <a:ea typeface="Muli"/>
                <a:cs typeface="Muli"/>
                <a:sym typeface="Muli"/>
              </a:rPr>
              <a:t>1.	Cơ sở lí luận về trợ lí y tế ảo &amp; chatbot</a:t>
            </a:r>
          </a:p>
        </p:txBody>
      </p:sp>
      <p:sp>
        <p:nvSpPr>
          <p:cNvPr name="TextBox 17" id="17"/>
          <p:cNvSpPr txBox="true"/>
          <p:nvPr/>
        </p:nvSpPr>
        <p:spPr>
          <a:xfrm rot="0">
            <a:off x="10075185" y="4829048"/>
            <a:ext cx="6693080" cy="466725"/>
          </a:xfrm>
          <a:prstGeom prst="rect">
            <a:avLst/>
          </a:prstGeom>
        </p:spPr>
        <p:txBody>
          <a:bodyPr anchor="t" rtlCol="false" tIns="0" lIns="0" bIns="0" rIns="0">
            <a:spAutoFit/>
          </a:bodyPr>
          <a:lstStyle/>
          <a:p>
            <a:pPr algn="l">
              <a:lnSpc>
                <a:spcPts val="3899"/>
              </a:lnSpc>
            </a:pPr>
            <a:r>
              <a:rPr lang="en-US" sz="2999">
                <a:solidFill>
                  <a:srgbClr val="000000"/>
                </a:solidFill>
                <a:latin typeface="Muli"/>
                <a:ea typeface="Muli"/>
                <a:cs typeface="Muli"/>
                <a:sym typeface="Muli"/>
              </a:rPr>
              <a:t>3.	Lợi ích và hạn chế của trợ lí y tế ảo</a:t>
            </a:r>
          </a:p>
        </p:txBody>
      </p:sp>
      <p:sp>
        <p:nvSpPr>
          <p:cNvPr name="TextBox 18" id="18"/>
          <p:cNvSpPr txBox="true"/>
          <p:nvPr/>
        </p:nvSpPr>
        <p:spPr>
          <a:xfrm rot="0">
            <a:off x="10075185" y="3764237"/>
            <a:ext cx="6693080" cy="952500"/>
          </a:xfrm>
          <a:prstGeom prst="rect">
            <a:avLst/>
          </a:prstGeom>
        </p:spPr>
        <p:txBody>
          <a:bodyPr anchor="t" rtlCol="false" tIns="0" lIns="0" bIns="0" rIns="0">
            <a:spAutoFit/>
          </a:bodyPr>
          <a:lstStyle/>
          <a:p>
            <a:pPr algn="l">
              <a:lnSpc>
                <a:spcPts val="3899"/>
              </a:lnSpc>
            </a:pPr>
            <a:r>
              <a:rPr lang="en-US" sz="2999">
                <a:solidFill>
                  <a:srgbClr val="000000"/>
                </a:solidFill>
                <a:latin typeface="Muli"/>
                <a:ea typeface="Muli"/>
                <a:cs typeface="Muli"/>
                <a:sym typeface="Muli"/>
              </a:rPr>
              <a:t>2.	Ứng dụng chatbot trong tư vấn &amp; chăm sóc sức khỏe</a:t>
            </a:r>
          </a:p>
        </p:txBody>
      </p:sp>
      <p:sp>
        <p:nvSpPr>
          <p:cNvPr name="TextBox 19" id="19"/>
          <p:cNvSpPr txBox="true"/>
          <p:nvPr/>
        </p:nvSpPr>
        <p:spPr>
          <a:xfrm rot="0">
            <a:off x="10075185" y="5593786"/>
            <a:ext cx="6693080" cy="466725"/>
          </a:xfrm>
          <a:prstGeom prst="rect">
            <a:avLst/>
          </a:prstGeom>
        </p:spPr>
        <p:txBody>
          <a:bodyPr anchor="t" rtlCol="false" tIns="0" lIns="0" bIns="0" rIns="0">
            <a:spAutoFit/>
          </a:bodyPr>
          <a:lstStyle/>
          <a:p>
            <a:pPr algn="l">
              <a:lnSpc>
                <a:spcPts val="3899"/>
              </a:lnSpc>
            </a:pPr>
            <a:r>
              <a:rPr lang="en-US" sz="2999">
                <a:solidFill>
                  <a:srgbClr val="000000"/>
                </a:solidFill>
                <a:latin typeface="Muli"/>
                <a:ea typeface="Muli"/>
                <a:cs typeface="Muli"/>
                <a:sym typeface="Muli"/>
              </a:rPr>
              <a:t>4.	Thách thức và rủi ro khi triển khai</a:t>
            </a:r>
          </a:p>
        </p:txBody>
      </p:sp>
      <p:sp>
        <p:nvSpPr>
          <p:cNvPr name="TextBox 20" id="20"/>
          <p:cNvSpPr txBox="true"/>
          <p:nvPr/>
        </p:nvSpPr>
        <p:spPr>
          <a:xfrm rot="0">
            <a:off x="10075185" y="6475070"/>
            <a:ext cx="6693080" cy="952500"/>
          </a:xfrm>
          <a:prstGeom prst="rect">
            <a:avLst/>
          </a:prstGeom>
        </p:spPr>
        <p:txBody>
          <a:bodyPr anchor="t" rtlCol="false" tIns="0" lIns="0" bIns="0" rIns="0">
            <a:spAutoFit/>
          </a:bodyPr>
          <a:lstStyle/>
          <a:p>
            <a:pPr algn="l">
              <a:lnSpc>
                <a:spcPts val="3899"/>
              </a:lnSpc>
            </a:pPr>
            <a:r>
              <a:rPr lang="en-US" sz="2999">
                <a:solidFill>
                  <a:srgbClr val="000000"/>
                </a:solidFill>
                <a:latin typeface="Muli"/>
                <a:ea typeface="Muli"/>
                <a:cs typeface="Muli"/>
                <a:sym typeface="Muli"/>
              </a:rPr>
              <a:t>5.	Thực trạng và tiểm năng ứng dụng tới Việt Nam</a:t>
            </a:r>
          </a:p>
        </p:txBody>
      </p:sp>
      <p:grpSp>
        <p:nvGrpSpPr>
          <p:cNvPr name="Group 21" id="21"/>
          <p:cNvGrpSpPr/>
          <p:nvPr/>
        </p:nvGrpSpPr>
        <p:grpSpPr>
          <a:xfrm rot="0">
            <a:off x="9293138" y="7591136"/>
            <a:ext cx="323294" cy="323294"/>
            <a:chOff x="0" y="0"/>
            <a:chExt cx="6350000" cy="6350000"/>
          </a:xfrm>
        </p:grpSpPr>
        <p:sp>
          <p:nvSpPr>
            <p:cNvPr name="Freeform 22" id="2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TextBox 23" id="23"/>
          <p:cNvSpPr txBox="true"/>
          <p:nvPr/>
        </p:nvSpPr>
        <p:spPr>
          <a:xfrm rot="0">
            <a:off x="10075185" y="7532345"/>
            <a:ext cx="6693080" cy="952500"/>
          </a:xfrm>
          <a:prstGeom prst="rect">
            <a:avLst/>
          </a:prstGeom>
        </p:spPr>
        <p:txBody>
          <a:bodyPr anchor="t" rtlCol="false" tIns="0" lIns="0" bIns="0" rIns="0">
            <a:spAutoFit/>
          </a:bodyPr>
          <a:lstStyle/>
          <a:p>
            <a:pPr algn="l">
              <a:lnSpc>
                <a:spcPts val="3899"/>
              </a:lnSpc>
            </a:pPr>
            <a:r>
              <a:rPr lang="en-US" sz="2999">
                <a:solidFill>
                  <a:srgbClr val="000000"/>
                </a:solidFill>
                <a:latin typeface="Muli"/>
                <a:ea typeface="Muli"/>
                <a:cs typeface="Muli"/>
                <a:sym typeface="Muli"/>
              </a:rPr>
              <a:t>6.	Giải pháp và định hướng phát triển trong tương lai</a:t>
            </a:r>
          </a:p>
        </p:txBody>
      </p:sp>
      <p:sp>
        <p:nvSpPr>
          <p:cNvPr name="TextBox 24" id="24"/>
          <p:cNvSpPr txBox="true"/>
          <p:nvPr/>
        </p:nvSpPr>
        <p:spPr>
          <a:xfrm rot="0">
            <a:off x="10075185" y="8832508"/>
            <a:ext cx="6693080" cy="466725"/>
          </a:xfrm>
          <a:prstGeom prst="rect">
            <a:avLst/>
          </a:prstGeom>
        </p:spPr>
        <p:txBody>
          <a:bodyPr anchor="t" rtlCol="false" tIns="0" lIns="0" bIns="0" rIns="0">
            <a:spAutoFit/>
          </a:bodyPr>
          <a:lstStyle/>
          <a:p>
            <a:pPr algn="l">
              <a:lnSpc>
                <a:spcPts val="3899"/>
              </a:lnSpc>
            </a:pPr>
            <a:r>
              <a:rPr lang="en-US" sz="2999">
                <a:solidFill>
                  <a:srgbClr val="000000"/>
                </a:solidFill>
                <a:latin typeface="Muli"/>
                <a:ea typeface="Muli"/>
                <a:cs typeface="Muli"/>
                <a:sym typeface="Muli"/>
              </a:rPr>
              <a:t>7. Kết luận</a:t>
            </a:r>
          </a:p>
        </p:txBody>
      </p:sp>
      <p:grpSp>
        <p:nvGrpSpPr>
          <p:cNvPr name="Group 25" id="25"/>
          <p:cNvGrpSpPr/>
          <p:nvPr/>
        </p:nvGrpSpPr>
        <p:grpSpPr>
          <a:xfrm rot="0">
            <a:off x="9293138" y="8752102"/>
            <a:ext cx="323294" cy="323294"/>
            <a:chOff x="0" y="0"/>
            <a:chExt cx="6350000" cy="6350000"/>
          </a:xfrm>
        </p:grpSpPr>
        <p:sp>
          <p:nvSpPr>
            <p:cNvPr name="Freeform 26" id="2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Freeform 27" id="27"/>
          <p:cNvSpPr/>
          <p:nvPr/>
        </p:nvSpPr>
        <p:spPr>
          <a:xfrm flipH="false" flipV="false" rot="0">
            <a:off x="15856505" y="340557"/>
            <a:ext cx="1947344" cy="1947344"/>
          </a:xfrm>
          <a:custGeom>
            <a:avLst/>
            <a:gdLst/>
            <a:ahLst/>
            <a:cxnLst/>
            <a:rect r="r" b="b" t="t" l="l"/>
            <a:pathLst>
              <a:path h="1947344" w="1947344">
                <a:moveTo>
                  <a:pt x="0" y="0"/>
                </a:moveTo>
                <a:lnTo>
                  <a:pt x="1947344" y="0"/>
                </a:lnTo>
                <a:lnTo>
                  <a:pt x="1947344" y="1947344"/>
                </a:lnTo>
                <a:lnTo>
                  <a:pt x="0" y="1947344"/>
                </a:lnTo>
                <a:lnTo>
                  <a:pt x="0" y="0"/>
                </a:lnTo>
                <a:close/>
              </a:path>
            </a:pathLst>
          </a:custGeom>
          <a:blipFill>
            <a:blip r:embed="rId6"/>
            <a:stretch>
              <a:fillRect l="0" t="0" r="0" b="0"/>
            </a:stretch>
          </a:blipFill>
        </p:spPr>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DF7"/>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8879336" y="820322"/>
            <a:ext cx="15128191" cy="11965024"/>
          </a:xfrm>
          <a:custGeom>
            <a:avLst/>
            <a:gdLst/>
            <a:ahLst/>
            <a:cxnLst/>
            <a:rect r="r" b="b" t="t" l="l"/>
            <a:pathLst>
              <a:path h="11965024" w="15128191">
                <a:moveTo>
                  <a:pt x="0" y="0"/>
                </a:moveTo>
                <a:lnTo>
                  <a:pt x="15128191" y="0"/>
                </a:lnTo>
                <a:lnTo>
                  <a:pt x="15128191" y="11965024"/>
                </a:lnTo>
                <a:lnTo>
                  <a:pt x="0" y="119650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079232" y="977746"/>
            <a:ext cx="7490165" cy="8331508"/>
            <a:chOff x="687070" y="247650"/>
            <a:chExt cx="11148060" cy="12400280"/>
          </a:xfrm>
        </p:grpSpPr>
        <p:sp>
          <p:nvSpPr>
            <p:cNvPr name="Freeform 4" id="4"/>
            <p:cNvSpPr/>
            <p:nvPr/>
          </p:nvSpPr>
          <p:spPr>
            <a:xfrm flipH="false" flipV="false" rot="0">
              <a:off x="366333" y="5962"/>
              <a:ext cx="10331959" cy="12110687"/>
            </a:xfrm>
            <a:custGeom>
              <a:avLst/>
              <a:gdLst/>
              <a:ahLst/>
              <a:cxnLst/>
              <a:rect r="r" b="b" t="t" l="l"/>
              <a:pathLst>
                <a:path h="12110687" w="10331959">
                  <a:moveTo>
                    <a:pt x="8848787" y="1491368"/>
                  </a:moveTo>
                  <a:cubicBezTo>
                    <a:pt x="8406827" y="966858"/>
                    <a:pt x="7868347" y="502038"/>
                    <a:pt x="7224457" y="246768"/>
                  </a:cubicBezTo>
                  <a:cubicBezTo>
                    <a:pt x="6765987" y="65158"/>
                    <a:pt x="6266877" y="-5962"/>
                    <a:pt x="5772847" y="388"/>
                  </a:cubicBezTo>
                  <a:cubicBezTo>
                    <a:pt x="3687507" y="30868"/>
                    <a:pt x="1791397" y="1485018"/>
                    <a:pt x="922717" y="3340488"/>
                  </a:cubicBezTo>
                  <a:cubicBezTo>
                    <a:pt x="160717" y="4971168"/>
                    <a:pt x="-366333" y="7786758"/>
                    <a:pt x="314387" y="9451728"/>
                  </a:cubicBezTo>
                  <a:cubicBezTo>
                    <a:pt x="993837" y="11116698"/>
                    <a:pt x="2133027" y="11999348"/>
                    <a:pt x="3881817" y="12075548"/>
                  </a:cubicBezTo>
                  <a:cubicBezTo>
                    <a:pt x="6635177" y="12394318"/>
                    <a:pt x="8721787" y="10496938"/>
                    <a:pt x="9751757" y="8303648"/>
                  </a:cubicBezTo>
                  <a:cubicBezTo>
                    <a:pt x="10781728" y="6110358"/>
                    <a:pt x="10415967" y="3355728"/>
                    <a:pt x="8848787" y="1491368"/>
                  </a:cubicBezTo>
                  <a:close/>
                </a:path>
              </a:pathLst>
            </a:custGeom>
            <a:blipFill>
              <a:blip r:embed="rId4"/>
              <a:stretch>
                <a:fillRect l="-37911" t="0" r="-37911" b="0"/>
              </a:stretch>
            </a:blipFill>
          </p:spPr>
        </p:sp>
      </p:grpSp>
      <p:sp>
        <p:nvSpPr>
          <p:cNvPr name="TextBox 5" id="5"/>
          <p:cNvSpPr txBox="true"/>
          <p:nvPr/>
        </p:nvSpPr>
        <p:spPr>
          <a:xfrm rot="0">
            <a:off x="1028700" y="939646"/>
            <a:ext cx="8626246" cy="1356360"/>
          </a:xfrm>
          <a:prstGeom prst="rect">
            <a:avLst/>
          </a:prstGeom>
        </p:spPr>
        <p:txBody>
          <a:bodyPr anchor="t" rtlCol="false" tIns="0" lIns="0" bIns="0" rIns="0">
            <a:spAutoFit/>
          </a:bodyPr>
          <a:lstStyle/>
          <a:p>
            <a:pPr algn="l">
              <a:lnSpc>
                <a:spcPts val="5460"/>
              </a:lnSpc>
            </a:pPr>
            <a:r>
              <a:rPr lang="en-US" b="true" sz="4200">
                <a:solidFill>
                  <a:srgbClr val="009490"/>
                </a:solidFill>
                <a:latin typeface="Muli Bold"/>
                <a:ea typeface="Muli Bold"/>
                <a:cs typeface="Muli Bold"/>
                <a:sym typeface="Muli Bold"/>
              </a:rPr>
              <a:t>1.	Cơ sở lí luận về trợ lí y tế ảo &amp; chatbot</a:t>
            </a:r>
          </a:p>
        </p:txBody>
      </p:sp>
      <p:sp>
        <p:nvSpPr>
          <p:cNvPr name="TextBox 6" id="6"/>
          <p:cNvSpPr txBox="true"/>
          <p:nvPr/>
        </p:nvSpPr>
        <p:spPr>
          <a:xfrm rot="0">
            <a:off x="1028700" y="2403538"/>
            <a:ext cx="8290612" cy="4572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1.1. Khái niệm </a:t>
            </a:r>
          </a:p>
        </p:txBody>
      </p:sp>
      <p:sp>
        <p:nvSpPr>
          <p:cNvPr name="TextBox 7" id="7"/>
          <p:cNvSpPr txBox="true"/>
          <p:nvPr/>
        </p:nvSpPr>
        <p:spPr>
          <a:xfrm rot="0">
            <a:off x="1364333" y="2968270"/>
            <a:ext cx="8290612" cy="22860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1.1.1. Trợ lí y tế ảo </a:t>
            </a:r>
          </a:p>
          <a:p>
            <a:pPr algn="l">
              <a:lnSpc>
                <a:spcPts val="3600"/>
              </a:lnSpc>
            </a:pPr>
            <a:r>
              <a:rPr lang="en-US" sz="3000">
                <a:solidFill>
                  <a:srgbClr val="000000"/>
                </a:solidFill>
                <a:latin typeface="Muli"/>
                <a:ea typeface="Muli"/>
                <a:cs typeface="Muli"/>
                <a:sym typeface="Muli"/>
              </a:rPr>
              <a:t> Trợ lý y tế ảo là AI sử dụng các thuật toán và phần mềm phức tạp để ước tính nhận thức của con người trong việc phân tích dữ liệu y tế phức tạp. </a:t>
            </a:r>
          </a:p>
        </p:txBody>
      </p:sp>
      <p:sp>
        <p:nvSpPr>
          <p:cNvPr name="TextBox 8" id="8"/>
          <p:cNvSpPr txBox="true"/>
          <p:nvPr/>
        </p:nvSpPr>
        <p:spPr>
          <a:xfrm rot="0">
            <a:off x="1364333" y="5359045"/>
            <a:ext cx="8290612" cy="18288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1.1.2. Chatbot y tế </a:t>
            </a:r>
          </a:p>
          <a:p>
            <a:pPr algn="l">
              <a:lnSpc>
                <a:spcPts val="3600"/>
              </a:lnSpc>
            </a:pPr>
            <a:r>
              <a:rPr lang="en-US" sz="3000">
                <a:solidFill>
                  <a:srgbClr val="000000"/>
                </a:solidFill>
                <a:latin typeface="Muli"/>
                <a:ea typeface="Muli"/>
                <a:cs typeface="Muli"/>
                <a:sym typeface="Muli"/>
              </a:rPr>
              <a:t> Chatbot y tế là dạng đơn giản hơn của trợ lí y tế ảo cho phép chỉ tập trung vào một hay một số tác vụ cụ thể</a:t>
            </a:r>
          </a:p>
        </p:txBody>
      </p:sp>
      <p:sp>
        <p:nvSpPr>
          <p:cNvPr name="TextBox 9" id="9"/>
          <p:cNvSpPr txBox="true"/>
          <p:nvPr/>
        </p:nvSpPr>
        <p:spPr>
          <a:xfrm rot="0">
            <a:off x="1364333" y="7292620"/>
            <a:ext cx="8290612" cy="27432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1.1.3. Mục tiêu chính</a:t>
            </a:r>
          </a:p>
          <a:p>
            <a:pPr algn="l" marL="647700" indent="-323850" lvl="1">
              <a:lnSpc>
                <a:spcPts val="3600"/>
              </a:lnSpc>
              <a:buFont typeface="Arial"/>
              <a:buChar char="•"/>
            </a:pPr>
            <a:r>
              <a:rPr lang="en-US" sz="3000">
                <a:solidFill>
                  <a:srgbClr val="000000"/>
                </a:solidFill>
                <a:latin typeface="Muli"/>
                <a:ea typeface="Muli"/>
                <a:cs typeface="Muli"/>
                <a:sym typeface="Muli"/>
              </a:rPr>
              <a:t> Phân tích mối quan hệ giữa các kỹ thuật phòng ngừa hoặc điều trị và kết quả của bệnh nhân.</a:t>
            </a:r>
          </a:p>
          <a:p>
            <a:pPr algn="l" marL="647700" indent="-323850" lvl="1">
              <a:lnSpc>
                <a:spcPts val="3600"/>
              </a:lnSpc>
              <a:buFont typeface="Arial"/>
              <a:buChar char="•"/>
            </a:pPr>
            <a:r>
              <a:rPr lang="en-US" sz="3000">
                <a:solidFill>
                  <a:srgbClr val="000000"/>
                </a:solidFill>
                <a:latin typeface="Muli"/>
                <a:ea typeface="Muli"/>
                <a:cs typeface="Muli"/>
                <a:sym typeface="Muli"/>
              </a:rPr>
              <a:t> Tăng cường khả năng tiếp cận dịch vụ y tế.</a:t>
            </a:r>
          </a:p>
          <a:p>
            <a:pPr algn="l" marL="647700" indent="-323850" lvl="1">
              <a:lnSpc>
                <a:spcPts val="3600"/>
              </a:lnSpc>
              <a:buFont typeface="Arial"/>
              <a:buChar char="•"/>
            </a:pPr>
            <a:r>
              <a:rPr lang="en-US" sz="3000">
                <a:solidFill>
                  <a:srgbClr val="000000"/>
                </a:solidFill>
                <a:latin typeface="Muli"/>
                <a:ea typeface="Muli"/>
                <a:cs typeface="Muli"/>
                <a:sym typeface="Muli"/>
              </a:rPr>
              <a:t>..........</a:t>
            </a:r>
          </a:p>
        </p:txBody>
      </p:sp>
      <p:sp>
        <p:nvSpPr>
          <p:cNvPr name="Freeform 10" id="10"/>
          <p:cNvSpPr/>
          <p:nvPr/>
        </p:nvSpPr>
        <p:spPr>
          <a:xfrm flipH="false" flipV="false" rot="0">
            <a:off x="16072021" y="179713"/>
            <a:ext cx="1967478" cy="1967478"/>
          </a:xfrm>
          <a:custGeom>
            <a:avLst/>
            <a:gdLst/>
            <a:ahLst/>
            <a:cxnLst/>
            <a:rect r="r" b="b" t="t" l="l"/>
            <a:pathLst>
              <a:path h="1967478" w="1967478">
                <a:moveTo>
                  <a:pt x="0" y="0"/>
                </a:moveTo>
                <a:lnTo>
                  <a:pt x="1967478" y="0"/>
                </a:lnTo>
                <a:lnTo>
                  <a:pt x="1967478" y="1967477"/>
                </a:lnTo>
                <a:lnTo>
                  <a:pt x="0" y="1967477"/>
                </a:lnTo>
                <a:lnTo>
                  <a:pt x="0" y="0"/>
                </a:lnTo>
                <a:close/>
              </a:path>
            </a:pathLst>
          </a:custGeom>
          <a:blipFill>
            <a:blip r:embed="rId5"/>
            <a:stretch>
              <a:fillRect l="0" t="0" r="0" b="0"/>
            </a:stretch>
          </a:blipFill>
        </p:spPr>
      </p:sp>
    </p:spTree>
  </p:cSld>
  <p:clrMapOvr>
    <a:masterClrMapping/>
  </p:clrMapOvr>
  <p:transition spd="fast">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DF7"/>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8879336" y="820322"/>
            <a:ext cx="15128191" cy="11965024"/>
          </a:xfrm>
          <a:custGeom>
            <a:avLst/>
            <a:gdLst/>
            <a:ahLst/>
            <a:cxnLst/>
            <a:rect r="r" b="b" t="t" l="l"/>
            <a:pathLst>
              <a:path h="11965024" w="15128191">
                <a:moveTo>
                  <a:pt x="0" y="0"/>
                </a:moveTo>
                <a:lnTo>
                  <a:pt x="15128191" y="0"/>
                </a:lnTo>
                <a:lnTo>
                  <a:pt x="15128191" y="11965024"/>
                </a:lnTo>
                <a:lnTo>
                  <a:pt x="0" y="119650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079232" y="977746"/>
            <a:ext cx="7490165" cy="8331508"/>
            <a:chOff x="687070" y="247650"/>
            <a:chExt cx="11148060" cy="12400280"/>
          </a:xfrm>
        </p:grpSpPr>
        <p:sp>
          <p:nvSpPr>
            <p:cNvPr name="Freeform 4" id="4"/>
            <p:cNvSpPr/>
            <p:nvPr/>
          </p:nvSpPr>
          <p:spPr>
            <a:xfrm flipH="false" flipV="false" rot="0">
              <a:off x="366333" y="5962"/>
              <a:ext cx="10331959" cy="12110687"/>
            </a:xfrm>
            <a:custGeom>
              <a:avLst/>
              <a:gdLst/>
              <a:ahLst/>
              <a:cxnLst/>
              <a:rect r="r" b="b" t="t" l="l"/>
              <a:pathLst>
                <a:path h="12110687" w="10331959">
                  <a:moveTo>
                    <a:pt x="8848787" y="1491368"/>
                  </a:moveTo>
                  <a:cubicBezTo>
                    <a:pt x="8406827" y="966858"/>
                    <a:pt x="7868347" y="502038"/>
                    <a:pt x="7224457" y="246768"/>
                  </a:cubicBezTo>
                  <a:cubicBezTo>
                    <a:pt x="6765987" y="65158"/>
                    <a:pt x="6266877" y="-5962"/>
                    <a:pt x="5772847" y="388"/>
                  </a:cubicBezTo>
                  <a:cubicBezTo>
                    <a:pt x="3687507" y="30868"/>
                    <a:pt x="1791397" y="1485018"/>
                    <a:pt x="922717" y="3340488"/>
                  </a:cubicBezTo>
                  <a:cubicBezTo>
                    <a:pt x="160717" y="4971168"/>
                    <a:pt x="-366333" y="7786758"/>
                    <a:pt x="314387" y="9451728"/>
                  </a:cubicBezTo>
                  <a:cubicBezTo>
                    <a:pt x="993837" y="11116698"/>
                    <a:pt x="2133027" y="11999348"/>
                    <a:pt x="3881817" y="12075548"/>
                  </a:cubicBezTo>
                  <a:cubicBezTo>
                    <a:pt x="6635177" y="12394318"/>
                    <a:pt x="8721787" y="10496938"/>
                    <a:pt x="9751757" y="8303648"/>
                  </a:cubicBezTo>
                  <a:cubicBezTo>
                    <a:pt x="10781728" y="6110358"/>
                    <a:pt x="10415967" y="3355728"/>
                    <a:pt x="8848787" y="1491368"/>
                  </a:cubicBezTo>
                  <a:close/>
                </a:path>
              </a:pathLst>
            </a:custGeom>
            <a:blipFill>
              <a:blip r:embed="rId4"/>
              <a:stretch>
                <a:fillRect l="-37911" t="0" r="-37911" b="0"/>
              </a:stretch>
            </a:blipFill>
          </p:spPr>
        </p:sp>
      </p:grpSp>
      <p:sp>
        <p:nvSpPr>
          <p:cNvPr name="TextBox 5" id="5"/>
          <p:cNvSpPr txBox="true"/>
          <p:nvPr/>
        </p:nvSpPr>
        <p:spPr>
          <a:xfrm rot="0">
            <a:off x="1028700" y="939646"/>
            <a:ext cx="8626246" cy="1356360"/>
          </a:xfrm>
          <a:prstGeom prst="rect">
            <a:avLst/>
          </a:prstGeom>
        </p:spPr>
        <p:txBody>
          <a:bodyPr anchor="t" rtlCol="false" tIns="0" lIns="0" bIns="0" rIns="0">
            <a:spAutoFit/>
          </a:bodyPr>
          <a:lstStyle/>
          <a:p>
            <a:pPr algn="l">
              <a:lnSpc>
                <a:spcPts val="5460"/>
              </a:lnSpc>
            </a:pPr>
            <a:r>
              <a:rPr lang="en-US" b="true" sz="4200">
                <a:solidFill>
                  <a:srgbClr val="009490"/>
                </a:solidFill>
                <a:latin typeface="Muli Bold"/>
                <a:ea typeface="Muli Bold"/>
                <a:cs typeface="Muli Bold"/>
                <a:sym typeface="Muli Bold"/>
              </a:rPr>
              <a:t>1.	Cơ sở lí luận về trợ lí y tế ảo &amp; chatbot</a:t>
            </a:r>
          </a:p>
        </p:txBody>
      </p:sp>
      <p:sp>
        <p:nvSpPr>
          <p:cNvPr name="TextBox 6" id="6"/>
          <p:cNvSpPr txBox="true"/>
          <p:nvPr/>
        </p:nvSpPr>
        <p:spPr>
          <a:xfrm rot="0">
            <a:off x="1196517" y="2905402"/>
            <a:ext cx="8290612" cy="18288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1.2. Nguyên lý hoạt động </a:t>
            </a:r>
          </a:p>
          <a:p>
            <a:pPr algn="l">
              <a:lnSpc>
                <a:spcPts val="3600"/>
              </a:lnSpc>
            </a:pPr>
            <a:r>
              <a:rPr lang="en-US" sz="3000">
                <a:solidFill>
                  <a:srgbClr val="000000"/>
                </a:solidFill>
                <a:latin typeface="Muli"/>
                <a:ea typeface="Muli"/>
                <a:cs typeface="Muli"/>
                <a:sym typeface="Muli"/>
              </a:rPr>
              <a:t> Trợ lý y tế ảo và chatbot hoạt động dựa trên công nghệ xử lý ngôn ngữ tự nhiên (NLP), trí tuệ nhân tạo (AI) và cơ sở tri thức y khoa</a:t>
            </a:r>
          </a:p>
        </p:txBody>
      </p:sp>
      <p:sp>
        <p:nvSpPr>
          <p:cNvPr name="TextBox 7" id="7"/>
          <p:cNvSpPr txBox="true"/>
          <p:nvPr/>
        </p:nvSpPr>
        <p:spPr>
          <a:xfrm rot="0">
            <a:off x="1196517" y="5343802"/>
            <a:ext cx="8290612" cy="22860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1.3. Phân loại </a:t>
            </a:r>
          </a:p>
          <a:p>
            <a:pPr algn="l" marL="647700" indent="-323850" lvl="1">
              <a:lnSpc>
                <a:spcPts val="3600"/>
              </a:lnSpc>
              <a:buFont typeface="Arial"/>
              <a:buChar char="•"/>
            </a:pPr>
            <a:r>
              <a:rPr lang="en-US" sz="3000">
                <a:solidFill>
                  <a:srgbClr val="000000"/>
                </a:solidFill>
                <a:latin typeface="Muli"/>
                <a:ea typeface="Muli"/>
                <a:cs typeface="Muli"/>
                <a:sym typeface="Muli"/>
              </a:rPr>
              <a:t>Chatbot tư vấn triệu chứng </a:t>
            </a:r>
          </a:p>
          <a:p>
            <a:pPr algn="l" marL="647700" indent="-323850" lvl="1">
              <a:lnSpc>
                <a:spcPts val="3600"/>
              </a:lnSpc>
              <a:buFont typeface="Arial"/>
              <a:buChar char="•"/>
            </a:pPr>
            <a:r>
              <a:rPr lang="en-US" sz="3000">
                <a:solidFill>
                  <a:srgbClr val="000000"/>
                </a:solidFill>
                <a:latin typeface="Muli"/>
                <a:ea typeface="Muli"/>
                <a:cs typeface="Muli"/>
                <a:sym typeface="Muli"/>
              </a:rPr>
              <a:t>Chatbot quản lý bệnh nhân </a:t>
            </a:r>
          </a:p>
          <a:p>
            <a:pPr algn="l" marL="647700" indent="-323850" lvl="1">
              <a:lnSpc>
                <a:spcPts val="3600"/>
              </a:lnSpc>
              <a:buFont typeface="Arial"/>
              <a:buChar char="•"/>
            </a:pPr>
            <a:r>
              <a:rPr lang="en-US" sz="3000">
                <a:solidFill>
                  <a:srgbClr val="000000"/>
                </a:solidFill>
                <a:latin typeface="Muli"/>
                <a:ea typeface="Muli"/>
                <a:cs typeface="Muli"/>
                <a:sym typeface="Muli"/>
              </a:rPr>
              <a:t>Chatbot chăm sóc sau điều trị</a:t>
            </a:r>
          </a:p>
          <a:p>
            <a:pPr algn="l" marL="647700" indent="-323850" lvl="1">
              <a:lnSpc>
                <a:spcPts val="3600"/>
              </a:lnSpc>
              <a:buFont typeface="Arial"/>
              <a:buChar char="•"/>
            </a:pPr>
            <a:r>
              <a:rPr lang="en-US" sz="3000">
                <a:solidFill>
                  <a:srgbClr val="000000"/>
                </a:solidFill>
                <a:latin typeface="Muli"/>
                <a:ea typeface="Muli"/>
                <a:cs typeface="Muli"/>
                <a:sym typeface="Muli"/>
              </a:rPr>
              <a:t>Trợ lí ảo tổng hợp </a:t>
            </a:r>
          </a:p>
        </p:txBody>
      </p:sp>
      <p:sp>
        <p:nvSpPr>
          <p:cNvPr name="Freeform 8" id="8"/>
          <p:cNvSpPr/>
          <p:nvPr/>
        </p:nvSpPr>
        <p:spPr>
          <a:xfrm flipH="false" flipV="false" rot="0">
            <a:off x="16268357" y="314120"/>
            <a:ext cx="1981887" cy="1981887"/>
          </a:xfrm>
          <a:custGeom>
            <a:avLst/>
            <a:gdLst/>
            <a:ahLst/>
            <a:cxnLst/>
            <a:rect r="r" b="b" t="t" l="l"/>
            <a:pathLst>
              <a:path h="1981887" w="1981887">
                <a:moveTo>
                  <a:pt x="0" y="0"/>
                </a:moveTo>
                <a:lnTo>
                  <a:pt x="1981886" y="0"/>
                </a:lnTo>
                <a:lnTo>
                  <a:pt x="1981886" y="1981886"/>
                </a:lnTo>
                <a:lnTo>
                  <a:pt x="0" y="1981886"/>
                </a:lnTo>
                <a:lnTo>
                  <a:pt x="0" y="0"/>
                </a:lnTo>
                <a:close/>
              </a:path>
            </a:pathLst>
          </a:custGeom>
          <a:blipFill>
            <a:blip r:embed="rId5"/>
            <a:stretch>
              <a:fillRect l="0" t="0" r="0" b="0"/>
            </a:stretch>
          </a:blipFill>
        </p:spPr>
      </p:sp>
    </p:spTree>
  </p:cSld>
  <p:clrMapOvr>
    <a:masterClrMapping/>
  </p:clrMapOvr>
  <p:transition spd="fast">
    <p:cover dir="rd"/>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BADBF3"/>
        </a:solidFill>
      </p:bgPr>
    </p:bg>
    <p:spTree>
      <p:nvGrpSpPr>
        <p:cNvPr id="1" name=""/>
        <p:cNvGrpSpPr/>
        <p:nvPr/>
      </p:nvGrpSpPr>
      <p:grpSpPr>
        <a:xfrm>
          <a:off x="0" y="0"/>
          <a:ext cx="0" cy="0"/>
          <a:chOff x="0" y="0"/>
          <a:chExt cx="0" cy="0"/>
        </a:xfrm>
      </p:grpSpPr>
      <p:sp>
        <p:nvSpPr>
          <p:cNvPr name="Freeform 2" id="2"/>
          <p:cNvSpPr/>
          <p:nvPr/>
        </p:nvSpPr>
        <p:spPr>
          <a:xfrm flipH="false" flipV="false" rot="0">
            <a:off x="3444570" y="4431898"/>
            <a:ext cx="3484273" cy="4551900"/>
          </a:xfrm>
          <a:custGeom>
            <a:avLst/>
            <a:gdLst/>
            <a:ahLst/>
            <a:cxnLst/>
            <a:rect r="r" b="b" t="t" l="l"/>
            <a:pathLst>
              <a:path h="4551900" w="3484273">
                <a:moveTo>
                  <a:pt x="0" y="0"/>
                </a:moveTo>
                <a:lnTo>
                  <a:pt x="3484272" y="0"/>
                </a:lnTo>
                <a:lnTo>
                  <a:pt x="3484272" y="4551900"/>
                </a:lnTo>
                <a:lnTo>
                  <a:pt x="0" y="4551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411673" y="6530573"/>
            <a:ext cx="4097491" cy="4561984"/>
          </a:xfrm>
          <a:custGeom>
            <a:avLst/>
            <a:gdLst/>
            <a:ahLst/>
            <a:cxnLst/>
            <a:rect r="r" b="b" t="t" l="l"/>
            <a:pathLst>
              <a:path h="4561984" w="4097491">
                <a:moveTo>
                  <a:pt x="0" y="0"/>
                </a:moveTo>
                <a:lnTo>
                  <a:pt x="4097491" y="0"/>
                </a:lnTo>
                <a:lnTo>
                  <a:pt x="4097491" y="4561984"/>
                </a:lnTo>
                <a:lnTo>
                  <a:pt x="0" y="45619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11140" y="5711657"/>
            <a:ext cx="3863814" cy="4722440"/>
          </a:xfrm>
          <a:custGeom>
            <a:avLst/>
            <a:gdLst/>
            <a:ahLst/>
            <a:cxnLst/>
            <a:rect r="r" b="b" t="t" l="l"/>
            <a:pathLst>
              <a:path h="4722440" w="3863814">
                <a:moveTo>
                  <a:pt x="0" y="0"/>
                </a:moveTo>
                <a:lnTo>
                  <a:pt x="3863814" y="0"/>
                </a:lnTo>
                <a:lnTo>
                  <a:pt x="3863814" y="4722440"/>
                </a:lnTo>
                <a:lnTo>
                  <a:pt x="0" y="47224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32758" y="670491"/>
            <a:ext cx="11570883" cy="1524000"/>
          </a:xfrm>
          <a:prstGeom prst="rect">
            <a:avLst/>
          </a:prstGeom>
        </p:spPr>
        <p:txBody>
          <a:bodyPr anchor="t" rtlCol="false" tIns="0" lIns="0" bIns="0" rIns="0">
            <a:spAutoFit/>
          </a:bodyPr>
          <a:lstStyle/>
          <a:p>
            <a:pPr algn="ctr">
              <a:lnSpc>
                <a:spcPts val="6000"/>
              </a:lnSpc>
            </a:pPr>
            <a:r>
              <a:rPr lang="en-US" b="true" sz="5000">
                <a:solidFill>
                  <a:srgbClr val="000000"/>
                </a:solidFill>
                <a:latin typeface="Muli Bold"/>
                <a:ea typeface="Muli Bold"/>
                <a:cs typeface="Muli Bold"/>
                <a:sym typeface="Muli Bold"/>
              </a:rPr>
              <a:t>2.	Ứng dụng chatbot trong tư vấn &amp; chăm sóc sức khỏe</a:t>
            </a:r>
          </a:p>
        </p:txBody>
      </p:sp>
      <p:sp>
        <p:nvSpPr>
          <p:cNvPr name="TextBox 6" id="6"/>
          <p:cNvSpPr txBox="true"/>
          <p:nvPr/>
        </p:nvSpPr>
        <p:spPr>
          <a:xfrm rot="0">
            <a:off x="10252836" y="1889656"/>
            <a:ext cx="7006464" cy="1476375"/>
          </a:xfrm>
          <a:prstGeom prst="rect">
            <a:avLst/>
          </a:prstGeom>
        </p:spPr>
        <p:txBody>
          <a:bodyPr anchor="t" rtlCol="false" tIns="0" lIns="0" bIns="0" rIns="0">
            <a:spAutoFit/>
          </a:bodyPr>
          <a:lstStyle/>
          <a:p>
            <a:pPr algn="l">
              <a:lnSpc>
                <a:spcPts val="3900"/>
              </a:lnSpc>
            </a:pPr>
            <a:r>
              <a:rPr lang="en-US" sz="3000">
                <a:solidFill>
                  <a:srgbClr val="000000"/>
                </a:solidFill>
                <a:latin typeface="Muli"/>
                <a:ea typeface="Muli"/>
                <a:cs typeface="Muli"/>
                <a:sym typeface="Muli"/>
              </a:rPr>
              <a:t>2.1. Đặt lịch hẹn khám chữa bệnh từ xa</a:t>
            </a:r>
          </a:p>
          <a:p>
            <a:pPr algn="l">
              <a:lnSpc>
                <a:spcPts val="3900"/>
              </a:lnSpc>
            </a:pPr>
            <a:r>
              <a:rPr lang="en-US" sz="3000">
                <a:solidFill>
                  <a:srgbClr val="000000"/>
                </a:solidFill>
                <a:latin typeface="Muli"/>
                <a:ea typeface="Muli"/>
                <a:cs typeface="Muli"/>
                <a:sym typeface="Muli"/>
              </a:rPr>
              <a:t>       2.1.1. Tính năng nổi bật </a:t>
            </a:r>
          </a:p>
          <a:p>
            <a:pPr algn="l">
              <a:lnSpc>
                <a:spcPts val="3900"/>
              </a:lnSpc>
            </a:pPr>
            <a:r>
              <a:rPr lang="en-US" sz="3000">
                <a:solidFill>
                  <a:srgbClr val="000000"/>
                </a:solidFill>
                <a:latin typeface="Muli"/>
                <a:ea typeface="Muli"/>
                <a:cs typeface="Muli"/>
                <a:sym typeface="Muli"/>
              </a:rPr>
              <a:t>       2.1.2. Lợi ích mang lại </a:t>
            </a:r>
          </a:p>
        </p:txBody>
      </p:sp>
      <p:sp>
        <p:nvSpPr>
          <p:cNvPr name="TextBox 7" id="7"/>
          <p:cNvSpPr txBox="true"/>
          <p:nvPr/>
        </p:nvSpPr>
        <p:spPr>
          <a:xfrm rot="0">
            <a:off x="10252836" y="3366031"/>
            <a:ext cx="7006464" cy="13716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2.2. Tư vấn sức khỏe ban đầu</a:t>
            </a:r>
          </a:p>
          <a:p>
            <a:pPr algn="l">
              <a:lnSpc>
                <a:spcPts val="3600"/>
              </a:lnSpc>
            </a:pPr>
            <a:r>
              <a:rPr lang="en-US" sz="3000">
                <a:solidFill>
                  <a:srgbClr val="000000"/>
                </a:solidFill>
                <a:latin typeface="Muli"/>
                <a:ea typeface="Muli"/>
                <a:cs typeface="Muli"/>
                <a:sym typeface="Muli"/>
              </a:rPr>
              <a:t>       2.2.1. Tính năng nổi bật </a:t>
            </a:r>
          </a:p>
          <a:p>
            <a:pPr algn="l">
              <a:lnSpc>
                <a:spcPts val="3600"/>
              </a:lnSpc>
            </a:pPr>
            <a:r>
              <a:rPr lang="en-US" sz="3000">
                <a:solidFill>
                  <a:srgbClr val="000000"/>
                </a:solidFill>
                <a:latin typeface="Muli"/>
                <a:ea typeface="Muli"/>
                <a:cs typeface="Muli"/>
                <a:sym typeface="Muli"/>
              </a:rPr>
              <a:t>       2.2.2. Lợi ích mang lại</a:t>
            </a:r>
          </a:p>
        </p:txBody>
      </p:sp>
      <p:sp>
        <p:nvSpPr>
          <p:cNvPr name="TextBox 8" id="8"/>
          <p:cNvSpPr txBox="true"/>
          <p:nvPr/>
        </p:nvSpPr>
        <p:spPr>
          <a:xfrm rot="0">
            <a:off x="10252836" y="4840423"/>
            <a:ext cx="7006464" cy="1476375"/>
          </a:xfrm>
          <a:prstGeom prst="rect">
            <a:avLst/>
          </a:prstGeom>
        </p:spPr>
        <p:txBody>
          <a:bodyPr anchor="t" rtlCol="false" tIns="0" lIns="0" bIns="0" rIns="0">
            <a:spAutoFit/>
          </a:bodyPr>
          <a:lstStyle/>
          <a:p>
            <a:pPr algn="l">
              <a:lnSpc>
                <a:spcPts val="3900"/>
              </a:lnSpc>
            </a:pPr>
            <a:r>
              <a:rPr lang="en-US" sz="3000">
                <a:solidFill>
                  <a:srgbClr val="000000"/>
                </a:solidFill>
                <a:latin typeface="Muli"/>
                <a:ea typeface="Muli"/>
                <a:cs typeface="Muli"/>
                <a:sym typeface="Muli"/>
              </a:rPr>
              <a:t>2.3. Hỗ trợ khám chữa bệnh từ xa</a:t>
            </a:r>
          </a:p>
          <a:p>
            <a:pPr algn="l">
              <a:lnSpc>
                <a:spcPts val="3900"/>
              </a:lnSpc>
            </a:pPr>
            <a:r>
              <a:rPr lang="en-US" sz="3000">
                <a:solidFill>
                  <a:srgbClr val="000000"/>
                </a:solidFill>
                <a:latin typeface="Muli"/>
                <a:ea typeface="Muli"/>
                <a:cs typeface="Muli"/>
                <a:sym typeface="Muli"/>
              </a:rPr>
              <a:t>       2.3.1. Tính năng nổi bật </a:t>
            </a:r>
          </a:p>
          <a:p>
            <a:pPr algn="l">
              <a:lnSpc>
                <a:spcPts val="3900"/>
              </a:lnSpc>
            </a:pPr>
            <a:r>
              <a:rPr lang="en-US" sz="3000">
                <a:solidFill>
                  <a:srgbClr val="000000"/>
                </a:solidFill>
                <a:latin typeface="Muli"/>
                <a:ea typeface="Muli"/>
                <a:cs typeface="Muli"/>
                <a:sym typeface="Muli"/>
              </a:rPr>
              <a:t>       2.3.2. Lợi ích mang lại</a:t>
            </a:r>
          </a:p>
        </p:txBody>
      </p:sp>
      <p:sp>
        <p:nvSpPr>
          <p:cNvPr name="TextBox 9" id="9"/>
          <p:cNvSpPr txBox="true"/>
          <p:nvPr/>
        </p:nvSpPr>
        <p:spPr>
          <a:xfrm rot="0">
            <a:off x="10252836" y="6288223"/>
            <a:ext cx="7006464" cy="1971675"/>
          </a:xfrm>
          <a:prstGeom prst="rect">
            <a:avLst/>
          </a:prstGeom>
        </p:spPr>
        <p:txBody>
          <a:bodyPr anchor="t" rtlCol="false" tIns="0" lIns="0" bIns="0" rIns="0">
            <a:spAutoFit/>
          </a:bodyPr>
          <a:lstStyle/>
          <a:p>
            <a:pPr algn="l">
              <a:lnSpc>
                <a:spcPts val="3900"/>
              </a:lnSpc>
            </a:pPr>
            <a:r>
              <a:rPr lang="en-US" sz="3000">
                <a:solidFill>
                  <a:srgbClr val="000000"/>
                </a:solidFill>
                <a:latin typeface="Muli"/>
                <a:ea typeface="Muli"/>
                <a:cs typeface="Muli"/>
                <a:sym typeface="Muli"/>
              </a:rPr>
              <a:t>2.4. Quản lý bệnh nhân và nhắc lịch điều trị</a:t>
            </a:r>
          </a:p>
          <a:p>
            <a:pPr algn="l">
              <a:lnSpc>
                <a:spcPts val="3900"/>
              </a:lnSpc>
            </a:pPr>
            <a:r>
              <a:rPr lang="en-US" sz="3000">
                <a:solidFill>
                  <a:srgbClr val="000000"/>
                </a:solidFill>
                <a:latin typeface="Muli"/>
                <a:ea typeface="Muli"/>
                <a:cs typeface="Muli"/>
                <a:sym typeface="Muli"/>
              </a:rPr>
              <a:t>       2.4.1. Tính năng nổi bật </a:t>
            </a:r>
          </a:p>
          <a:p>
            <a:pPr algn="l">
              <a:lnSpc>
                <a:spcPts val="3900"/>
              </a:lnSpc>
            </a:pPr>
            <a:r>
              <a:rPr lang="en-US" sz="3000">
                <a:solidFill>
                  <a:srgbClr val="000000"/>
                </a:solidFill>
                <a:latin typeface="Muli"/>
                <a:ea typeface="Muli"/>
                <a:cs typeface="Muli"/>
                <a:sym typeface="Muli"/>
              </a:rPr>
              <a:t>       2.4.2. Lợi ích mang lại</a:t>
            </a:r>
          </a:p>
        </p:txBody>
      </p:sp>
      <p:sp>
        <p:nvSpPr>
          <p:cNvPr name="TextBox 10" id="10"/>
          <p:cNvSpPr txBox="true"/>
          <p:nvPr/>
        </p:nvSpPr>
        <p:spPr>
          <a:xfrm rot="0">
            <a:off x="10252836" y="8231323"/>
            <a:ext cx="7006464" cy="1476375"/>
          </a:xfrm>
          <a:prstGeom prst="rect">
            <a:avLst/>
          </a:prstGeom>
        </p:spPr>
        <p:txBody>
          <a:bodyPr anchor="t" rtlCol="false" tIns="0" lIns="0" bIns="0" rIns="0">
            <a:spAutoFit/>
          </a:bodyPr>
          <a:lstStyle/>
          <a:p>
            <a:pPr algn="l">
              <a:lnSpc>
                <a:spcPts val="3900"/>
              </a:lnSpc>
            </a:pPr>
            <a:r>
              <a:rPr lang="en-US" sz="3000">
                <a:solidFill>
                  <a:srgbClr val="000000"/>
                </a:solidFill>
                <a:latin typeface="Muli"/>
                <a:ea typeface="Muli"/>
                <a:cs typeface="Muli"/>
                <a:sym typeface="Muli"/>
              </a:rPr>
              <a:t>2.5. Quản lý đơn thuốc trực tuyến </a:t>
            </a:r>
          </a:p>
          <a:p>
            <a:pPr algn="l">
              <a:lnSpc>
                <a:spcPts val="3900"/>
              </a:lnSpc>
            </a:pPr>
            <a:r>
              <a:rPr lang="en-US" sz="3000">
                <a:solidFill>
                  <a:srgbClr val="000000"/>
                </a:solidFill>
                <a:latin typeface="Muli"/>
                <a:ea typeface="Muli"/>
                <a:cs typeface="Muli"/>
                <a:sym typeface="Muli"/>
              </a:rPr>
              <a:t>       2.5.1. Tính năng nổi bật </a:t>
            </a:r>
          </a:p>
          <a:p>
            <a:pPr algn="l">
              <a:lnSpc>
                <a:spcPts val="3900"/>
              </a:lnSpc>
            </a:pPr>
            <a:r>
              <a:rPr lang="en-US" sz="3000">
                <a:solidFill>
                  <a:srgbClr val="000000"/>
                </a:solidFill>
                <a:latin typeface="Muli"/>
                <a:ea typeface="Muli"/>
                <a:cs typeface="Muli"/>
                <a:sym typeface="Muli"/>
              </a:rPr>
              <a:t>       2.5.2. Lợi ích mang lại</a:t>
            </a:r>
          </a:p>
        </p:txBody>
      </p:sp>
      <p:sp>
        <p:nvSpPr>
          <p:cNvPr name="Freeform 11" id="11"/>
          <p:cNvSpPr/>
          <p:nvPr/>
        </p:nvSpPr>
        <p:spPr>
          <a:xfrm flipH="false" flipV="false" rot="0">
            <a:off x="16123748" y="192612"/>
            <a:ext cx="2001879" cy="2001879"/>
          </a:xfrm>
          <a:custGeom>
            <a:avLst/>
            <a:gdLst/>
            <a:ahLst/>
            <a:cxnLst/>
            <a:rect r="r" b="b" t="t" l="l"/>
            <a:pathLst>
              <a:path h="2001879" w="2001879">
                <a:moveTo>
                  <a:pt x="0" y="0"/>
                </a:moveTo>
                <a:lnTo>
                  <a:pt x="2001879" y="0"/>
                </a:lnTo>
                <a:lnTo>
                  <a:pt x="2001879" y="2001879"/>
                </a:lnTo>
                <a:lnTo>
                  <a:pt x="0" y="2001879"/>
                </a:lnTo>
                <a:lnTo>
                  <a:pt x="0" y="0"/>
                </a:lnTo>
                <a:close/>
              </a:path>
            </a:pathLst>
          </a:custGeom>
          <a:blipFill>
            <a:blip r:embed="rId8"/>
            <a:stretch>
              <a:fillRect l="0" t="0" r="0" b="0"/>
            </a:stretch>
          </a:blipFill>
        </p:spPr>
      </p:sp>
    </p:spTree>
  </p:cSld>
  <p:clrMapOvr>
    <a:masterClrMapping/>
  </p:clrMapOvr>
  <p:transition spd="fast">
    <p:wipe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DF7"/>
        </a:solidFill>
      </p:bgPr>
    </p:bg>
    <p:spTree>
      <p:nvGrpSpPr>
        <p:cNvPr id="1" name=""/>
        <p:cNvGrpSpPr/>
        <p:nvPr/>
      </p:nvGrpSpPr>
      <p:grpSpPr>
        <a:xfrm>
          <a:off x="0" y="0"/>
          <a:ext cx="0" cy="0"/>
          <a:chOff x="0" y="0"/>
          <a:chExt cx="0" cy="0"/>
        </a:xfrm>
      </p:grpSpPr>
      <p:grpSp>
        <p:nvGrpSpPr>
          <p:cNvPr name="Group 2" id="2"/>
          <p:cNvGrpSpPr/>
          <p:nvPr/>
        </p:nvGrpSpPr>
        <p:grpSpPr>
          <a:xfrm rot="-10800000">
            <a:off x="4176033" y="4976243"/>
            <a:ext cx="3837807" cy="3297219"/>
            <a:chOff x="0" y="0"/>
            <a:chExt cx="2354580" cy="2022917"/>
          </a:xfrm>
        </p:grpSpPr>
        <p:sp>
          <p:nvSpPr>
            <p:cNvPr name="Freeform 3" id="3"/>
            <p:cNvSpPr/>
            <p:nvPr/>
          </p:nvSpPr>
          <p:spPr>
            <a:xfrm flipH="false" flipV="false" rot="0">
              <a:off x="0" y="0"/>
              <a:ext cx="2353310" cy="2022917"/>
            </a:xfrm>
            <a:custGeom>
              <a:avLst/>
              <a:gdLst/>
              <a:ahLst/>
              <a:cxnLst/>
              <a:rect r="r" b="b" t="t" l="l"/>
              <a:pathLst>
                <a:path h="2022917" w="2353310">
                  <a:moveTo>
                    <a:pt x="784860" y="1955607"/>
                  </a:moveTo>
                  <a:cubicBezTo>
                    <a:pt x="905510" y="1996247"/>
                    <a:pt x="1042670" y="2022917"/>
                    <a:pt x="1177290" y="2022917"/>
                  </a:cubicBezTo>
                  <a:cubicBezTo>
                    <a:pt x="1311910" y="2022917"/>
                    <a:pt x="1441450" y="2000057"/>
                    <a:pt x="1560830" y="1959417"/>
                  </a:cubicBezTo>
                  <a:cubicBezTo>
                    <a:pt x="1563370" y="1958147"/>
                    <a:pt x="1565910" y="1958147"/>
                    <a:pt x="1568450" y="1956877"/>
                  </a:cubicBezTo>
                  <a:cubicBezTo>
                    <a:pt x="2016760" y="1794317"/>
                    <a:pt x="2346960" y="1365057"/>
                    <a:pt x="2353310" y="866010"/>
                  </a:cubicBezTo>
                  <a:lnTo>
                    <a:pt x="2353310" y="0"/>
                  </a:lnTo>
                  <a:lnTo>
                    <a:pt x="0" y="0"/>
                  </a:lnTo>
                  <a:lnTo>
                    <a:pt x="0" y="865391"/>
                  </a:lnTo>
                  <a:cubicBezTo>
                    <a:pt x="6350" y="1367597"/>
                    <a:pt x="331470" y="1796857"/>
                    <a:pt x="784860" y="1955607"/>
                  </a:cubicBezTo>
                  <a:close/>
                </a:path>
              </a:pathLst>
            </a:custGeom>
            <a:solidFill>
              <a:srgbClr val="BADBF3"/>
            </a:solidFill>
          </p:spPr>
        </p:sp>
      </p:grpSp>
      <p:grpSp>
        <p:nvGrpSpPr>
          <p:cNvPr name="Group 4" id="4"/>
          <p:cNvGrpSpPr/>
          <p:nvPr/>
        </p:nvGrpSpPr>
        <p:grpSpPr>
          <a:xfrm rot="-10800000">
            <a:off x="1028700" y="1666811"/>
            <a:ext cx="3837807" cy="3297219"/>
            <a:chOff x="0" y="0"/>
            <a:chExt cx="2354580" cy="2022917"/>
          </a:xfrm>
        </p:grpSpPr>
        <p:sp>
          <p:nvSpPr>
            <p:cNvPr name="Freeform 5" id="5"/>
            <p:cNvSpPr/>
            <p:nvPr/>
          </p:nvSpPr>
          <p:spPr>
            <a:xfrm flipH="false" flipV="false" rot="0">
              <a:off x="0" y="0"/>
              <a:ext cx="2353310" cy="2022917"/>
            </a:xfrm>
            <a:custGeom>
              <a:avLst/>
              <a:gdLst/>
              <a:ahLst/>
              <a:cxnLst/>
              <a:rect r="r" b="b" t="t" l="l"/>
              <a:pathLst>
                <a:path h="2022917" w="2353310">
                  <a:moveTo>
                    <a:pt x="784860" y="1955607"/>
                  </a:moveTo>
                  <a:cubicBezTo>
                    <a:pt x="905510" y="1996247"/>
                    <a:pt x="1042670" y="2022917"/>
                    <a:pt x="1177290" y="2022917"/>
                  </a:cubicBezTo>
                  <a:cubicBezTo>
                    <a:pt x="1311910" y="2022917"/>
                    <a:pt x="1441450" y="2000057"/>
                    <a:pt x="1560830" y="1959417"/>
                  </a:cubicBezTo>
                  <a:cubicBezTo>
                    <a:pt x="1563370" y="1958147"/>
                    <a:pt x="1565910" y="1958147"/>
                    <a:pt x="1568450" y="1956877"/>
                  </a:cubicBezTo>
                  <a:cubicBezTo>
                    <a:pt x="2016760" y="1794317"/>
                    <a:pt x="2346960" y="1365057"/>
                    <a:pt x="2353310" y="866010"/>
                  </a:cubicBezTo>
                  <a:lnTo>
                    <a:pt x="2353310" y="0"/>
                  </a:lnTo>
                  <a:lnTo>
                    <a:pt x="0" y="0"/>
                  </a:lnTo>
                  <a:lnTo>
                    <a:pt x="0" y="865391"/>
                  </a:lnTo>
                  <a:cubicBezTo>
                    <a:pt x="6350" y="1367597"/>
                    <a:pt x="331470" y="1796857"/>
                    <a:pt x="784860" y="1955607"/>
                  </a:cubicBezTo>
                  <a:close/>
                </a:path>
              </a:pathLst>
            </a:custGeom>
            <a:solidFill>
              <a:srgbClr val="BADBF3"/>
            </a:solidFill>
          </p:spPr>
        </p:sp>
      </p:grpSp>
      <p:grpSp>
        <p:nvGrpSpPr>
          <p:cNvPr name="Group 6" id="6"/>
          <p:cNvGrpSpPr/>
          <p:nvPr/>
        </p:nvGrpSpPr>
        <p:grpSpPr>
          <a:xfrm rot="-10800000">
            <a:off x="-486895" y="5961081"/>
            <a:ext cx="3837807" cy="3297219"/>
            <a:chOff x="0" y="0"/>
            <a:chExt cx="2354580" cy="2022917"/>
          </a:xfrm>
        </p:grpSpPr>
        <p:sp>
          <p:nvSpPr>
            <p:cNvPr name="Freeform 7" id="7"/>
            <p:cNvSpPr/>
            <p:nvPr/>
          </p:nvSpPr>
          <p:spPr>
            <a:xfrm flipH="false" flipV="false" rot="0">
              <a:off x="0" y="0"/>
              <a:ext cx="2353310" cy="2022917"/>
            </a:xfrm>
            <a:custGeom>
              <a:avLst/>
              <a:gdLst/>
              <a:ahLst/>
              <a:cxnLst/>
              <a:rect r="r" b="b" t="t" l="l"/>
              <a:pathLst>
                <a:path h="2022917" w="2353310">
                  <a:moveTo>
                    <a:pt x="784860" y="1955607"/>
                  </a:moveTo>
                  <a:cubicBezTo>
                    <a:pt x="905510" y="1996247"/>
                    <a:pt x="1042670" y="2022917"/>
                    <a:pt x="1177290" y="2022917"/>
                  </a:cubicBezTo>
                  <a:cubicBezTo>
                    <a:pt x="1311910" y="2022917"/>
                    <a:pt x="1441450" y="2000057"/>
                    <a:pt x="1560830" y="1959417"/>
                  </a:cubicBezTo>
                  <a:cubicBezTo>
                    <a:pt x="1563370" y="1958147"/>
                    <a:pt x="1565910" y="1958147"/>
                    <a:pt x="1568450" y="1956877"/>
                  </a:cubicBezTo>
                  <a:cubicBezTo>
                    <a:pt x="2016760" y="1794317"/>
                    <a:pt x="2346960" y="1365057"/>
                    <a:pt x="2353310" y="866010"/>
                  </a:cubicBezTo>
                  <a:lnTo>
                    <a:pt x="2353310" y="0"/>
                  </a:lnTo>
                  <a:lnTo>
                    <a:pt x="0" y="0"/>
                  </a:lnTo>
                  <a:lnTo>
                    <a:pt x="0" y="865391"/>
                  </a:lnTo>
                  <a:cubicBezTo>
                    <a:pt x="6350" y="1367597"/>
                    <a:pt x="331470" y="1796857"/>
                    <a:pt x="784860" y="1955607"/>
                  </a:cubicBezTo>
                  <a:close/>
                </a:path>
              </a:pathLst>
            </a:custGeom>
            <a:solidFill>
              <a:srgbClr val="BADBF3"/>
            </a:solidFill>
          </p:spPr>
        </p:sp>
      </p:grpSp>
      <p:sp>
        <p:nvSpPr>
          <p:cNvPr name="Freeform 8" id="8"/>
          <p:cNvSpPr/>
          <p:nvPr/>
        </p:nvSpPr>
        <p:spPr>
          <a:xfrm flipH="false" flipV="false" rot="0">
            <a:off x="1432008" y="740558"/>
            <a:ext cx="3079295" cy="4223472"/>
          </a:xfrm>
          <a:custGeom>
            <a:avLst/>
            <a:gdLst/>
            <a:ahLst/>
            <a:cxnLst/>
            <a:rect r="r" b="b" t="t" l="l"/>
            <a:pathLst>
              <a:path h="4223472" w="3079295">
                <a:moveTo>
                  <a:pt x="0" y="0"/>
                </a:moveTo>
                <a:lnTo>
                  <a:pt x="3079296" y="0"/>
                </a:lnTo>
                <a:lnTo>
                  <a:pt x="3079296" y="4223472"/>
                </a:lnTo>
                <a:lnTo>
                  <a:pt x="0" y="42234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505191" y="4158662"/>
            <a:ext cx="3127248" cy="4114800"/>
          </a:xfrm>
          <a:custGeom>
            <a:avLst/>
            <a:gdLst/>
            <a:ahLst/>
            <a:cxnLst/>
            <a:rect r="r" b="b" t="t" l="l"/>
            <a:pathLst>
              <a:path h="4114800" w="3127248">
                <a:moveTo>
                  <a:pt x="0" y="0"/>
                </a:moveTo>
                <a:lnTo>
                  <a:pt x="3127248" y="0"/>
                </a:lnTo>
                <a:lnTo>
                  <a:pt x="312724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64681" y="5143500"/>
            <a:ext cx="3112285" cy="4114800"/>
          </a:xfrm>
          <a:custGeom>
            <a:avLst/>
            <a:gdLst/>
            <a:ahLst/>
            <a:cxnLst/>
            <a:rect r="r" b="b" t="t" l="l"/>
            <a:pathLst>
              <a:path h="4114800" w="3112285">
                <a:moveTo>
                  <a:pt x="0" y="0"/>
                </a:moveTo>
                <a:lnTo>
                  <a:pt x="3112285" y="0"/>
                </a:lnTo>
                <a:lnTo>
                  <a:pt x="3112285"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8850400" y="3171825"/>
            <a:ext cx="8408900" cy="1971675"/>
          </a:xfrm>
          <a:prstGeom prst="rect">
            <a:avLst/>
          </a:prstGeom>
        </p:spPr>
        <p:txBody>
          <a:bodyPr anchor="t" rtlCol="false" tIns="0" lIns="0" bIns="0" rIns="0">
            <a:spAutoFit/>
          </a:bodyPr>
          <a:lstStyle/>
          <a:p>
            <a:pPr algn="l">
              <a:lnSpc>
                <a:spcPts val="3900"/>
              </a:lnSpc>
            </a:pPr>
            <a:r>
              <a:rPr lang="en-US" sz="3000">
                <a:solidFill>
                  <a:srgbClr val="000000"/>
                </a:solidFill>
                <a:latin typeface="Muli"/>
                <a:ea typeface="Muli"/>
                <a:cs typeface="Muli"/>
                <a:sym typeface="Muli"/>
              </a:rPr>
              <a:t>3.1. Lợi ích</a:t>
            </a:r>
          </a:p>
          <a:p>
            <a:pPr algn="l">
              <a:lnSpc>
                <a:spcPts val="3900"/>
              </a:lnSpc>
            </a:pPr>
            <a:r>
              <a:rPr lang="en-US" sz="3000">
                <a:solidFill>
                  <a:srgbClr val="000000"/>
                </a:solidFill>
                <a:latin typeface="Muli"/>
                <a:ea typeface="Muli"/>
                <a:cs typeface="Muli"/>
                <a:sym typeface="Muli"/>
              </a:rPr>
              <a:t>        3.1.1. Đối với người dùng </a:t>
            </a:r>
          </a:p>
          <a:p>
            <a:pPr algn="l">
              <a:lnSpc>
                <a:spcPts val="3900"/>
              </a:lnSpc>
            </a:pPr>
            <a:r>
              <a:rPr lang="en-US" sz="3000">
                <a:solidFill>
                  <a:srgbClr val="000000"/>
                </a:solidFill>
                <a:latin typeface="Muli"/>
                <a:ea typeface="Muli"/>
                <a:cs typeface="Muli"/>
                <a:sym typeface="Muli"/>
              </a:rPr>
              <a:t>        3.1.2. Đối với doanh nghiệp </a:t>
            </a:r>
          </a:p>
          <a:p>
            <a:pPr algn="l">
              <a:lnSpc>
                <a:spcPts val="3900"/>
              </a:lnSpc>
            </a:pPr>
            <a:r>
              <a:rPr lang="en-US" sz="3000">
                <a:solidFill>
                  <a:srgbClr val="000000"/>
                </a:solidFill>
                <a:latin typeface="Muli"/>
                <a:ea typeface="Muli"/>
                <a:cs typeface="Muli"/>
                <a:sym typeface="Muli"/>
              </a:rPr>
              <a:t>        3.1.3. Đối với các nhân viên y tế </a:t>
            </a:r>
          </a:p>
        </p:txBody>
      </p:sp>
      <p:sp>
        <p:nvSpPr>
          <p:cNvPr name="TextBox 12" id="12"/>
          <p:cNvSpPr txBox="true"/>
          <p:nvPr/>
        </p:nvSpPr>
        <p:spPr>
          <a:xfrm rot="0">
            <a:off x="6742814" y="1418933"/>
            <a:ext cx="8408900" cy="1406525"/>
          </a:xfrm>
          <a:prstGeom prst="rect">
            <a:avLst/>
          </a:prstGeom>
        </p:spPr>
        <p:txBody>
          <a:bodyPr anchor="t" rtlCol="false" tIns="0" lIns="0" bIns="0" rIns="0">
            <a:spAutoFit/>
          </a:bodyPr>
          <a:lstStyle/>
          <a:p>
            <a:pPr algn="l">
              <a:lnSpc>
                <a:spcPts val="5500"/>
              </a:lnSpc>
            </a:pPr>
            <a:r>
              <a:rPr lang="en-US" sz="5000" b="true">
                <a:solidFill>
                  <a:srgbClr val="6D5342"/>
                </a:solidFill>
                <a:latin typeface="Muli Bold"/>
                <a:ea typeface="Muli Bold"/>
                <a:cs typeface="Muli Bold"/>
                <a:sym typeface="Muli Bold"/>
              </a:rPr>
              <a:t>3.	Lợi ích và hạn chế của trợ lí y tế ảo</a:t>
            </a:r>
          </a:p>
        </p:txBody>
      </p:sp>
      <p:sp>
        <p:nvSpPr>
          <p:cNvPr name="TextBox 13" id="13"/>
          <p:cNvSpPr txBox="true"/>
          <p:nvPr/>
        </p:nvSpPr>
        <p:spPr>
          <a:xfrm rot="0">
            <a:off x="8850400" y="5467350"/>
            <a:ext cx="8408900" cy="2466975"/>
          </a:xfrm>
          <a:prstGeom prst="rect">
            <a:avLst/>
          </a:prstGeom>
        </p:spPr>
        <p:txBody>
          <a:bodyPr anchor="t" rtlCol="false" tIns="0" lIns="0" bIns="0" rIns="0">
            <a:spAutoFit/>
          </a:bodyPr>
          <a:lstStyle/>
          <a:p>
            <a:pPr algn="l">
              <a:lnSpc>
                <a:spcPts val="3900"/>
              </a:lnSpc>
            </a:pPr>
            <a:r>
              <a:rPr lang="en-US" sz="3000">
                <a:solidFill>
                  <a:srgbClr val="000000"/>
                </a:solidFill>
                <a:latin typeface="Muli"/>
                <a:ea typeface="Muli"/>
                <a:cs typeface="Muli"/>
                <a:sym typeface="Muli"/>
              </a:rPr>
              <a:t>3.2. Hạn chế</a:t>
            </a:r>
          </a:p>
          <a:p>
            <a:pPr algn="l">
              <a:lnSpc>
                <a:spcPts val="3900"/>
              </a:lnSpc>
            </a:pPr>
            <a:r>
              <a:rPr lang="en-US" sz="3000">
                <a:solidFill>
                  <a:srgbClr val="000000"/>
                </a:solidFill>
                <a:latin typeface="Muli"/>
                <a:ea typeface="Muli"/>
                <a:cs typeface="Muli"/>
                <a:sym typeface="Muli"/>
              </a:rPr>
              <a:t>       3.2.1. Hạn chế về chuyên môn và độ chính xác </a:t>
            </a:r>
          </a:p>
          <a:p>
            <a:pPr algn="l">
              <a:lnSpc>
                <a:spcPts val="3900"/>
              </a:lnSpc>
            </a:pPr>
            <a:r>
              <a:rPr lang="en-US" sz="3000">
                <a:solidFill>
                  <a:srgbClr val="000000"/>
                </a:solidFill>
                <a:latin typeface="Muli"/>
                <a:ea typeface="Muli"/>
                <a:cs typeface="Muli"/>
                <a:sym typeface="Muli"/>
              </a:rPr>
              <a:t>       3.2.2. Hạn chế về công nghệ và ngữ cảnh </a:t>
            </a:r>
          </a:p>
          <a:p>
            <a:pPr algn="l">
              <a:lnSpc>
                <a:spcPts val="3900"/>
              </a:lnSpc>
            </a:pPr>
            <a:r>
              <a:rPr lang="en-US" sz="3000">
                <a:solidFill>
                  <a:srgbClr val="000000"/>
                </a:solidFill>
                <a:latin typeface="Muli"/>
                <a:ea typeface="Muli"/>
                <a:cs typeface="Muli"/>
                <a:sym typeface="Muli"/>
              </a:rPr>
              <a:t>       3.2.3. Rủi ro về bảo mật và quyền riêng tư </a:t>
            </a:r>
          </a:p>
        </p:txBody>
      </p:sp>
      <p:sp>
        <p:nvSpPr>
          <p:cNvPr name="Freeform 14" id="14"/>
          <p:cNvSpPr/>
          <p:nvPr/>
        </p:nvSpPr>
        <p:spPr>
          <a:xfrm flipH="false" flipV="false" rot="0">
            <a:off x="16204873" y="197516"/>
            <a:ext cx="1900867" cy="1900867"/>
          </a:xfrm>
          <a:custGeom>
            <a:avLst/>
            <a:gdLst/>
            <a:ahLst/>
            <a:cxnLst/>
            <a:rect r="r" b="b" t="t" l="l"/>
            <a:pathLst>
              <a:path h="1900867" w="1900867">
                <a:moveTo>
                  <a:pt x="0" y="0"/>
                </a:moveTo>
                <a:lnTo>
                  <a:pt x="1900867" y="0"/>
                </a:lnTo>
                <a:lnTo>
                  <a:pt x="1900867" y="1900867"/>
                </a:lnTo>
                <a:lnTo>
                  <a:pt x="0" y="1900867"/>
                </a:lnTo>
                <a:lnTo>
                  <a:pt x="0" y="0"/>
                </a:lnTo>
                <a:close/>
              </a:path>
            </a:pathLst>
          </a:custGeom>
          <a:blipFill>
            <a:blip r:embed="rId8"/>
            <a:stretch>
              <a:fillRect l="0" t="0" r="0" b="0"/>
            </a:stretch>
          </a:blipFill>
        </p:spPr>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DF7"/>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8879336" y="820322"/>
            <a:ext cx="15128191" cy="11965024"/>
          </a:xfrm>
          <a:custGeom>
            <a:avLst/>
            <a:gdLst/>
            <a:ahLst/>
            <a:cxnLst/>
            <a:rect r="r" b="b" t="t" l="l"/>
            <a:pathLst>
              <a:path h="11965024" w="15128191">
                <a:moveTo>
                  <a:pt x="0" y="0"/>
                </a:moveTo>
                <a:lnTo>
                  <a:pt x="15128191" y="0"/>
                </a:lnTo>
                <a:lnTo>
                  <a:pt x="15128191" y="11965024"/>
                </a:lnTo>
                <a:lnTo>
                  <a:pt x="0" y="119650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079232" y="977746"/>
            <a:ext cx="7490165" cy="8331508"/>
            <a:chOff x="687070" y="247650"/>
            <a:chExt cx="11148060" cy="12400280"/>
          </a:xfrm>
        </p:grpSpPr>
        <p:sp>
          <p:nvSpPr>
            <p:cNvPr name="Freeform 4" id="4"/>
            <p:cNvSpPr/>
            <p:nvPr/>
          </p:nvSpPr>
          <p:spPr>
            <a:xfrm flipH="false" flipV="false" rot="0">
              <a:off x="366333" y="5962"/>
              <a:ext cx="10331959" cy="12110687"/>
            </a:xfrm>
            <a:custGeom>
              <a:avLst/>
              <a:gdLst/>
              <a:ahLst/>
              <a:cxnLst/>
              <a:rect r="r" b="b" t="t" l="l"/>
              <a:pathLst>
                <a:path h="12110687" w="10331959">
                  <a:moveTo>
                    <a:pt x="8848787" y="1491368"/>
                  </a:moveTo>
                  <a:cubicBezTo>
                    <a:pt x="8406827" y="966858"/>
                    <a:pt x="7868347" y="502038"/>
                    <a:pt x="7224457" y="246768"/>
                  </a:cubicBezTo>
                  <a:cubicBezTo>
                    <a:pt x="6765987" y="65158"/>
                    <a:pt x="6266877" y="-5962"/>
                    <a:pt x="5772847" y="388"/>
                  </a:cubicBezTo>
                  <a:cubicBezTo>
                    <a:pt x="3687507" y="30868"/>
                    <a:pt x="1791397" y="1485018"/>
                    <a:pt x="922717" y="3340488"/>
                  </a:cubicBezTo>
                  <a:cubicBezTo>
                    <a:pt x="160717" y="4971168"/>
                    <a:pt x="-366333" y="7786758"/>
                    <a:pt x="314387" y="9451728"/>
                  </a:cubicBezTo>
                  <a:cubicBezTo>
                    <a:pt x="993837" y="11116698"/>
                    <a:pt x="2133027" y="11999348"/>
                    <a:pt x="3881817" y="12075548"/>
                  </a:cubicBezTo>
                  <a:cubicBezTo>
                    <a:pt x="6635177" y="12394318"/>
                    <a:pt x="8721787" y="10496938"/>
                    <a:pt x="9751757" y="8303648"/>
                  </a:cubicBezTo>
                  <a:cubicBezTo>
                    <a:pt x="10781728" y="6110358"/>
                    <a:pt x="10415967" y="3355728"/>
                    <a:pt x="8848787" y="1491368"/>
                  </a:cubicBezTo>
                  <a:close/>
                </a:path>
              </a:pathLst>
            </a:custGeom>
            <a:solidFill>
              <a:srgbClr val="000000">
                <a:alpha val="0"/>
              </a:srgbClr>
            </a:solidFill>
            <a:ln w="12700">
              <a:solidFill>
                <a:srgbClr val="000000"/>
              </a:solidFill>
            </a:ln>
          </p:spPr>
        </p:sp>
      </p:grpSp>
      <p:sp>
        <p:nvSpPr>
          <p:cNvPr name="TextBox 5" id="5"/>
          <p:cNvSpPr txBox="true"/>
          <p:nvPr/>
        </p:nvSpPr>
        <p:spPr>
          <a:xfrm rot="0">
            <a:off x="1028700" y="939646"/>
            <a:ext cx="8626246" cy="1356360"/>
          </a:xfrm>
          <a:prstGeom prst="rect">
            <a:avLst/>
          </a:prstGeom>
        </p:spPr>
        <p:txBody>
          <a:bodyPr anchor="t" rtlCol="false" tIns="0" lIns="0" bIns="0" rIns="0">
            <a:spAutoFit/>
          </a:bodyPr>
          <a:lstStyle/>
          <a:p>
            <a:pPr algn="l">
              <a:lnSpc>
                <a:spcPts val="5460"/>
              </a:lnSpc>
            </a:pPr>
            <a:r>
              <a:rPr lang="en-US" sz="4200" b="true">
                <a:solidFill>
                  <a:srgbClr val="D1F189"/>
                </a:solidFill>
                <a:latin typeface="Muli Bold"/>
                <a:ea typeface="Muli Bold"/>
                <a:cs typeface="Muli Bold"/>
                <a:sym typeface="Muli Bold"/>
              </a:rPr>
              <a:t>4.	Thách thức và rủi ro khi triển khai</a:t>
            </a:r>
          </a:p>
        </p:txBody>
      </p:sp>
      <p:sp>
        <p:nvSpPr>
          <p:cNvPr name="TextBox 6" id="6"/>
          <p:cNvSpPr txBox="true"/>
          <p:nvPr/>
        </p:nvSpPr>
        <p:spPr>
          <a:xfrm rot="0">
            <a:off x="1028700" y="2400300"/>
            <a:ext cx="8290612" cy="22860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4.1. Rào cản công nghệ </a:t>
            </a:r>
          </a:p>
          <a:p>
            <a:pPr algn="l" marL="647700" indent="-323850" lvl="1">
              <a:lnSpc>
                <a:spcPts val="3600"/>
              </a:lnSpc>
              <a:buFont typeface="Arial"/>
              <a:buChar char="•"/>
            </a:pPr>
            <a:r>
              <a:rPr lang="en-US" sz="3000">
                <a:solidFill>
                  <a:srgbClr val="000000"/>
                </a:solidFill>
                <a:latin typeface="Muli"/>
                <a:ea typeface="Muli"/>
                <a:cs typeface="Muli"/>
                <a:sym typeface="Muli"/>
              </a:rPr>
              <a:t>Dữ liệu không chuẩn hóa</a:t>
            </a:r>
          </a:p>
          <a:p>
            <a:pPr algn="l" marL="647700" indent="-323850" lvl="1">
              <a:lnSpc>
                <a:spcPts val="3600"/>
              </a:lnSpc>
              <a:buFont typeface="Arial"/>
              <a:buChar char="•"/>
            </a:pPr>
            <a:r>
              <a:rPr lang="en-US" sz="3000">
                <a:solidFill>
                  <a:srgbClr val="000000"/>
                </a:solidFill>
                <a:latin typeface="Muli"/>
                <a:ea typeface="Muli"/>
                <a:cs typeface="Muli"/>
                <a:sym typeface="Muli"/>
              </a:rPr>
              <a:t>Khó khăn trong tích hợp hệ thống </a:t>
            </a:r>
          </a:p>
          <a:p>
            <a:pPr algn="l" marL="647700" indent="-323850" lvl="1">
              <a:lnSpc>
                <a:spcPts val="3600"/>
              </a:lnSpc>
              <a:buFont typeface="Arial"/>
              <a:buChar char="•"/>
            </a:pPr>
            <a:r>
              <a:rPr lang="en-US" sz="3000">
                <a:solidFill>
                  <a:srgbClr val="000000"/>
                </a:solidFill>
                <a:latin typeface="Muli"/>
                <a:ea typeface="Muli"/>
                <a:cs typeface="Muli"/>
                <a:sym typeface="Muli"/>
              </a:rPr>
              <a:t>Thiếu bảo mật và dễ bị tấn công </a:t>
            </a:r>
          </a:p>
          <a:p>
            <a:pPr algn="l" marL="647700" indent="-323850" lvl="1">
              <a:lnSpc>
                <a:spcPts val="3600"/>
              </a:lnSpc>
              <a:buFont typeface="Arial"/>
              <a:buChar char="•"/>
            </a:pPr>
            <a:r>
              <a:rPr lang="en-US" sz="3000">
                <a:solidFill>
                  <a:srgbClr val="000000"/>
                </a:solidFill>
                <a:latin typeface="Muli"/>
                <a:ea typeface="Muli"/>
                <a:cs typeface="Muli"/>
                <a:sym typeface="Muli"/>
              </a:rPr>
              <a:t>Thiên vị thuật toán </a:t>
            </a:r>
          </a:p>
        </p:txBody>
      </p:sp>
      <p:sp>
        <p:nvSpPr>
          <p:cNvPr name="Freeform 7" id="7"/>
          <p:cNvSpPr/>
          <p:nvPr/>
        </p:nvSpPr>
        <p:spPr>
          <a:xfrm flipH="false" flipV="false" rot="0">
            <a:off x="11986738" y="3333510"/>
            <a:ext cx="3127248" cy="4114800"/>
          </a:xfrm>
          <a:custGeom>
            <a:avLst/>
            <a:gdLst/>
            <a:ahLst/>
            <a:cxnLst/>
            <a:rect r="r" b="b" t="t" l="l"/>
            <a:pathLst>
              <a:path h="4114800" w="3127248">
                <a:moveTo>
                  <a:pt x="0" y="0"/>
                </a:moveTo>
                <a:lnTo>
                  <a:pt x="3127248" y="0"/>
                </a:lnTo>
                <a:lnTo>
                  <a:pt x="312724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028700" y="4686300"/>
            <a:ext cx="8290612" cy="22860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4.2. Vấn đề pháp lý và bảo mật </a:t>
            </a:r>
          </a:p>
          <a:p>
            <a:pPr algn="l" marL="647700" indent="-323850" lvl="1">
              <a:lnSpc>
                <a:spcPts val="3600"/>
              </a:lnSpc>
              <a:buFont typeface="Arial"/>
              <a:buChar char="•"/>
            </a:pPr>
            <a:r>
              <a:rPr lang="en-US" sz="3000">
                <a:solidFill>
                  <a:srgbClr val="000000"/>
                </a:solidFill>
                <a:latin typeface="Muli"/>
                <a:ea typeface="Muli"/>
                <a:cs typeface="Muli"/>
                <a:sym typeface="Muli"/>
              </a:rPr>
              <a:t>Trách nhiệm pháp lý chưa rõ ràng </a:t>
            </a:r>
          </a:p>
          <a:p>
            <a:pPr algn="l" marL="647700" indent="-323850" lvl="1">
              <a:lnSpc>
                <a:spcPts val="3600"/>
              </a:lnSpc>
              <a:buFont typeface="Arial"/>
              <a:buChar char="•"/>
            </a:pPr>
            <a:r>
              <a:rPr lang="en-US" sz="3000">
                <a:solidFill>
                  <a:srgbClr val="000000"/>
                </a:solidFill>
                <a:latin typeface="Muli"/>
                <a:ea typeface="Muli"/>
                <a:cs typeface="Muli"/>
                <a:sym typeface="Muli"/>
              </a:rPr>
              <a:t>Thiếu khung pháp lý chuyên biệt </a:t>
            </a:r>
          </a:p>
          <a:p>
            <a:pPr algn="l" marL="647700" indent="-323850" lvl="1">
              <a:lnSpc>
                <a:spcPts val="3600"/>
              </a:lnSpc>
              <a:buFont typeface="Arial"/>
              <a:buChar char="•"/>
            </a:pPr>
            <a:r>
              <a:rPr lang="en-US" sz="3000">
                <a:solidFill>
                  <a:srgbClr val="000000"/>
                </a:solidFill>
                <a:latin typeface="Muli"/>
                <a:ea typeface="Muli"/>
                <a:cs typeface="Muli"/>
                <a:sym typeface="Muli"/>
              </a:rPr>
              <a:t>Nguy cơ rò rỉ dữ liệu </a:t>
            </a:r>
          </a:p>
          <a:p>
            <a:pPr algn="l" marL="647700" indent="-323850" lvl="1">
              <a:lnSpc>
                <a:spcPts val="3600"/>
              </a:lnSpc>
              <a:buFont typeface="Arial"/>
              <a:buChar char="•"/>
            </a:pPr>
            <a:r>
              <a:rPr lang="en-US" sz="3000">
                <a:solidFill>
                  <a:srgbClr val="000000"/>
                </a:solidFill>
                <a:latin typeface="Muli"/>
                <a:ea typeface="Muli"/>
                <a:cs typeface="Muli"/>
                <a:sym typeface="Muli"/>
              </a:rPr>
              <a:t>Tuân thủ tiêu chuẩn quốc tế </a:t>
            </a:r>
          </a:p>
        </p:txBody>
      </p:sp>
      <p:sp>
        <p:nvSpPr>
          <p:cNvPr name="TextBox 9" id="9"/>
          <p:cNvSpPr txBox="true"/>
          <p:nvPr/>
        </p:nvSpPr>
        <p:spPr>
          <a:xfrm rot="0">
            <a:off x="1028700" y="7077075"/>
            <a:ext cx="8290612" cy="27432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4.3. Yếu tố con người </a:t>
            </a:r>
          </a:p>
          <a:p>
            <a:pPr algn="l" marL="647700" indent="-323850" lvl="1">
              <a:lnSpc>
                <a:spcPts val="3600"/>
              </a:lnSpc>
              <a:buFont typeface="Arial"/>
              <a:buChar char="•"/>
            </a:pPr>
            <a:r>
              <a:rPr lang="en-US" sz="3000">
                <a:solidFill>
                  <a:srgbClr val="000000"/>
                </a:solidFill>
                <a:latin typeface="Muli"/>
                <a:ea typeface="Muli"/>
                <a:cs typeface="Muli"/>
                <a:sym typeface="Muli"/>
              </a:rPr>
              <a:t>Sự kháng cự từ nhân viên y tế </a:t>
            </a:r>
          </a:p>
          <a:p>
            <a:pPr algn="l" marL="647700" indent="-323850" lvl="1">
              <a:lnSpc>
                <a:spcPts val="3600"/>
              </a:lnSpc>
              <a:buFont typeface="Arial"/>
              <a:buChar char="•"/>
            </a:pPr>
            <a:r>
              <a:rPr lang="en-US" sz="3000">
                <a:solidFill>
                  <a:srgbClr val="000000"/>
                </a:solidFill>
                <a:latin typeface="Muli"/>
                <a:ea typeface="Muli"/>
                <a:cs typeface="Muli"/>
                <a:sym typeface="Muli"/>
              </a:rPr>
              <a:t>Thiếu chuyên gia AI y tế </a:t>
            </a:r>
          </a:p>
          <a:p>
            <a:pPr algn="l" marL="647700" indent="-323850" lvl="1">
              <a:lnSpc>
                <a:spcPts val="3600"/>
              </a:lnSpc>
              <a:buFont typeface="Arial"/>
              <a:buChar char="•"/>
            </a:pPr>
            <a:r>
              <a:rPr lang="en-US" sz="3000">
                <a:solidFill>
                  <a:srgbClr val="000000"/>
                </a:solidFill>
                <a:latin typeface="Muli"/>
                <a:ea typeface="Muli"/>
                <a:cs typeface="Muli"/>
                <a:sym typeface="Muli"/>
              </a:rPr>
              <a:t>Người dùng có thể bị phụ thuộc quá mức </a:t>
            </a:r>
          </a:p>
          <a:p>
            <a:pPr algn="l" marL="647700" indent="-323850" lvl="1">
              <a:lnSpc>
                <a:spcPts val="3600"/>
              </a:lnSpc>
              <a:buFont typeface="Arial"/>
              <a:buChar char="•"/>
            </a:pPr>
            <a:r>
              <a:rPr lang="en-US" sz="3000">
                <a:solidFill>
                  <a:srgbClr val="000000"/>
                </a:solidFill>
                <a:latin typeface="Muli"/>
                <a:ea typeface="Muli"/>
                <a:cs typeface="Muli"/>
                <a:sym typeface="Muli"/>
              </a:rPr>
              <a:t>Khoảng cách số</a:t>
            </a:r>
          </a:p>
          <a:p>
            <a:pPr algn="l" marL="647700" indent="-323850" lvl="1">
              <a:lnSpc>
                <a:spcPts val="3600"/>
              </a:lnSpc>
              <a:buFont typeface="Arial"/>
              <a:buChar char="•"/>
            </a:pPr>
            <a:r>
              <a:rPr lang="en-US" sz="3000">
                <a:solidFill>
                  <a:srgbClr val="000000"/>
                </a:solidFill>
                <a:latin typeface="Muli"/>
                <a:ea typeface="Muli"/>
                <a:cs typeface="Muli"/>
                <a:sym typeface="Muli"/>
              </a:rPr>
              <a:t>Thiếu sự đồng cảm </a:t>
            </a:r>
          </a:p>
        </p:txBody>
      </p:sp>
      <p:sp>
        <p:nvSpPr>
          <p:cNvPr name="Freeform 10" id="10"/>
          <p:cNvSpPr/>
          <p:nvPr/>
        </p:nvSpPr>
        <p:spPr>
          <a:xfrm flipH="false" flipV="false" rot="0">
            <a:off x="16042307" y="420874"/>
            <a:ext cx="1979426" cy="1979426"/>
          </a:xfrm>
          <a:custGeom>
            <a:avLst/>
            <a:gdLst/>
            <a:ahLst/>
            <a:cxnLst/>
            <a:rect r="r" b="b" t="t" l="l"/>
            <a:pathLst>
              <a:path h="1979426" w="1979426">
                <a:moveTo>
                  <a:pt x="0" y="0"/>
                </a:moveTo>
                <a:lnTo>
                  <a:pt x="1979426" y="0"/>
                </a:lnTo>
                <a:lnTo>
                  <a:pt x="1979426" y="1979426"/>
                </a:lnTo>
                <a:lnTo>
                  <a:pt x="0" y="1979426"/>
                </a:lnTo>
                <a:lnTo>
                  <a:pt x="0" y="0"/>
                </a:lnTo>
                <a:close/>
              </a:path>
            </a:pathLst>
          </a:custGeom>
          <a:blipFill>
            <a:blip r:embed="rId6"/>
            <a:stretch>
              <a:fillRect l="0" t="0" r="0" b="0"/>
            </a:stretch>
          </a:blipFill>
        </p:spPr>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DF7"/>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8879336" y="820322"/>
            <a:ext cx="15128191" cy="11965024"/>
          </a:xfrm>
          <a:custGeom>
            <a:avLst/>
            <a:gdLst/>
            <a:ahLst/>
            <a:cxnLst/>
            <a:rect r="r" b="b" t="t" l="l"/>
            <a:pathLst>
              <a:path h="11965024" w="15128191">
                <a:moveTo>
                  <a:pt x="0" y="0"/>
                </a:moveTo>
                <a:lnTo>
                  <a:pt x="15128191" y="0"/>
                </a:lnTo>
                <a:lnTo>
                  <a:pt x="15128191" y="11965024"/>
                </a:lnTo>
                <a:lnTo>
                  <a:pt x="0" y="119650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079232" y="977746"/>
            <a:ext cx="7490165" cy="8331508"/>
            <a:chOff x="687070" y="247650"/>
            <a:chExt cx="11148060" cy="12400280"/>
          </a:xfrm>
        </p:grpSpPr>
        <p:sp>
          <p:nvSpPr>
            <p:cNvPr name="Freeform 4" id="4"/>
            <p:cNvSpPr/>
            <p:nvPr/>
          </p:nvSpPr>
          <p:spPr>
            <a:xfrm flipH="false" flipV="false" rot="0">
              <a:off x="366333" y="5962"/>
              <a:ext cx="10331959" cy="12110687"/>
            </a:xfrm>
            <a:custGeom>
              <a:avLst/>
              <a:gdLst/>
              <a:ahLst/>
              <a:cxnLst/>
              <a:rect r="r" b="b" t="t" l="l"/>
              <a:pathLst>
                <a:path h="12110687" w="10331959">
                  <a:moveTo>
                    <a:pt x="8848787" y="1491368"/>
                  </a:moveTo>
                  <a:cubicBezTo>
                    <a:pt x="8406827" y="966858"/>
                    <a:pt x="7868347" y="502038"/>
                    <a:pt x="7224457" y="246768"/>
                  </a:cubicBezTo>
                  <a:cubicBezTo>
                    <a:pt x="6765987" y="65158"/>
                    <a:pt x="6266877" y="-5962"/>
                    <a:pt x="5772847" y="388"/>
                  </a:cubicBezTo>
                  <a:cubicBezTo>
                    <a:pt x="3687507" y="30868"/>
                    <a:pt x="1791397" y="1485018"/>
                    <a:pt x="922717" y="3340488"/>
                  </a:cubicBezTo>
                  <a:cubicBezTo>
                    <a:pt x="160717" y="4971168"/>
                    <a:pt x="-366333" y="7786758"/>
                    <a:pt x="314387" y="9451728"/>
                  </a:cubicBezTo>
                  <a:cubicBezTo>
                    <a:pt x="993837" y="11116698"/>
                    <a:pt x="2133027" y="11999348"/>
                    <a:pt x="3881817" y="12075548"/>
                  </a:cubicBezTo>
                  <a:cubicBezTo>
                    <a:pt x="6635177" y="12394318"/>
                    <a:pt x="8721787" y="10496938"/>
                    <a:pt x="9751757" y="8303648"/>
                  </a:cubicBezTo>
                  <a:cubicBezTo>
                    <a:pt x="10781728" y="6110358"/>
                    <a:pt x="10415967" y="3355728"/>
                    <a:pt x="8848787" y="1491368"/>
                  </a:cubicBezTo>
                  <a:close/>
                </a:path>
              </a:pathLst>
            </a:custGeom>
            <a:solidFill>
              <a:srgbClr val="000000">
                <a:alpha val="0"/>
              </a:srgbClr>
            </a:solidFill>
            <a:ln w="12700">
              <a:solidFill>
                <a:srgbClr val="000000"/>
              </a:solidFill>
            </a:ln>
          </p:spPr>
        </p:sp>
      </p:grpSp>
      <p:sp>
        <p:nvSpPr>
          <p:cNvPr name="TextBox 5" id="5"/>
          <p:cNvSpPr txBox="true"/>
          <p:nvPr/>
        </p:nvSpPr>
        <p:spPr>
          <a:xfrm rot="0">
            <a:off x="1028700" y="939646"/>
            <a:ext cx="8626246" cy="1356360"/>
          </a:xfrm>
          <a:prstGeom prst="rect">
            <a:avLst/>
          </a:prstGeom>
        </p:spPr>
        <p:txBody>
          <a:bodyPr anchor="t" rtlCol="false" tIns="0" lIns="0" bIns="0" rIns="0">
            <a:spAutoFit/>
          </a:bodyPr>
          <a:lstStyle/>
          <a:p>
            <a:pPr algn="l">
              <a:lnSpc>
                <a:spcPts val="5460"/>
              </a:lnSpc>
            </a:pPr>
            <a:r>
              <a:rPr lang="en-US" sz="4200" b="true">
                <a:solidFill>
                  <a:srgbClr val="004AAD"/>
                </a:solidFill>
                <a:latin typeface="Muli Bold"/>
                <a:ea typeface="Muli Bold"/>
                <a:cs typeface="Muli Bold"/>
                <a:sym typeface="Muli Bold"/>
              </a:rPr>
              <a:t>5.	Thực trạng và tiểm năng ứng dụng tới Việt Nam</a:t>
            </a:r>
          </a:p>
        </p:txBody>
      </p:sp>
      <p:sp>
        <p:nvSpPr>
          <p:cNvPr name="TextBox 6" id="6"/>
          <p:cNvSpPr txBox="true"/>
          <p:nvPr/>
        </p:nvSpPr>
        <p:spPr>
          <a:xfrm rot="0">
            <a:off x="1028700" y="2551460"/>
            <a:ext cx="8290612" cy="18288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Tiềm năng của trợ lý y tế ảo trong lĩnh vực chăm sóc sức khỏe trở nên rõ ràng khi xem xét những con số và xu hướng đang diễn ra trong ngành.</a:t>
            </a:r>
          </a:p>
        </p:txBody>
      </p:sp>
      <p:sp>
        <p:nvSpPr>
          <p:cNvPr name="TextBox 7" id="7"/>
          <p:cNvSpPr txBox="true"/>
          <p:nvPr/>
        </p:nvSpPr>
        <p:spPr>
          <a:xfrm rot="0">
            <a:off x="1028700" y="4637435"/>
            <a:ext cx="8290612" cy="36576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5.1. Chính sách và định hướng chuyển đổi số</a:t>
            </a:r>
          </a:p>
          <a:p>
            <a:pPr algn="l" marL="647700" indent="-323850" lvl="1">
              <a:lnSpc>
                <a:spcPts val="3600"/>
              </a:lnSpc>
              <a:buFont typeface="Arial"/>
              <a:buChar char="•"/>
            </a:pPr>
            <a:r>
              <a:rPr lang="en-US" sz="3000">
                <a:solidFill>
                  <a:srgbClr val="000000"/>
                </a:solidFill>
                <a:latin typeface="Muli"/>
                <a:ea typeface="Muli"/>
                <a:cs typeface="Muli"/>
                <a:sym typeface="Muli"/>
              </a:rPr>
              <a:t>Đề án Chuyển đổi số quốc gia đến 2025, định hướng 2030, nhấn mạnh phát triển chính phủ số và y tế thông minh.</a:t>
            </a:r>
          </a:p>
          <a:p>
            <a:pPr algn="l" marL="647700" indent="-323850" lvl="1">
              <a:lnSpc>
                <a:spcPts val="3600"/>
              </a:lnSpc>
              <a:buFont typeface="Arial"/>
              <a:buChar char="•"/>
            </a:pPr>
            <a:r>
              <a:rPr lang="en-US" sz="3000">
                <a:solidFill>
                  <a:srgbClr val="000000"/>
                </a:solidFill>
                <a:latin typeface="Muli"/>
                <a:ea typeface="Muli"/>
                <a:cs typeface="Muli"/>
                <a:sym typeface="Muli"/>
              </a:rPr>
              <a:t> Bộ Y tế thúc đẩy Telehealth, mở rộng khám chữa bệnh từ xa, nơi chatbot đóng vai trò hỗ trợ sàng lọc và hướng dẫn bệnh nhân.</a:t>
            </a:r>
          </a:p>
          <a:p>
            <a:pPr algn="l" marL="647700" indent="-323850" lvl="1">
              <a:lnSpc>
                <a:spcPts val="3600"/>
              </a:lnSpc>
              <a:buFont typeface="Arial"/>
              <a:buChar char="•"/>
            </a:pPr>
            <a:r>
              <a:rPr lang="en-US" sz="3000">
                <a:solidFill>
                  <a:srgbClr val="000000"/>
                </a:solidFill>
                <a:latin typeface="Muli"/>
                <a:ea typeface="Muli"/>
                <a:cs typeface="Muli"/>
                <a:sym typeface="Muli"/>
              </a:rPr>
              <a:t>........</a:t>
            </a:r>
          </a:p>
        </p:txBody>
      </p:sp>
      <p:sp>
        <p:nvSpPr>
          <p:cNvPr name="Freeform 8" id="8"/>
          <p:cNvSpPr/>
          <p:nvPr/>
        </p:nvSpPr>
        <p:spPr>
          <a:xfrm flipH="false" flipV="false" rot="0">
            <a:off x="11849833" y="3315421"/>
            <a:ext cx="3863814" cy="4722440"/>
          </a:xfrm>
          <a:custGeom>
            <a:avLst/>
            <a:gdLst/>
            <a:ahLst/>
            <a:cxnLst/>
            <a:rect r="r" b="b" t="t" l="l"/>
            <a:pathLst>
              <a:path h="4722440" w="3863814">
                <a:moveTo>
                  <a:pt x="0" y="0"/>
                </a:moveTo>
                <a:lnTo>
                  <a:pt x="3863815" y="0"/>
                </a:lnTo>
                <a:lnTo>
                  <a:pt x="3863815" y="4722439"/>
                </a:lnTo>
                <a:lnTo>
                  <a:pt x="0" y="47224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6365564" y="67482"/>
            <a:ext cx="1922436" cy="1922436"/>
          </a:xfrm>
          <a:custGeom>
            <a:avLst/>
            <a:gdLst/>
            <a:ahLst/>
            <a:cxnLst/>
            <a:rect r="r" b="b" t="t" l="l"/>
            <a:pathLst>
              <a:path h="1922436" w="1922436">
                <a:moveTo>
                  <a:pt x="0" y="0"/>
                </a:moveTo>
                <a:lnTo>
                  <a:pt x="1922436" y="0"/>
                </a:lnTo>
                <a:lnTo>
                  <a:pt x="1922436" y="1922436"/>
                </a:lnTo>
                <a:lnTo>
                  <a:pt x="0" y="1922436"/>
                </a:lnTo>
                <a:lnTo>
                  <a:pt x="0" y="0"/>
                </a:lnTo>
                <a:close/>
              </a:path>
            </a:pathLst>
          </a:custGeom>
          <a:blipFill>
            <a:blip r:embed="rId6"/>
            <a:stretch>
              <a:fillRect l="0" t="0" r="0" b="0"/>
            </a:stretch>
          </a:blipFill>
        </p:spPr>
      </p:sp>
    </p:spTree>
  </p:cSld>
  <p:clrMapOvr>
    <a:masterClrMapping/>
  </p:clrMapOvr>
  <p:transition spd="fast">
    <p:cover dir="d"/>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DF7"/>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8879336" y="820322"/>
            <a:ext cx="15128191" cy="11965024"/>
          </a:xfrm>
          <a:custGeom>
            <a:avLst/>
            <a:gdLst/>
            <a:ahLst/>
            <a:cxnLst/>
            <a:rect r="r" b="b" t="t" l="l"/>
            <a:pathLst>
              <a:path h="11965024" w="15128191">
                <a:moveTo>
                  <a:pt x="0" y="0"/>
                </a:moveTo>
                <a:lnTo>
                  <a:pt x="15128191" y="0"/>
                </a:lnTo>
                <a:lnTo>
                  <a:pt x="15128191" y="11965024"/>
                </a:lnTo>
                <a:lnTo>
                  <a:pt x="0" y="119650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079232" y="977746"/>
            <a:ext cx="7490165" cy="8331508"/>
            <a:chOff x="687070" y="247650"/>
            <a:chExt cx="11148060" cy="12400280"/>
          </a:xfrm>
        </p:grpSpPr>
        <p:sp>
          <p:nvSpPr>
            <p:cNvPr name="Freeform 4" id="4"/>
            <p:cNvSpPr/>
            <p:nvPr/>
          </p:nvSpPr>
          <p:spPr>
            <a:xfrm flipH="false" flipV="false" rot="0">
              <a:off x="366333" y="5962"/>
              <a:ext cx="10331959" cy="12110687"/>
            </a:xfrm>
            <a:custGeom>
              <a:avLst/>
              <a:gdLst/>
              <a:ahLst/>
              <a:cxnLst/>
              <a:rect r="r" b="b" t="t" l="l"/>
              <a:pathLst>
                <a:path h="12110687" w="10331959">
                  <a:moveTo>
                    <a:pt x="8848787" y="1491368"/>
                  </a:moveTo>
                  <a:cubicBezTo>
                    <a:pt x="8406827" y="966858"/>
                    <a:pt x="7868347" y="502038"/>
                    <a:pt x="7224457" y="246768"/>
                  </a:cubicBezTo>
                  <a:cubicBezTo>
                    <a:pt x="6765987" y="65158"/>
                    <a:pt x="6266877" y="-5962"/>
                    <a:pt x="5772847" y="388"/>
                  </a:cubicBezTo>
                  <a:cubicBezTo>
                    <a:pt x="3687507" y="30868"/>
                    <a:pt x="1791397" y="1485018"/>
                    <a:pt x="922717" y="3340488"/>
                  </a:cubicBezTo>
                  <a:cubicBezTo>
                    <a:pt x="160717" y="4971168"/>
                    <a:pt x="-366333" y="7786758"/>
                    <a:pt x="314387" y="9451728"/>
                  </a:cubicBezTo>
                  <a:cubicBezTo>
                    <a:pt x="993837" y="11116698"/>
                    <a:pt x="2133027" y="11999348"/>
                    <a:pt x="3881817" y="12075548"/>
                  </a:cubicBezTo>
                  <a:cubicBezTo>
                    <a:pt x="6635177" y="12394318"/>
                    <a:pt x="8721787" y="10496938"/>
                    <a:pt x="9751757" y="8303648"/>
                  </a:cubicBezTo>
                  <a:cubicBezTo>
                    <a:pt x="10781728" y="6110358"/>
                    <a:pt x="10415967" y="3355728"/>
                    <a:pt x="8848787" y="1491368"/>
                  </a:cubicBezTo>
                  <a:close/>
                </a:path>
              </a:pathLst>
            </a:custGeom>
            <a:solidFill>
              <a:srgbClr val="000000">
                <a:alpha val="0"/>
              </a:srgbClr>
            </a:solidFill>
            <a:ln w="12700">
              <a:solidFill>
                <a:srgbClr val="000000"/>
              </a:solidFill>
            </a:ln>
          </p:spPr>
        </p:sp>
      </p:grpSp>
      <p:sp>
        <p:nvSpPr>
          <p:cNvPr name="TextBox 5" id="5"/>
          <p:cNvSpPr txBox="true"/>
          <p:nvPr/>
        </p:nvSpPr>
        <p:spPr>
          <a:xfrm rot="0">
            <a:off x="1028700" y="939646"/>
            <a:ext cx="8626246" cy="1356360"/>
          </a:xfrm>
          <a:prstGeom prst="rect">
            <a:avLst/>
          </a:prstGeom>
        </p:spPr>
        <p:txBody>
          <a:bodyPr anchor="t" rtlCol="false" tIns="0" lIns="0" bIns="0" rIns="0">
            <a:spAutoFit/>
          </a:bodyPr>
          <a:lstStyle/>
          <a:p>
            <a:pPr algn="l">
              <a:lnSpc>
                <a:spcPts val="5460"/>
              </a:lnSpc>
            </a:pPr>
            <a:r>
              <a:rPr lang="en-US" sz="4200" b="true">
                <a:solidFill>
                  <a:srgbClr val="004AAD"/>
                </a:solidFill>
                <a:latin typeface="Muli Bold"/>
                <a:ea typeface="Muli Bold"/>
                <a:cs typeface="Muli Bold"/>
                <a:sym typeface="Muli Bold"/>
              </a:rPr>
              <a:t>5.	Thực trạng và tiểm năng ứng dụng tới Việt Nam</a:t>
            </a:r>
          </a:p>
        </p:txBody>
      </p:sp>
      <p:sp>
        <p:nvSpPr>
          <p:cNvPr name="TextBox 6" id="6"/>
          <p:cNvSpPr txBox="true"/>
          <p:nvPr/>
        </p:nvSpPr>
        <p:spPr>
          <a:xfrm rot="0">
            <a:off x="1028700" y="2500423"/>
            <a:ext cx="8290612" cy="27432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5.2. Một số mô hình chatbot y tế đơn giản </a:t>
            </a:r>
          </a:p>
          <a:p>
            <a:pPr algn="l" marL="647700" indent="-323850" lvl="1">
              <a:lnSpc>
                <a:spcPts val="3600"/>
              </a:lnSpc>
              <a:buFont typeface="Arial"/>
              <a:buChar char="•"/>
            </a:pPr>
            <a:r>
              <a:rPr lang="en-US" sz="3000">
                <a:solidFill>
                  <a:srgbClr val="000000"/>
                </a:solidFill>
                <a:latin typeface="Muli"/>
                <a:ea typeface="Muli"/>
                <a:cs typeface="Muli"/>
                <a:sym typeface="Muli"/>
              </a:rPr>
              <a:t>Chatbot tư vấn COVID-19 (2020-2022)</a:t>
            </a:r>
          </a:p>
          <a:p>
            <a:pPr algn="l" marL="647700" indent="-323850" lvl="1">
              <a:lnSpc>
                <a:spcPts val="3600"/>
              </a:lnSpc>
              <a:buFont typeface="Arial"/>
              <a:buChar char="•"/>
            </a:pPr>
            <a:r>
              <a:rPr lang="en-US" sz="3000">
                <a:solidFill>
                  <a:srgbClr val="000000"/>
                </a:solidFill>
                <a:latin typeface="Muli"/>
                <a:ea typeface="Muli"/>
                <a:cs typeface="Muli"/>
                <a:sym typeface="Muli"/>
              </a:rPr>
              <a:t>Chatbot đặt lịch và chăm sóc khách hàng bệnh viện </a:t>
            </a:r>
          </a:p>
          <a:p>
            <a:pPr algn="l" marL="647700" indent="-323850" lvl="1">
              <a:lnSpc>
                <a:spcPts val="3600"/>
              </a:lnSpc>
              <a:buFont typeface="Arial"/>
              <a:buChar char="•"/>
            </a:pPr>
            <a:r>
              <a:rPr lang="en-US" sz="3000">
                <a:solidFill>
                  <a:srgbClr val="000000"/>
                </a:solidFill>
                <a:latin typeface="Muli"/>
                <a:ea typeface="Muli"/>
                <a:cs typeface="Muli"/>
                <a:sym typeface="Muli"/>
              </a:rPr>
              <a:t>Chatbot sức khỏe trong ứng dụng di động </a:t>
            </a:r>
          </a:p>
          <a:p>
            <a:pPr algn="l" marL="647700" indent="-323850" lvl="1">
              <a:lnSpc>
                <a:spcPts val="3600"/>
              </a:lnSpc>
              <a:buFont typeface="Arial"/>
              <a:buChar char="•"/>
            </a:pPr>
            <a:r>
              <a:rPr lang="en-US" sz="3000">
                <a:solidFill>
                  <a:srgbClr val="000000"/>
                </a:solidFill>
                <a:latin typeface="Muli"/>
                <a:ea typeface="Muli"/>
                <a:cs typeface="Muli"/>
                <a:sym typeface="Muli"/>
              </a:rPr>
              <a:t>Chatbot chăm sóc sau điều trị </a:t>
            </a:r>
          </a:p>
        </p:txBody>
      </p:sp>
      <p:sp>
        <p:nvSpPr>
          <p:cNvPr name="TextBox 7" id="7"/>
          <p:cNvSpPr txBox="true"/>
          <p:nvPr/>
        </p:nvSpPr>
        <p:spPr>
          <a:xfrm rot="0">
            <a:off x="1028700" y="5448040"/>
            <a:ext cx="8290612" cy="51054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5.3. Tiềm năng phát triển </a:t>
            </a:r>
          </a:p>
          <a:p>
            <a:pPr algn="l">
              <a:lnSpc>
                <a:spcPts val="4200"/>
              </a:lnSpc>
            </a:pPr>
            <a:r>
              <a:rPr lang="en-US" sz="3000">
                <a:solidFill>
                  <a:srgbClr val="000000"/>
                </a:solidFill>
                <a:latin typeface="Arimo"/>
                <a:ea typeface="Arimo"/>
                <a:cs typeface="Arimo"/>
                <a:sym typeface="Arimo"/>
              </a:rPr>
              <a:t> Để ngành y tế và chăm sóc sức khỏe Việt Nam có thể phát triển vượt bậc và sánh ngang với các nền y tế hiện đại trên thế giới, việc ứng dụng công nghệ cao vào mọi bước thực hiện là điều không thể tránh khỏi.Bởi vì hiện nay, công nghệ đã trở thành một phần tất yếu trong cuộc sống.</a:t>
            </a:r>
          </a:p>
          <a:p>
            <a:pPr algn="l">
              <a:lnSpc>
                <a:spcPts val="3600"/>
              </a:lnSpc>
            </a:pPr>
          </a:p>
          <a:p>
            <a:pPr algn="l">
              <a:lnSpc>
                <a:spcPts val="3600"/>
              </a:lnSpc>
            </a:pPr>
          </a:p>
        </p:txBody>
      </p:sp>
      <p:sp>
        <p:nvSpPr>
          <p:cNvPr name="Freeform 8" id="8"/>
          <p:cNvSpPr/>
          <p:nvPr/>
        </p:nvSpPr>
        <p:spPr>
          <a:xfrm flipH="false" flipV="false" rot="0">
            <a:off x="11849833" y="3315421"/>
            <a:ext cx="3863814" cy="4722440"/>
          </a:xfrm>
          <a:custGeom>
            <a:avLst/>
            <a:gdLst/>
            <a:ahLst/>
            <a:cxnLst/>
            <a:rect r="r" b="b" t="t" l="l"/>
            <a:pathLst>
              <a:path h="4722440" w="3863814">
                <a:moveTo>
                  <a:pt x="0" y="0"/>
                </a:moveTo>
                <a:lnTo>
                  <a:pt x="3863815" y="0"/>
                </a:lnTo>
                <a:lnTo>
                  <a:pt x="3863815" y="4722439"/>
                </a:lnTo>
                <a:lnTo>
                  <a:pt x="0" y="47224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6353616" y="0"/>
            <a:ext cx="1934384" cy="1934384"/>
          </a:xfrm>
          <a:custGeom>
            <a:avLst/>
            <a:gdLst/>
            <a:ahLst/>
            <a:cxnLst/>
            <a:rect r="r" b="b" t="t" l="l"/>
            <a:pathLst>
              <a:path h="1934384" w="1934384">
                <a:moveTo>
                  <a:pt x="0" y="0"/>
                </a:moveTo>
                <a:lnTo>
                  <a:pt x="1934384" y="0"/>
                </a:lnTo>
                <a:lnTo>
                  <a:pt x="1934384" y="1934384"/>
                </a:lnTo>
                <a:lnTo>
                  <a:pt x="0" y="1934384"/>
                </a:lnTo>
                <a:lnTo>
                  <a:pt x="0" y="0"/>
                </a:lnTo>
                <a:close/>
              </a:path>
            </a:pathLst>
          </a:custGeom>
          <a:blipFill>
            <a:blip r:embed="rId6"/>
            <a:stretch>
              <a:fillRect l="0" t="0" r="0" b="0"/>
            </a:stretch>
          </a:blipFill>
        </p:spPr>
      </p:sp>
    </p:spTree>
  </p:cSld>
  <p:clrMapOvr>
    <a:masterClrMapping/>
  </p:clrMapOvr>
  <p:transition spd="slow">
    <p:cover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DF7"/>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8879336" y="820322"/>
            <a:ext cx="15128191" cy="11965024"/>
          </a:xfrm>
          <a:custGeom>
            <a:avLst/>
            <a:gdLst/>
            <a:ahLst/>
            <a:cxnLst/>
            <a:rect r="r" b="b" t="t" l="l"/>
            <a:pathLst>
              <a:path h="11965024" w="15128191">
                <a:moveTo>
                  <a:pt x="0" y="0"/>
                </a:moveTo>
                <a:lnTo>
                  <a:pt x="15128191" y="0"/>
                </a:lnTo>
                <a:lnTo>
                  <a:pt x="15128191" y="11965024"/>
                </a:lnTo>
                <a:lnTo>
                  <a:pt x="0" y="119650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079232" y="977746"/>
            <a:ext cx="7490165" cy="8331508"/>
            <a:chOff x="687070" y="247650"/>
            <a:chExt cx="11148060" cy="12400280"/>
          </a:xfrm>
        </p:grpSpPr>
        <p:sp>
          <p:nvSpPr>
            <p:cNvPr name="Freeform 4" id="4"/>
            <p:cNvSpPr/>
            <p:nvPr/>
          </p:nvSpPr>
          <p:spPr>
            <a:xfrm flipH="false" flipV="false" rot="0">
              <a:off x="366333" y="5962"/>
              <a:ext cx="10331959" cy="12110687"/>
            </a:xfrm>
            <a:custGeom>
              <a:avLst/>
              <a:gdLst/>
              <a:ahLst/>
              <a:cxnLst/>
              <a:rect r="r" b="b" t="t" l="l"/>
              <a:pathLst>
                <a:path h="12110687" w="10331959">
                  <a:moveTo>
                    <a:pt x="8848787" y="1491368"/>
                  </a:moveTo>
                  <a:cubicBezTo>
                    <a:pt x="8406827" y="966858"/>
                    <a:pt x="7868347" y="502038"/>
                    <a:pt x="7224457" y="246768"/>
                  </a:cubicBezTo>
                  <a:cubicBezTo>
                    <a:pt x="6765987" y="65158"/>
                    <a:pt x="6266877" y="-5962"/>
                    <a:pt x="5772847" y="388"/>
                  </a:cubicBezTo>
                  <a:cubicBezTo>
                    <a:pt x="3687507" y="30868"/>
                    <a:pt x="1791397" y="1485018"/>
                    <a:pt x="922717" y="3340488"/>
                  </a:cubicBezTo>
                  <a:cubicBezTo>
                    <a:pt x="160717" y="4971168"/>
                    <a:pt x="-366333" y="7786758"/>
                    <a:pt x="314387" y="9451728"/>
                  </a:cubicBezTo>
                  <a:cubicBezTo>
                    <a:pt x="993837" y="11116698"/>
                    <a:pt x="2133027" y="11999348"/>
                    <a:pt x="3881817" y="12075548"/>
                  </a:cubicBezTo>
                  <a:cubicBezTo>
                    <a:pt x="6635177" y="12394318"/>
                    <a:pt x="8721787" y="10496938"/>
                    <a:pt x="9751757" y="8303648"/>
                  </a:cubicBezTo>
                  <a:cubicBezTo>
                    <a:pt x="10781728" y="6110358"/>
                    <a:pt x="10415967" y="3355728"/>
                    <a:pt x="8848787" y="1491368"/>
                  </a:cubicBezTo>
                  <a:close/>
                </a:path>
              </a:pathLst>
            </a:custGeom>
            <a:solidFill>
              <a:srgbClr val="000000">
                <a:alpha val="0"/>
              </a:srgbClr>
            </a:solidFill>
            <a:ln w="12700">
              <a:solidFill>
                <a:srgbClr val="000000"/>
              </a:solidFill>
            </a:ln>
          </p:spPr>
        </p:sp>
      </p:grpSp>
      <p:sp>
        <p:nvSpPr>
          <p:cNvPr name="TextBox 5" id="5"/>
          <p:cNvSpPr txBox="true"/>
          <p:nvPr/>
        </p:nvSpPr>
        <p:spPr>
          <a:xfrm rot="0">
            <a:off x="1028700" y="939646"/>
            <a:ext cx="8626246" cy="1356360"/>
          </a:xfrm>
          <a:prstGeom prst="rect">
            <a:avLst/>
          </a:prstGeom>
        </p:spPr>
        <p:txBody>
          <a:bodyPr anchor="t" rtlCol="false" tIns="0" lIns="0" bIns="0" rIns="0">
            <a:spAutoFit/>
          </a:bodyPr>
          <a:lstStyle/>
          <a:p>
            <a:pPr algn="l">
              <a:lnSpc>
                <a:spcPts val="5460"/>
              </a:lnSpc>
            </a:pPr>
            <a:r>
              <a:rPr lang="en-US" sz="4200">
                <a:gradFill>
                  <a:gsLst>
                    <a:gs pos="0">
                      <a:srgbClr val="004AAD">
                        <a:alpha val="100000"/>
                      </a:srgbClr>
                    </a:gs>
                    <a:gs pos="100000">
                      <a:srgbClr val="CB6CE6">
                        <a:alpha val="100000"/>
                      </a:srgbClr>
                    </a:gs>
                  </a:gsLst>
                  <a:lin ang="0"/>
                </a:gradFill>
                <a:latin typeface="Muli"/>
                <a:ea typeface="Muli"/>
                <a:cs typeface="Muli"/>
                <a:sym typeface="Muli"/>
              </a:rPr>
              <a:t>6. Giải pháp và định hướng phát triển trong tương lai </a:t>
            </a:r>
          </a:p>
        </p:txBody>
      </p:sp>
      <p:sp>
        <p:nvSpPr>
          <p:cNvPr name="TextBox 6" id="6"/>
          <p:cNvSpPr txBox="true"/>
          <p:nvPr/>
        </p:nvSpPr>
        <p:spPr>
          <a:xfrm rot="0">
            <a:off x="1028700" y="2530029"/>
            <a:ext cx="8290612" cy="32004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6.1. Giải pháp công nghệ </a:t>
            </a:r>
          </a:p>
          <a:p>
            <a:pPr algn="l" marL="647700" indent="-323850" lvl="1">
              <a:lnSpc>
                <a:spcPts val="3600"/>
              </a:lnSpc>
              <a:buFont typeface="Arial"/>
              <a:buChar char="•"/>
            </a:pPr>
            <a:r>
              <a:rPr lang="en-US" sz="3000">
                <a:solidFill>
                  <a:srgbClr val="000000"/>
                </a:solidFill>
                <a:latin typeface="Muli"/>
                <a:ea typeface="Muli"/>
                <a:cs typeface="Muli"/>
                <a:sym typeface="Muli"/>
              </a:rPr>
              <a:t> Chuẩn hóa và tích hợp dữ liệu (Data standardization &amp; interoperability)</a:t>
            </a:r>
          </a:p>
          <a:p>
            <a:pPr algn="l" marL="647700" indent="-323850" lvl="1">
              <a:lnSpc>
                <a:spcPts val="3600"/>
              </a:lnSpc>
              <a:buFont typeface="Arial"/>
              <a:buChar char="•"/>
            </a:pPr>
            <a:r>
              <a:rPr lang="en-US" sz="3000">
                <a:solidFill>
                  <a:srgbClr val="000000"/>
                </a:solidFill>
                <a:latin typeface="Muli"/>
                <a:ea typeface="Muli"/>
                <a:cs typeface="Muli"/>
                <a:sym typeface="Muli"/>
              </a:rPr>
              <a:t> Tăng cường an ninh mạng và bảo mật dữ liệu</a:t>
            </a:r>
          </a:p>
          <a:p>
            <a:pPr algn="l" marL="647700" indent="-323850" lvl="1">
              <a:lnSpc>
                <a:spcPts val="3600"/>
              </a:lnSpc>
              <a:buFont typeface="Arial"/>
              <a:buChar char="•"/>
            </a:pPr>
            <a:r>
              <a:rPr lang="en-US" sz="3000">
                <a:solidFill>
                  <a:srgbClr val="000000"/>
                </a:solidFill>
                <a:latin typeface="Muli"/>
                <a:ea typeface="Muli"/>
                <a:cs typeface="Muli"/>
                <a:sym typeface="Muli"/>
              </a:rPr>
              <a:t> Nâng cao năng lực AI và NLP tiếng Việt</a:t>
            </a:r>
          </a:p>
          <a:p>
            <a:pPr algn="l" marL="647700" indent="-323850" lvl="1">
              <a:lnSpc>
                <a:spcPts val="3600"/>
              </a:lnSpc>
              <a:buFont typeface="Arial"/>
              <a:buChar char="•"/>
            </a:pPr>
            <a:r>
              <a:rPr lang="en-US" sz="3000">
                <a:solidFill>
                  <a:srgbClr val="000000"/>
                </a:solidFill>
                <a:latin typeface="Muli"/>
                <a:ea typeface="Muli"/>
                <a:cs typeface="Muli"/>
                <a:sym typeface="Muli"/>
              </a:rPr>
              <a:t> Cải thiện trải nghiệm người dùng (UX/UI)</a:t>
            </a:r>
          </a:p>
        </p:txBody>
      </p:sp>
      <p:sp>
        <p:nvSpPr>
          <p:cNvPr name="TextBox 7" id="7"/>
          <p:cNvSpPr txBox="true"/>
          <p:nvPr/>
        </p:nvSpPr>
        <p:spPr>
          <a:xfrm rot="0">
            <a:off x="1028700" y="5964451"/>
            <a:ext cx="8290612" cy="18288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6.2. Giải pháp pháp lý và quản lý </a:t>
            </a:r>
          </a:p>
          <a:p>
            <a:pPr algn="l" marL="647700" indent="-323850" lvl="1">
              <a:lnSpc>
                <a:spcPts val="3600"/>
              </a:lnSpc>
              <a:buFont typeface="Arial"/>
              <a:buChar char="•"/>
            </a:pPr>
            <a:r>
              <a:rPr lang="en-US" sz="3000">
                <a:solidFill>
                  <a:srgbClr val="000000"/>
                </a:solidFill>
                <a:latin typeface="Muli"/>
                <a:ea typeface="Muli"/>
                <a:cs typeface="Muli"/>
                <a:sym typeface="Muli"/>
              </a:rPr>
              <a:t> Bảo vệ dữ liệu cá nhân và quyền riêng tư</a:t>
            </a:r>
          </a:p>
          <a:p>
            <a:pPr algn="l" marL="647700" indent="-323850" lvl="1">
              <a:lnSpc>
                <a:spcPts val="3600"/>
              </a:lnSpc>
              <a:buFont typeface="Arial"/>
              <a:buChar char="•"/>
            </a:pPr>
            <a:r>
              <a:rPr lang="en-US" sz="3000">
                <a:solidFill>
                  <a:srgbClr val="000000"/>
                </a:solidFill>
                <a:latin typeface="Muli"/>
                <a:ea typeface="Muli"/>
                <a:cs typeface="Muli"/>
                <a:sym typeface="Muli"/>
              </a:rPr>
              <a:t> Cơ chế kiểm định và chứng nhận an toàn</a:t>
            </a:r>
          </a:p>
          <a:p>
            <a:pPr algn="l" marL="647700" indent="-323850" lvl="1">
              <a:lnSpc>
                <a:spcPts val="3600"/>
              </a:lnSpc>
              <a:buFont typeface="Arial"/>
              <a:buChar char="•"/>
            </a:pPr>
            <a:r>
              <a:rPr lang="en-US" sz="3000">
                <a:solidFill>
                  <a:srgbClr val="000000"/>
                </a:solidFill>
                <a:latin typeface="Muli"/>
                <a:ea typeface="Muli"/>
                <a:cs typeface="Muli"/>
                <a:sym typeface="Muli"/>
              </a:rPr>
              <a:t> Tăng cường giám sát và quản lý vận hành</a:t>
            </a:r>
          </a:p>
        </p:txBody>
      </p:sp>
      <p:sp>
        <p:nvSpPr>
          <p:cNvPr name="Freeform 8" id="8"/>
          <p:cNvSpPr/>
          <p:nvPr/>
        </p:nvSpPr>
        <p:spPr>
          <a:xfrm flipH="false" flipV="false" rot="0">
            <a:off x="11973320" y="3333510"/>
            <a:ext cx="3079295" cy="4223472"/>
          </a:xfrm>
          <a:custGeom>
            <a:avLst/>
            <a:gdLst/>
            <a:ahLst/>
            <a:cxnLst/>
            <a:rect r="r" b="b" t="t" l="l"/>
            <a:pathLst>
              <a:path h="4223472" w="3079295">
                <a:moveTo>
                  <a:pt x="0" y="0"/>
                </a:moveTo>
                <a:lnTo>
                  <a:pt x="3079295" y="0"/>
                </a:lnTo>
                <a:lnTo>
                  <a:pt x="3079295" y="4223473"/>
                </a:lnTo>
                <a:lnTo>
                  <a:pt x="0" y="42234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6242876" y="0"/>
            <a:ext cx="1983616" cy="1983616"/>
          </a:xfrm>
          <a:custGeom>
            <a:avLst/>
            <a:gdLst/>
            <a:ahLst/>
            <a:cxnLst/>
            <a:rect r="r" b="b" t="t" l="l"/>
            <a:pathLst>
              <a:path h="1983616" w="1983616">
                <a:moveTo>
                  <a:pt x="0" y="0"/>
                </a:moveTo>
                <a:lnTo>
                  <a:pt x="1983616" y="0"/>
                </a:lnTo>
                <a:lnTo>
                  <a:pt x="1983616" y="1983616"/>
                </a:lnTo>
                <a:lnTo>
                  <a:pt x="0" y="1983616"/>
                </a:lnTo>
                <a:lnTo>
                  <a:pt x="0" y="0"/>
                </a:lnTo>
                <a:close/>
              </a:path>
            </a:pathLst>
          </a:custGeom>
          <a:blipFill>
            <a:blip r:embed="rId6"/>
            <a:stretch>
              <a:fillRect l="0" t="0" r="0" b="0"/>
            </a:stretch>
          </a:blipFill>
        </p:spPr>
      </p:sp>
    </p:spTree>
  </p:cSld>
  <p:clrMapOvr>
    <a:masterClrMapping/>
  </p:clrMapOvr>
  <p:transition spd="fast">
    <p:wipe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DF7"/>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8879336" y="820322"/>
            <a:ext cx="15128191" cy="11965024"/>
          </a:xfrm>
          <a:custGeom>
            <a:avLst/>
            <a:gdLst/>
            <a:ahLst/>
            <a:cxnLst/>
            <a:rect r="r" b="b" t="t" l="l"/>
            <a:pathLst>
              <a:path h="11965024" w="15128191">
                <a:moveTo>
                  <a:pt x="0" y="0"/>
                </a:moveTo>
                <a:lnTo>
                  <a:pt x="15128191" y="0"/>
                </a:lnTo>
                <a:lnTo>
                  <a:pt x="15128191" y="11965024"/>
                </a:lnTo>
                <a:lnTo>
                  <a:pt x="0" y="119650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079232" y="977746"/>
            <a:ext cx="7490165" cy="8331508"/>
            <a:chOff x="687070" y="247650"/>
            <a:chExt cx="11148060" cy="12400280"/>
          </a:xfrm>
        </p:grpSpPr>
        <p:sp>
          <p:nvSpPr>
            <p:cNvPr name="Freeform 4" id="4"/>
            <p:cNvSpPr/>
            <p:nvPr/>
          </p:nvSpPr>
          <p:spPr>
            <a:xfrm flipH="false" flipV="false" rot="0">
              <a:off x="366333" y="5962"/>
              <a:ext cx="10331959" cy="12110687"/>
            </a:xfrm>
            <a:custGeom>
              <a:avLst/>
              <a:gdLst/>
              <a:ahLst/>
              <a:cxnLst/>
              <a:rect r="r" b="b" t="t" l="l"/>
              <a:pathLst>
                <a:path h="12110687" w="10331959">
                  <a:moveTo>
                    <a:pt x="8848787" y="1491368"/>
                  </a:moveTo>
                  <a:cubicBezTo>
                    <a:pt x="8406827" y="966858"/>
                    <a:pt x="7868347" y="502038"/>
                    <a:pt x="7224457" y="246768"/>
                  </a:cubicBezTo>
                  <a:cubicBezTo>
                    <a:pt x="6765987" y="65158"/>
                    <a:pt x="6266877" y="-5962"/>
                    <a:pt x="5772847" y="388"/>
                  </a:cubicBezTo>
                  <a:cubicBezTo>
                    <a:pt x="3687507" y="30868"/>
                    <a:pt x="1791397" y="1485018"/>
                    <a:pt x="922717" y="3340488"/>
                  </a:cubicBezTo>
                  <a:cubicBezTo>
                    <a:pt x="160717" y="4971168"/>
                    <a:pt x="-366333" y="7786758"/>
                    <a:pt x="314387" y="9451728"/>
                  </a:cubicBezTo>
                  <a:cubicBezTo>
                    <a:pt x="993837" y="11116698"/>
                    <a:pt x="2133027" y="11999348"/>
                    <a:pt x="3881817" y="12075548"/>
                  </a:cubicBezTo>
                  <a:cubicBezTo>
                    <a:pt x="6635177" y="12394318"/>
                    <a:pt x="8721787" y="10496938"/>
                    <a:pt x="9751757" y="8303648"/>
                  </a:cubicBezTo>
                  <a:cubicBezTo>
                    <a:pt x="10781728" y="6110358"/>
                    <a:pt x="10415967" y="3355728"/>
                    <a:pt x="8848787" y="1491368"/>
                  </a:cubicBezTo>
                  <a:close/>
                </a:path>
              </a:pathLst>
            </a:custGeom>
            <a:solidFill>
              <a:srgbClr val="000000">
                <a:alpha val="0"/>
              </a:srgbClr>
            </a:solidFill>
            <a:ln w="12700">
              <a:solidFill>
                <a:srgbClr val="000000"/>
              </a:solidFill>
            </a:ln>
          </p:spPr>
        </p:sp>
      </p:grpSp>
      <p:sp>
        <p:nvSpPr>
          <p:cNvPr name="TextBox 5" id="5"/>
          <p:cNvSpPr txBox="true"/>
          <p:nvPr/>
        </p:nvSpPr>
        <p:spPr>
          <a:xfrm rot="0">
            <a:off x="1028700" y="701040"/>
            <a:ext cx="8626246" cy="1356360"/>
          </a:xfrm>
          <a:prstGeom prst="rect">
            <a:avLst/>
          </a:prstGeom>
        </p:spPr>
        <p:txBody>
          <a:bodyPr anchor="t" rtlCol="false" tIns="0" lIns="0" bIns="0" rIns="0">
            <a:spAutoFit/>
          </a:bodyPr>
          <a:lstStyle/>
          <a:p>
            <a:pPr algn="l">
              <a:lnSpc>
                <a:spcPts val="5460"/>
              </a:lnSpc>
            </a:pPr>
            <a:r>
              <a:rPr lang="en-US" sz="4200">
                <a:gradFill>
                  <a:gsLst>
                    <a:gs pos="0">
                      <a:srgbClr val="004AAD">
                        <a:alpha val="100000"/>
                      </a:srgbClr>
                    </a:gs>
                    <a:gs pos="100000">
                      <a:srgbClr val="CB6CE6">
                        <a:alpha val="100000"/>
                      </a:srgbClr>
                    </a:gs>
                  </a:gsLst>
                  <a:lin ang="0"/>
                </a:gradFill>
                <a:latin typeface="Muli"/>
                <a:ea typeface="Muli"/>
                <a:cs typeface="Muli"/>
                <a:sym typeface="Muli"/>
              </a:rPr>
              <a:t>6. Giải pháp và định hướng phát triển trong tương lai </a:t>
            </a:r>
          </a:p>
        </p:txBody>
      </p:sp>
      <p:sp>
        <p:nvSpPr>
          <p:cNvPr name="TextBox 6" id="6"/>
          <p:cNvSpPr txBox="true"/>
          <p:nvPr/>
        </p:nvSpPr>
        <p:spPr>
          <a:xfrm rot="0">
            <a:off x="1028700" y="2057400"/>
            <a:ext cx="8290612" cy="36576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6.3. Đào tạo nguồn nhân lực và nâng cao nhận thức cộng đồng </a:t>
            </a:r>
          </a:p>
          <a:p>
            <a:pPr algn="l" marL="647700" indent="-323850" lvl="1">
              <a:lnSpc>
                <a:spcPts val="3600"/>
              </a:lnSpc>
              <a:buFont typeface="Arial"/>
              <a:buChar char="•"/>
            </a:pPr>
            <a:r>
              <a:rPr lang="en-US" sz="3000">
                <a:solidFill>
                  <a:srgbClr val="000000"/>
                </a:solidFill>
                <a:latin typeface="Muli"/>
                <a:ea typeface="Muli"/>
                <a:cs typeface="Muli"/>
                <a:sym typeface="Muli"/>
              </a:rPr>
              <a:t>Đào tạo chuyên gia AI-y tế</a:t>
            </a:r>
          </a:p>
          <a:p>
            <a:pPr algn="l" marL="647700" indent="-323850" lvl="1">
              <a:lnSpc>
                <a:spcPts val="3600"/>
              </a:lnSpc>
              <a:buFont typeface="Arial"/>
              <a:buChar char="•"/>
            </a:pPr>
            <a:r>
              <a:rPr lang="en-US" sz="3000">
                <a:solidFill>
                  <a:srgbClr val="000000"/>
                </a:solidFill>
                <a:latin typeface="Muli"/>
                <a:ea typeface="Muli"/>
                <a:cs typeface="Muli"/>
                <a:sym typeface="Muli"/>
              </a:rPr>
              <a:t> Nâng cao kỹ năng số cho nhân viên y tế</a:t>
            </a:r>
          </a:p>
          <a:p>
            <a:pPr algn="l" marL="647700" indent="-323850" lvl="1">
              <a:lnSpc>
                <a:spcPts val="3600"/>
              </a:lnSpc>
              <a:buFont typeface="Arial"/>
              <a:buChar char="•"/>
            </a:pPr>
            <a:r>
              <a:rPr lang="en-US" sz="3000">
                <a:solidFill>
                  <a:srgbClr val="000000"/>
                </a:solidFill>
                <a:latin typeface="Muli"/>
                <a:ea typeface="Muli"/>
                <a:cs typeface="Muli"/>
                <a:sym typeface="Muli"/>
              </a:rPr>
              <a:t> Tuyên truyền, hướng dẫn người dân sử dụng chatbot đúng cách</a:t>
            </a:r>
          </a:p>
          <a:p>
            <a:pPr algn="l" marL="647700" indent="-323850" lvl="1">
              <a:lnSpc>
                <a:spcPts val="3600"/>
              </a:lnSpc>
              <a:buFont typeface="Arial"/>
              <a:buChar char="•"/>
            </a:pPr>
            <a:r>
              <a:rPr lang="en-US" sz="3000">
                <a:solidFill>
                  <a:srgbClr val="000000"/>
                </a:solidFill>
                <a:latin typeface="Muli"/>
                <a:ea typeface="Muli"/>
                <a:cs typeface="Muli"/>
                <a:sym typeface="Muli"/>
              </a:rPr>
              <a:t> Hợp tác giữa doanh nghiệp – bệnh viện – nhà trường</a:t>
            </a:r>
          </a:p>
        </p:txBody>
      </p:sp>
      <p:sp>
        <p:nvSpPr>
          <p:cNvPr name="TextBox 7" id="7"/>
          <p:cNvSpPr txBox="true"/>
          <p:nvPr/>
        </p:nvSpPr>
        <p:spPr>
          <a:xfrm rot="0">
            <a:off x="1196517" y="5715000"/>
            <a:ext cx="8290612" cy="45720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6.4. Tầm nhìn dài hạn cho ngành y tế số Việt Nam </a:t>
            </a:r>
          </a:p>
          <a:p>
            <a:pPr algn="l" marL="647700" indent="-323850" lvl="1">
              <a:lnSpc>
                <a:spcPts val="3600"/>
              </a:lnSpc>
              <a:buFont typeface="Arial"/>
              <a:buChar char="•"/>
            </a:pPr>
            <a:r>
              <a:rPr lang="en-US" sz="3000">
                <a:solidFill>
                  <a:srgbClr val="000000"/>
                </a:solidFill>
                <a:latin typeface="Muli"/>
                <a:ea typeface="Muli"/>
                <a:cs typeface="Muli"/>
                <a:sym typeface="Muli"/>
              </a:rPr>
              <a:t> Xây dựng hệ sinh thái y tế thông minh</a:t>
            </a:r>
          </a:p>
          <a:p>
            <a:pPr algn="l" marL="647700" indent="-323850" lvl="1">
              <a:lnSpc>
                <a:spcPts val="3600"/>
              </a:lnSpc>
              <a:buFont typeface="Arial"/>
              <a:buChar char="•"/>
            </a:pPr>
            <a:r>
              <a:rPr lang="en-US" sz="3000">
                <a:solidFill>
                  <a:srgbClr val="000000"/>
                </a:solidFill>
                <a:latin typeface="Muli"/>
                <a:ea typeface="Muli"/>
                <a:cs typeface="Muli"/>
                <a:sym typeface="Muli"/>
              </a:rPr>
              <a:t> Hướng đến bệnh viện thông minh (Smart Hospital)</a:t>
            </a:r>
          </a:p>
          <a:p>
            <a:pPr algn="l" marL="647700" indent="-323850" lvl="1">
              <a:lnSpc>
                <a:spcPts val="3600"/>
              </a:lnSpc>
              <a:buFont typeface="Arial"/>
              <a:buChar char="•"/>
            </a:pPr>
            <a:r>
              <a:rPr lang="en-US" sz="3000">
                <a:solidFill>
                  <a:srgbClr val="000000"/>
                </a:solidFill>
                <a:latin typeface="Muli"/>
                <a:ea typeface="Muli"/>
                <a:cs typeface="Muli"/>
                <a:sym typeface="Muli"/>
              </a:rPr>
              <a:t> Phát triển nền tảng chăm sóc sức khỏe cộng đồng</a:t>
            </a:r>
          </a:p>
          <a:p>
            <a:pPr algn="l" marL="647700" indent="-323850" lvl="1">
              <a:lnSpc>
                <a:spcPts val="3600"/>
              </a:lnSpc>
              <a:buFont typeface="Arial"/>
              <a:buChar char="•"/>
            </a:pPr>
            <a:r>
              <a:rPr lang="en-US" sz="3000">
                <a:solidFill>
                  <a:srgbClr val="000000"/>
                </a:solidFill>
                <a:latin typeface="Muli"/>
                <a:ea typeface="Muli"/>
                <a:cs typeface="Muli"/>
                <a:sym typeface="Muli"/>
              </a:rPr>
              <a:t> Thúc đẩy đổi mới sáng tạo và hợp tác quốc tế</a:t>
            </a:r>
          </a:p>
          <a:p>
            <a:pPr algn="l" marL="647700" indent="-323850" lvl="1">
              <a:lnSpc>
                <a:spcPts val="3600"/>
              </a:lnSpc>
              <a:buFont typeface="Arial"/>
              <a:buChar char="•"/>
            </a:pPr>
            <a:r>
              <a:rPr lang="en-US" sz="3000">
                <a:solidFill>
                  <a:srgbClr val="000000"/>
                </a:solidFill>
                <a:latin typeface="Muli"/>
                <a:ea typeface="Muli"/>
                <a:cs typeface="Muli"/>
                <a:sym typeface="Muli"/>
              </a:rPr>
              <a:t> Lấy người dân làm trung tâm</a:t>
            </a:r>
          </a:p>
        </p:txBody>
      </p:sp>
      <p:sp>
        <p:nvSpPr>
          <p:cNvPr name="Freeform 8" id="8"/>
          <p:cNvSpPr/>
          <p:nvPr/>
        </p:nvSpPr>
        <p:spPr>
          <a:xfrm flipH="false" flipV="false" rot="0">
            <a:off x="11973320" y="3333510"/>
            <a:ext cx="3079295" cy="4223472"/>
          </a:xfrm>
          <a:custGeom>
            <a:avLst/>
            <a:gdLst/>
            <a:ahLst/>
            <a:cxnLst/>
            <a:rect r="r" b="b" t="t" l="l"/>
            <a:pathLst>
              <a:path h="4223472" w="3079295">
                <a:moveTo>
                  <a:pt x="0" y="0"/>
                </a:moveTo>
                <a:lnTo>
                  <a:pt x="3079295" y="0"/>
                </a:lnTo>
                <a:lnTo>
                  <a:pt x="3079295" y="4223473"/>
                </a:lnTo>
                <a:lnTo>
                  <a:pt x="0" y="42234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6148936" y="48642"/>
            <a:ext cx="1960117" cy="1960117"/>
          </a:xfrm>
          <a:custGeom>
            <a:avLst/>
            <a:gdLst/>
            <a:ahLst/>
            <a:cxnLst/>
            <a:rect r="r" b="b" t="t" l="l"/>
            <a:pathLst>
              <a:path h="1960117" w="1960117">
                <a:moveTo>
                  <a:pt x="0" y="0"/>
                </a:moveTo>
                <a:lnTo>
                  <a:pt x="1960116" y="0"/>
                </a:lnTo>
                <a:lnTo>
                  <a:pt x="1960116" y="1960116"/>
                </a:lnTo>
                <a:lnTo>
                  <a:pt x="0" y="1960116"/>
                </a:lnTo>
                <a:lnTo>
                  <a:pt x="0" y="0"/>
                </a:lnTo>
                <a:close/>
              </a:path>
            </a:pathLst>
          </a:custGeom>
          <a:blipFill>
            <a:blip r:embed="rId6"/>
            <a:stretch>
              <a:fillRect l="0" t="0" r="0" b="0"/>
            </a:stretch>
          </a:blipFill>
        </p:spPr>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BADBF3"/>
        </a:solidFill>
      </p:bgPr>
    </p:bg>
    <p:spTree>
      <p:nvGrpSpPr>
        <p:cNvPr id="1" name=""/>
        <p:cNvGrpSpPr/>
        <p:nvPr/>
      </p:nvGrpSpPr>
      <p:grpSpPr>
        <a:xfrm>
          <a:off x="0" y="0"/>
          <a:ext cx="0" cy="0"/>
          <a:chOff x="0" y="0"/>
          <a:chExt cx="0" cy="0"/>
        </a:xfrm>
      </p:grpSpPr>
      <p:grpSp>
        <p:nvGrpSpPr>
          <p:cNvPr name="Group 2" id="2"/>
          <p:cNvGrpSpPr/>
          <p:nvPr/>
        </p:nvGrpSpPr>
        <p:grpSpPr>
          <a:xfrm rot="0">
            <a:off x="0" y="-6437"/>
            <a:ext cx="18276570" cy="10293437"/>
            <a:chOff x="0" y="0"/>
            <a:chExt cx="24353520" cy="13716000"/>
          </a:xfrm>
        </p:grpSpPr>
        <p:sp>
          <p:nvSpPr>
            <p:cNvPr name="Freeform 3" id="3"/>
            <p:cNvSpPr/>
            <p:nvPr/>
          </p:nvSpPr>
          <p:spPr>
            <a:xfrm flipH="false" flipV="false" rot="0">
              <a:off x="38100" y="38100"/>
              <a:ext cx="24278589" cy="13639800"/>
            </a:xfrm>
            <a:custGeom>
              <a:avLst/>
              <a:gdLst/>
              <a:ahLst/>
              <a:cxnLst/>
              <a:rect r="r" b="b" t="t" l="l"/>
              <a:pathLst>
                <a:path h="13639800" w="24278589">
                  <a:moveTo>
                    <a:pt x="24278589" y="452120"/>
                  </a:moveTo>
                  <a:lnTo>
                    <a:pt x="24278589" y="13187680"/>
                  </a:lnTo>
                  <a:cubicBezTo>
                    <a:pt x="24278589" y="13436600"/>
                    <a:pt x="24075389" y="13639800"/>
                    <a:pt x="23826470" y="13639800"/>
                  </a:cubicBezTo>
                  <a:lnTo>
                    <a:pt x="7706360" y="13639800"/>
                  </a:lnTo>
                  <a:lnTo>
                    <a:pt x="6588760" y="12920980"/>
                  </a:lnTo>
                  <a:lnTo>
                    <a:pt x="2498090" y="12920980"/>
                  </a:lnTo>
                  <a:lnTo>
                    <a:pt x="1614170" y="13639800"/>
                  </a:lnTo>
                  <a:lnTo>
                    <a:pt x="452120" y="13639800"/>
                  </a:lnTo>
                  <a:cubicBezTo>
                    <a:pt x="203200" y="13639800"/>
                    <a:pt x="0" y="13436600"/>
                    <a:pt x="0" y="13187680"/>
                  </a:cubicBezTo>
                  <a:lnTo>
                    <a:pt x="0" y="452120"/>
                  </a:lnTo>
                  <a:cubicBezTo>
                    <a:pt x="0" y="203200"/>
                    <a:pt x="203200" y="0"/>
                    <a:pt x="452120" y="0"/>
                  </a:cubicBezTo>
                  <a:lnTo>
                    <a:pt x="23826470" y="0"/>
                  </a:lnTo>
                  <a:cubicBezTo>
                    <a:pt x="23925530" y="0"/>
                    <a:pt x="24020780" y="31750"/>
                    <a:pt x="24099520" y="92710"/>
                  </a:cubicBezTo>
                  <a:cubicBezTo>
                    <a:pt x="24212550" y="179070"/>
                    <a:pt x="24278589" y="309880"/>
                    <a:pt x="24278589" y="452120"/>
                  </a:cubicBezTo>
                  <a:close/>
                </a:path>
              </a:pathLst>
            </a:custGeom>
            <a:solidFill>
              <a:srgbClr val="000000">
                <a:alpha val="0"/>
              </a:srgbClr>
            </a:solidFill>
            <a:ln w="12700">
              <a:solidFill>
                <a:srgbClr val="000000"/>
              </a:solidFill>
            </a:ln>
          </p:spPr>
        </p:sp>
        <p:sp>
          <p:nvSpPr>
            <p:cNvPr name="Freeform 4" id="4"/>
            <p:cNvSpPr/>
            <p:nvPr/>
          </p:nvSpPr>
          <p:spPr>
            <a:xfrm flipH="false" flipV="false" rot="0">
              <a:off x="0" y="0"/>
              <a:ext cx="24353520" cy="13717270"/>
            </a:xfrm>
            <a:custGeom>
              <a:avLst/>
              <a:gdLst/>
              <a:ahLst/>
              <a:cxnLst/>
              <a:rect r="r" b="b" t="t" l="l"/>
              <a:pathLst>
                <a:path h="13717270" w="24353520">
                  <a:moveTo>
                    <a:pt x="2523490" y="12387580"/>
                  </a:moveTo>
                  <a:lnTo>
                    <a:pt x="834390" y="12387580"/>
                  </a:lnTo>
                  <a:lnTo>
                    <a:pt x="834390" y="1785620"/>
                  </a:lnTo>
                  <a:lnTo>
                    <a:pt x="2327910" y="293370"/>
                  </a:lnTo>
                  <a:lnTo>
                    <a:pt x="14380211" y="293370"/>
                  </a:lnTo>
                  <a:lnTo>
                    <a:pt x="15153639" y="835660"/>
                  </a:lnTo>
                  <a:lnTo>
                    <a:pt x="23520400" y="835660"/>
                  </a:lnTo>
                  <a:lnTo>
                    <a:pt x="23520400" y="11247120"/>
                  </a:lnTo>
                  <a:lnTo>
                    <a:pt x="24062689" y="12192000"/>
                  </a:lnTo>
                  <a:lnTo>
                    <a:pt x="24062689" y="13227050"/>
                  </a:lnTo>
                  <a:cubicBezTo>
                    <a:pt x="24062689" y="13336270"/>
                    <a:pt x="23973789" y="13425170"/>
                    <a:pt x="23865839" y="13425170"/>
                  </a:cubicBezTo>
                  <a:lnTo>
                    <a:pt x="7819390" y="13425170"/>
                  </a:lnTo>
                  <a:lnTo>
                    <a:pt x="6700520" y="12706350"/>
                  </a:lnTo>
                  <a:lnTo>
                    <a:pt x="2523490" y="12706350"/>
                  </a:lnTo>
                  <a:lnTo>
                    <a:pt x="2523490" y="12388850"/>
                  </a:lnTo>
                  <a:close/>
                  <a:moveTo>
                    <a:pt x="872490" y="12349480"/>
                  </a:moveTo>
                  <a:lnTo>
                    <a:pt x="2561590" y="12349480"/>
                  </a:lnTo>
                  <a:lnTo>
                    <a:pt x="2561590" y="12666980"/>
                  </a:lnTo>
                  <a:lnTo>
                    <a:pt x="6711950" y="12666980"/>
                  </a:lnTo>
                  <a:lnTo>
                    <a:pt x="6789420" y="12716511"/>
                  </a:lnTo>
                  <a:lnTo>
                    <a:pt x="7830820" y="13385800"/>
                  </a:lnTo>
                  <a:lnTo>
                    <a:pt x="23864570" y="13385800"/>
                  </a:lnTo>
                  <a:cubicBezTo>
                    <a:pt x="23952200" y="13385800"/>
                    <a:pt x="24023320" y="13314680"/>
                    <a:pt x="24023320" y="13225780"/>
                  </a:cubicBezTo>
                  <a:lnTo>
                    <a:pt x="24023320" y="12200890"/>
                  </a:lnTo>
                  <a:lnTo>
                    <a:pt x="23481030" y="11256011"/>
                  </a:lnTo>
                  <a:lnTo>
                    <a:pt x="23481030" y="872490"/>
                  </a:lnTo>
                  <a:lnTo>
                    <a:pt x="15139670" y="872490"/>
                  </a:lnTo>
                  <a:lnTo>
                    <a:pt x="14366239" y="330200"/>
                  </a:lnTo>
                  <a:lnTo>
                    <a:pt x="2343150" y="330200"/>
                  </a:lnTo>
                  <a:lnTo>
                    <a:pt x="872490" y="1800860"/>
                  </a:lnTo>
                  <a:lnTo>
                    <a:pt x="872490" y="12349480"/>
                  </a:lnTo>
                  <a:close/>
                  <a:moveTo>
                    <a:pt x="1658620" y="13716000"/>
                  </a:moveTo>
                  <a:lnTo>
                    <a:pt x="490220" y="13716000"/>
                  </a:lnTo>
                  <a:cubicBezTo>
                    <a:pt x="219710" y="13716000"/>
                    <a:pt x="0" y="13496289"/>
                    <a:pt x="0" y="13225780"/>
                  </a:cubicBezTo>
                  <a:lnTo>
                    <a:pt x="0" y="490220"/>
                  </a:lnTo>
                  <a:cubicBezTo>
                    <a:pt x="0" y="219710"/>
                    <a:pt x="219710" y="0"/>
                    <a:pt x="490220" y="0"/>
                  </a:cubicBezTo>
                  <a:lnTo>
                    <a:pt x="23864570" y="0"/>
                  </a:lnTo>
                  <a:cubicBezTo>
                    <a:pt x="23972520" y="0"/>
                    <a:pt x="24075389" y="34290"/>
                    <a:pt x="24160480" y="100330"/>
                  </a:cubicBezTo>
                  <a:cubicBezTo>
                    <a:pt x="24283670" y="194310"/>
                    <a:pt x="24353520" y="336550"/>
                    <a:pt x="24353520" y="490220"/>
                  </a:cubicBezTo>
                  <a:lnTo>
                    <a:pt x="24353520" y="13225780"/>
                  </a:lnTo>
                  <a:cubicBezTo>
                    <a:pt x="24353520" y="13496289"/>
                    <a:pt x="24133811" y="13716000"/>
                    <a:pt x="23863300" y="13716000"/>
                  </a:cubicBezTo>
                  <a:lnTo>
                    <a:pt x="7733030" y="13716000"/>
                  </a:lnTo>
                  <a:lnTo>
                    <a:pt x="7727950" y="13713461"/>
                  </a:lnTo>
                  <a:lnTo>
                    <a:pt x="6614161" y="12998450"/>
                  </a:lnTo>
                  <a:lnTo>
                    <a:pt x="2548890" y="12998450"/>
                  </a:lnTo>
                  <a:lnTo>
                    <a:pt x="1664970" y="13717270"/>
                  </a:lnTo>
                  <a:lnTo>
                    <a:pt x="1658620" y="13717270"/>
                  </a:lnTo>
                  <a:close/>
                  <a:moveTo>
                    <a:pt x="1249680" y="13677900"/>
                  </a:moveTo>
                  <a:lnTo>
                    <a:pt x="1652270" y="13677900"/>
                  </a:lnTo>
                  <a:lnTo>
                    <a:pt x="2536190" y="12959080"/>
                  </a:lnTo>
                  <a:lnTo>
                    <a:pt x="6626860" y="12959080"/>
                  </a:lnTo>
                  <a:lnTo>
                    <a:pt x="7744460" y="13677900"/>
                  </a:lnTo>
                  <a:lnTo>
                    <a:pt x="23863300" y="13677900"/>
                  </a:lnTo>
                  <a:cubicBezTo>
                    <a:pt x="24112220" y="13677900"/>
                    <a:pt x="24315420" y="13474700"/>
                    <a:pt x="24315420" y="13225780"/>
                  </a:cubicBezTo>
                  <a:lnTo>
                    <a:pt x="24315420" y="490220"/>
                  </a:lnTo>
                  <a:cubicBezTo>
                    <a:pt x="24315420" y="347980"/>
                    <a:pt x="24250650" y="217170"/>
                    <a:pt x="24137620" y="130810"/>
                  </a:cubicBezTo>
                  <a:cubicBezTo>
                    <a:pt x="24058879" y="69850"/>
                    <a:pt x="23963629" y="38100"/>
                    <a:pt x="23864570" y="38100"/>
                  </a:cubicBezTo>
                  <a:lnTo>
                    <a:pt x="490220" y="38100"/>
                  </a:lnTo>
                  <a:cubicBezTo>
                    <a:pt x="240030" y="38100"/>
                    <a:pt x="38100" y="241300"/>
                    <a:pt x="38100" y="490220"/>
                  </a:cubicBezTo>
                  <a:lnTo>
                    <a:pt x="38100" y="13225780"/>
                  </a:lnTo>
                  <a:cubicBezTo>
                    <a:pt x="38100" y="13474700"/>
                    <a:pt x="241300" y="13677900"/>
                    <a:pt x="490220" y="13677900"/>
                  </a:cubicBezTo>
                  <a:lnTo>
                    <a:pt x="1249680" y="13677900"/>
                  </a:lnTo>
                  <a:close/>
                </a:path>
              </a:pathLst>
            </a:custGeom>
            <a:solidFill>
              <a:srgbClr val="004AAD"/>
            </a:solidFill>
          </p:spPr>
        </p:sp>
      </p:grpSp>
      <p:sp>
        <p:nvSpPr>
          <p:cNvPr name="TextBox 5" id="5"/>
          <p:cNvSpPr txBox="true"/>
          <p:nvPr/>
        </p:nvSpPr>
        <p:spPr>
          <a:xfrm rot="0">
            <a:off x="0" y="1019175"/>
            <a:ext cx="6564827" cy="923925"/>
          </a:xfrm>
          <a:prstGeom prst="rect">
            <a:avLst/>
          </a:prstGeom>
        </p:spPr>
        <p:txBody>
          <a:bodyPr anchor="t" rtlCol="false" tIns="0" lIns="0" bIns="0" rIns="0">
            <a:spAutoFit/>
          </a:bodyPr>
          <a:lstStyle/>
          <a:p>
            <a:pPr algn="ctr">
              <a:lnSpc>
                <a:spcPts val="7200"/>
              </a:lnSpc>
              <a:spcBef>
                <a:spcPct val="0"/>
              </a:spcBef>
            </a:pPr>
            <a:r>
              <a:rPr lang="en-US" sz="6000">
                <a:solidFill>
                  <a:srgbClr val="000000"/>
                </a:solidFill>
                <a:latin typeface="Muli"/>
                <a:ea typeface="Muli"/>
                <a:cs typeface="Muli"/>
                <a:sym typeface="Muli"/>
              </a:rPr>
              <a:t>Kết luận </a:t>
            </a:r>
          </a:p>
        </p:txBody>
      </p:sp>
      <p:sp>
        <p:nvSpPr>
          <p:cNvPr name="TextBox 6" id="6"/>
          <p:cNvSpPr txBox="true"/>
          <p:nvPr/>
        </p:nvSpPr>
        <p:spPr>
          <a:xfrm rot="0">
            <a:off x="1378250" y="1943100"/>
            <a:ext cx="15107475" cy="6858000"/>
          </a:xfrm>
          <a:prstGeom prst="rect">
            <a:avLst/>
          </a:prstGeom>
        </p:spPr>
        <p:txBody>
          <a:bodyPr anchor="t" rtlCol="false" tIns="0" lIns="0" bIns="0" rIns="0">
            <a:spAutoFit/>
          </a:bodyPr>
          <a:lstStyle/>
          <a:p>
            <a:pPr algn="ctr">
              <a:lnSpc>
                <a:spcPts val="3600"/>
              </a:lnSpc>
              <a:spcBef>
                <a:spcPct val="0"/>
              </a:spcBef>
            </a:pPr>
            <a:r>
              <a:rPr lang="en-US" sz="3000">
                <a:solidFill>
                  <a:srgbClr val="000000"/>
                </a:solidFill>
                <a:latin typeface="Muli"/>
                <a:ea typeface="Muli"/>
                <a:cs typeface="Muli"/>
                <a:sym typeface="Muli"/>
              </a:rPr>
              <a:t>Trợ lý y tế ảo và Chatbot là những công cụ dựa trên trí tuệ nhân tạo (AI) và xử lý ngôn ngữ tự nhiên (NLP), có khả năng giúp bệnh nhân tra cứu thông tin sức khỏe, hướng dẫn các bước kiểm tra cơ bản, theo dõi tình trạng sức khỏe và cung cấp tư vấn tự động 24/7, từ đó giảm tải công việc cho nhân viên y tế và hỗ trợ quá trình chuyển đổi số trong ngành y tế. Tuy nhiên, vẫn tồn tại nhiều thách thức như chuyên môn y tế hạn chế (Chatbot không thể thay thế chẩn đoán của bác sĩ và dễ sai sót với các ca phức tạp), công nghệ còn yếu (dữ liệu y tế chưa thống nhất, khó tích hợp với hệ thống hiện có, khả năng xử lý ngôn ngữ tiếng Việt cần cải thiện), cùng các vấn đề pháp lý và bảo mật (thiếu quy định riêng cho AI y tế, trách nhiệm pháp lý chưa rõ ràng và nguy cơ rò rỉ thông tin nhạy cảm). Để phát triển bền vững, cần đồng bộ giải pháp về công nghệ (chuẩn hóa dữ liệu), pháp lý (xây dựng quy định rõ ràng) và nhân lực (đào tạo chuyên gia, nâng cao kỹ năng số), hướng tới mục tiêu xây dựng hệ sinh thái y tế thông minh và bệnh viện thông minh, kết hợp AI, IoT, Big Data, với tầm nhìn lấy người dân làm trung tâm, giúp mỗi người sở hữu “trợ lý sức khỏe ảo” riêng, theo dõi liên tục, cảnh báo sớm và chăm sóc chủ động.</a:t>
            </a:r>
          </a:p>
        </p:txBody>
      </p:sp>
      <p:sp>
        <p:nvSpPr>
          <p:cNvPr name="Freeform 7" id="7"/>
          <p:cNvSpPr/>
          <p:nvPr/>
        </p:nvSpPr>
        <p:spPr>
          <a:xfrm flipH="false" flipV="false" rot="0">
            <a:off x="15857762" y="361622"/>
            <a:ext cx="1980687" cy="1980687"/>
          </a:xfrm>
          <a:custGeom>
            <a:avLst/>
            <a:gdLst/>
            <a:ahLst/>
            <a:cxnLst/>
            <a:rect r="r" b="b" t="t" l="l"/>
            <a:pathLst>
              <a:path h="1980687" w="1980687">
                <a:moveTo>
                  <a:pt x="0" y="0"/>
                </a:moveTo>
                <a:lnTo>
                  <a:pt x="1980687" y="0"/>
                </a:lnTo>
                <a:lnTo>
                  <a:pt x="1980687" y="1980687"/>
                </a:lnTo>
                <a:lnTo>
                  <a:pt x="0" y="1980687"/>
                </a:lnTo>
                <a:lnTo>
                  <a:pt x="0" y="0"/>
                </a:lnTo>
                <a:close/>
              </a:path>
            </a:pathLst>
          </a:custGeom>
          <a:blipFill>
            <a:blip r:embed="rId2"/>
            <a:stretch>
              <a:fillRect l="0" t="0" r="0" b="0"/>
            </a:stretch>
          </a:blipFill>
        </p:spPr>
      </p:sp>
    </p:spTree>
  </p:cSld>
  <p:clrMapOvr>
    <a:masterClrMapping/>
  </p:clrMapOvr>
  <p:transition spd="fast">
    <p:circle/>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BADBF3"/>
        </a:solidFill>
      </p:bgPr>
    </p:bg>
    <p:spTree>
      <p:nvGrpSpPr>
        <p:cNvPr id="1" name=""/>
        <p:cNvGrpSpPr/>
        <p:nvPr/>
      </p:nvGrpSpPr>
      <p:grpSpPr>
        <a:xfrm>
          <a:off x="0" y="0"/>
          <a:ext cx="0" cy="0"/>
          <a:chOff x="0" y="0"/>
          <a:chExt cx="0" cy="0"/>
        </a:xfrm>
      </p:grpSpPr>
      <p:sp>
        <p:nvSpPr>
          <p:cNvPr name="Freeform 2" id="2"/>
          <p:cNvSpPr/>
          <p:nvPr/>
        </p:nvSpPr>
        <p:spPr>
          <a:xfrm flipH="false" flipV="false" rot="0">
            <a:off x="4583810" y="-502820"/>
            <a:ext cx="12109484" cy="14637837"/>
          </a:xfrm>
          <a:custGeom>
            <a:avLst/>
            <a:gdLst/>
            <a:ahLst/>
            <a:cxnLst/>
            <a:rect r="r" b="b" t="t" l="l"/>
            <a:pathLst>
              <a:path h="14637837" w="12109484">
                <a:moveTo>
                  <a:pt x="0" y="0"/>
                </a:moveTo>
                <a:lnTo>
                  <a:pt x="12109484" y="0"/>
                </a:lnTo>
                <a:lnTo>
                  <a:pt x="12109484" y="14637837"/>
                </a:lnTo>
                <a:lnTo>
                  <a:pt x="0" y="146378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651623" y="1614932"/>
            <a:ext cx="3774283" cy="4827571"/>
          </a:xfrm>
          <a:custGeom>
            <a:avLst/>
            <a:gdLst/>
            <a:ahLst/>
            <a:cxnLst/>
            <a:rect r="r" b="b" t="t" l="l"/>
            <a:pathLst>
              <a:path h="4827571" w="3774283">
                <a:moveTo>
                  <a:pt x="0" y="0"/>
                </a:moveTo>
                <a:lnTo>
                  <a:pt x="3774283" y="0"/>
                </a:lnTo>
                <a:lnTo>
                  <a:pt x="3774283" y="4827571"/>
                </a:lnTo>
                <a:lnTo>
                  <a:pt x="0" y="48275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67898" y="2951050"/>
            <a:ext cx="3623452" cy="4613192"/>
          </a:xfrm>
          <a:custGeom>
            <a:avLst/>
            <a:gdLst/>
            <a:ahLst/>
            <a:cxnLst/>
            <a:rect r="r" b="b" t="t" l="l"/>
            <a:pathLst>
              <a:path h="4613192" w="3623452">
                <a:moveTo>
                  <a:pt x="0" y="0"/>
                </a:moveTo>
                <a:lnTo>
                  <a:pt x="3623452" y="0"/>
                </a:lnTo>
                <a:lnTo>
                  <a:pt x="3623452" y="4613191"/>
                </a:lnTo>
                <a:lnTo>
                  <a:pt x="0" y="46131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651623" y="4260419"/>
            <a:ext cx="3563119" cy="4600271"/>
          </a:xfrm>
          <a:custGeom>
            <a:avLst/>
            <a:gdLst/>
            <a:ahLst/>
            <a:cxnLst/>
            <a:rect r="r" b="b" t="t" l="l"/>
            <a:pathLst>
              <a:path h="4600271" w="3563119">
                <a:moveTo>
                  <a:pt x="0" y="0"/>
                </a:moveTo>
                <a:lnTo>
                  <a:pt x="3563118" y="0"/>
                </a:lnTo>
                <a:lnTo>
                  <a:pt x="3563118" y="4600271"/>
                </a:lnTo>
                <a:lnTo>
                  <a:pt x="0" y="460027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6711831" y="3966555"/>
            <a:ext cx="8188130" cy="2773148"/>
            <a:chOff x="0" y="0"/>
            <a:chExt cx="10917507" cy="3697531"/>
          </a:xfrm>
        </p:grpSpPr>
        <p:sp>
          <p:nvSpPr>
            <p:cNvPr name="TextBox 7" id="7"/>
            <p:cNvSpPr txBox="true"/>
            <p:nvPr/>
          </p:nvSpPr>
          <p:spPr>
            <a:xfrm rot="0">
              <a:off x="0" y="-16510"/>
              <a:ext cx="10917507" cy="1952625"/>
            </a:xfrm>
            <a:prstGeom prst="rect">
              <a:avLst/>
            </a:prstGeom>
          </p:spPr>
          <p:txBody>
            <a:bodyPr anchor="t" rtlCol="false" tIns="0" lIns="0" bIns="0" rIns="0">
              <a:spAutoFit/>
            </a:bodyPr>
            <a:lstStyle/>
            <a:p>
              <a:pPr algn="ctr">
                <a:lnSpc>
                  <a:spcPts val="11519"/>
                </a:lnSpc>
              </a:pPr>
              <a:r>
                <a:rPr lang="en-US" sz="9600">
                  <a:solidFill>
                    <a:srgbClr val="000000"/>
                  </a:solidFill>
                  <a:latin typeface="Muli"/>
                  <a:ea typeface="Muli"/>
                  <a:cs typeface="Muli"/>
                  <a:sym typeface="Muli"/>
                </a:rPr>
                <a:t>Cảm ơn!</a:t>
              </a:r>
            </a:p>
          </p:txBody>
        </p:sp>
        <p:sp>
          <p:nvSpPr>
            <p:cNvPr name="TextBox 8" id="8"/>
            <p:cNvSpPr txBox="true"/>
            <p:nvPr/>
          </p:nvSpPr>
          <p:spPr>
            <a:xfrm rot="0">
              <a:off x="1174407" y="2413244"/>
              <a:ext cx="8568693" cy="1298575"/>
            </a:xfrm>
            <a:prstGeom prst="rect">
              <a:avLst/>
            </a:prstGeom>
          </p:spPr>
          <p:txBody>
            <a:bodyPr anchor="t" rtlCol="false" tIns="0" lIns="0" bIns="0" rIns="0">
              <a:spAutoFit/>
            </a:bodyPr>
            <a:lstStyle/>
            <a:p>
              <a:pPr algn="ctr">
                <a:lnSpc>
                  <a:spcPts val="3900"/>
                </a:lnSpc>
              </a:pPr>
              <a:r>
                <a:rPr lang="en-US" sz="3000">
                  <a:solidFill>
                    <a:srgbClr val="000000"/>
                  </a:solidFill>
                  <a:latin typeface="Muli"/>
                  <a:ea typeface="Muli"/>
                  <a:cs typeface="Muli"/>
                  <a:sym typeface="Muli"/>
                </a:rPr>
                <a:t>Cảm ơn thầy cô và các bạn đã lắng nghe bài thuyết trình </a:t>
              </a:r>
            </a:p>
          </p:txBody>
        </p:sp>
      </p:grpSp>
      <p:sp>
        <p:nvSpPr>
          <p:cNvPr name="Freeform 9" id="9"/>
          <p:cNvSpPr/>
          <p:nvPr/>
        </p:nvSpPr>
        <p:spPr>
          <a:xfrm flipH="false" flipV="false" rot="0">
            <a:off x="15889100" y="488099"/>
            <a:ext cx="2020349" cy="2020349"/>
          </a:xfrm>
          <a:custGeom>
            <a:avLst/>
            <a:gdLst/>
            <a:ahLst/>
            <a:cxnLst/>
            <a:rect r="r" b="b" t="t" l="l"/>
            <a:pathLst>
              <a:path h="2020349" w="2020349">
                <a:moveTo>
                  <a:pt x="0" y="0"/>
                </a:moveTo>
                <a:lnTo>
                  <a:pt x="2020349" y="0"/>
                </a:lnTo>
                <a:lnTo>
                  <a:pt x="2020349" y="2020349"/>
                </a:lnTo>
                <a:lnTo>
                  <a:pt x="0" y="2020349"/>
                </a:lnTo>
                <a:lnTo>
                  <a:pt x="0" y="0"/>
                </a:lnTo>
                <a:close/>
              </a:path>
            </a:pathLst>
          </a:custGeom>
          <a:blipFill>
            <a:blip r:embed="rId10"/>
            <a:stretch>
              <a:fillRect l="0" t="0" r="0" b="0"/>
            </a:stretch>
          </a:blipFill>
        </p:spPr>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DAG59v41v_0</dc:identifier>
  <dcterms:modified xsi:type="dcterms:W3CDTF">2011-08-01T06:04:30Z</dcterms:modified>
  <cp:revision>1</cp:revision>
  <dc:title>Trợ lí y tế ảo và chatbot</dc:title>
</cp:coreProperties>
</file>